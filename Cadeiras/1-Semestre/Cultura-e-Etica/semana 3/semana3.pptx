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9"/>
  </p:notesMasterIdLst>
  <p:sldIdLst>
    <p:sldId id="306" r:id="rId5"/>
    <p:sldId id="278" r:id="rId6"/>
    <p:sldId id="319" r:id="rId7"/>
    <p:sldId id="280" r:id="rId8"/>
    <p:sldId id="257" r:id="rId9"/>
    <p:sldId id="317" r:id="rId10"/>
    <p:sldId id="318" r:id="rId11"/>
    <p:sldId id="282" r:id="rId12"/>
    <p:sldId id="283" r:id="rId13"/>
    <p:sldId id="284" r:id="rId14"/>
    <p:sldId id="308" r:id="rId15"/>
    <p:sldId id="307" r:id="rId16"/>
    <p:sldId id="281" r:id="rId17"/>
    <p:sldId id="285" r:id="rId18"/>
    <p:sldId id="321" r:id="rId19"/>
    <p:sldId id="286" r:id="rId20"/>
    <p:sldId id="322" r:id="rId21"/>
    <p:sldId id="287" r:id="rId22"/>
    <p:sldId id="288" r:id="rId23"/>
    <p:sldId id="309" r:id="rId24"/>
    <p:sldId id="316" r:id="rId25"/>
    <p:sldId id="310" r:id="rId26"/>
    <p:sldId id="311" r:id="rId27"/>
    <p:sldId id="312" r:id="rId28"/>
    <p:sldId id="293" r:id="rId29"/>
    <p:sldId id="296" r:id="rId30"/>
    <p:sldId id="292" r:id="rId31"/>
    <p:sldId id="313" r:id="rId32"/>
    <p:sldId id="303" r:id="rId33"/>
    <p:sldId id="302" r:id="rId34"/>
    <p:sldId id="305" r:id="rId35"/>
    <p:sldId id="300" r:id="rId36"/>
    <p:sldId id="301" r:id="rId37"/>
    <p:sldId id="315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03" autoAdjust="0"/>
    <p:restoredTop sz="54492" autoAdjust="0"/>
  </p:normalViewPr>
  <p:slideViewPr>
    <p:cSldViewPr snapToGrid="0">
      <p:cViewPr varScale="1">
        <p:scale>
          <a:sx n="70" d="100"/>
          <a:sy n="70" d="100"/>
        </p:scale>
        <p:origin x="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88F408-5B01-4A36-8A56-A4B6AB98DA1E}" type="datetimeFigureOut">
              <a:rPr lang="pt-BR" smtClean="0"/>
              <a:t>05/11/2025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8E4ADB-4F6C-4A14-A232-7FEC664481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5986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Uma imagem contendo Texto&#10;&#10;Descrição gerada automaticamente">
            <a:extLst>
              <a:ext uri="{FF2B5EF4-FFF2-40B4-BE49-F238E27FC236}">
                <a16:creationId xmlns:a16="http://schemas.microsoft.com/office/drawing/2014/main" id="{A6899666-3415-4A1C-8C02-D785AD2F09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1886" y="-1823339"/>
            <a:ext cx="7523828" cy="868133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EBCAA61-B0CA-451F-B78A-0669DB9EF7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041400"/>
            <a:ext cx="6645442" cy="2387600"/>
          </a:xfrm>
        </p:spPr>
        <p:txBody>
          <a:bodyPr anchor="b">
            <a:normAutofit/>
          </a:bodyPr>
          <a:lstStyle>
            <a:lvl1pPr algn="l">
              <a:defRPr sz="5400" b="1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5378E7-73A5-45D1-8BA4-2A1E0411C6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21074"/>
            <a:ext cx="6645442" cy="2145799"/>
          </a:xfrm>
        </p:spPr>
        <p:txBody>
          <a:bodyPr>
            <a:normAutofit/>
          </a:bodyPr>
          <a:lstStyle>
            <a:lvl1pPr marL="0" indent="0" algn="l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04A13F-A601-4EB3-9212-9DDE59E33C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5924640"/>
            <a:ext cx="1483895" cy="365125"/>
          </a:xfrm>
        </p:spPr>
        <p:txBody>
          <a:bodyPr/>
          <a:lstStyle/>
          <a:p>
            <a:fld id="{14D8BB3C-6B53-46BD-A4F0-0757B46599C3}" type="datetimeFigureOut">
              <a:rPr lang="pt-BR" smtClean="0"/>
              <a:t>05/11/2025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DBE6AE-1A6A-49CF-88A3-A5956709A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0853" y="5924640"/>
            <a:ext cx="4872789" cy="365125"/>
          </a:xfrm>
        </p:spPr>
        <p:txBody>
          <a:bodyPr/>
          <a:lstStyle>
            <a:lvl1pPr algn="l">
              <a:defRPr/>
            </a:lvl1pPr>
          </a:lstStyle>
          <a:p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C269AF2-D220-4898-8C9F-A6A31405E8B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3800" y="6024588"/>
            <a:ext cx="252985" cy="26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178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 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Uma imagem contendo Texto&#10;&#10;Descrição gerada automaticamente">
            <a:extLst>
              <a:ext uri="{FF2B5EF4-FFF2-40B4-BE49-F238E27FC236}">
                <a16:creationId xmlns:a16="http://schemas.microsoft.com/office/drawing/2014/main" id="{42F49737-511D-46FF-A179-6D29E589BB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123" y="-1823339"/>
            <a:ext cx="7523828" cy="868133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973F174-0461-45A7-8F99-0019B1D8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571" y="608746"/>
            <a:ext cx="7423074" cy="1122453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F39EC3-EAB6-41B1-AF6D-1FF09E90B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245" y="1934308"/>
            <a:ext cx="7423075" cy="3787222"/>
          </a:xfr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899C2A-8D75-473A-9DFD-EC391EC9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83244" y="5924640"/>
            <a:ext cx="1195719" cy="365125"/>
          </a:xfrm>
        </p:spPr>
        <p:txBody>
          <a:bodyPr/>
          <a:lstStyle/>
          <a:p>
            <a:fld id="{14D8BB3C-6B53-46BD-A4F0-0757B46599C3}" type="datetimeFigureOut">
              <a:rPr lang="pt-BR" smtClean="0"/>
              <a:t>05/11/2025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5B9AF1-5F2D-4615-83D4-CA141F55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4290" y="5924639"/>
            <a:ext cx="4360984" cy="365125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B69BE5-9ED2-499D-A461-BC7071BB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5924640"/>
            <a:ext cx="1195720" cy="365125"/>
          </a:xfrm>
        </p:spPr>
        <p:txBody>
          <a:bodyPr/>
          <a:lstStyle/>
          <a:p>
            <a:fld id="{46016F14-41C8-42A0-A751-72D01404B6D7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E42BBD6-580A-4671-ABD8-62907802A5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>
            <a:off x="-12600044" y="-168812"/>
            <a:ext cx="14870813" cy="868134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FF6D245-76FA-41BF-92E0-75557C201A4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3800" y="6024588"/>
            <a:ext cx="252985" cy="26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044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 Centr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42F49737-511D-46FF-A179-6D29E589BB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27124" y="-1823339"/>
            <a:ext cx="7523826" cy="868133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973F174-0461-45A7-8F99-0019B1D8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571" y="608746"/>
            <a:ext cx="7423074" cy="1122453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F39EC3-EAB6-41B1-AF6D-1FF09E90B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245" y="1934308"/>
            <a:ext cx="7423075" cy="3787222"/>
          </a:xfr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899C2A-8D75-473A-9DFD-EC391EC9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83244" y="5924640"/>
            <a:ext cx="1195719" cy="365125"/>
          </a:xfrm>
        </p:spPr>
        <p:txBody>
          <a:bodyPr/>
          <a:lstStyle/>
          <a:p>
            <a:fld id="{14D8BB3C-6B53-46BD-A4F0-0757B46599C3}" type="datetimeFigureOut">
              <a:rPr lang="pt-BR" smtClean="0"/>
              <a:t>05/11/2025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5B9AF1-5F2D-4615-83D4-CA141F55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4290" y="5924639"/>
            <a:ext cx="4360984" cy="365125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B69BE5-9ED2-499D-A461-BC7071BB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5924640"/>
            <a:ext cx="1195720" cy="365125"/>
          </a:xfrm>
        </p:spPr>
        <p:txBody>
          <a:bodyPr/>
          <a:lstStyle/>
          <a:p>
            <a:fld id="{46016F14-41C8-42A0-A751-72D01404B6D7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E42BBD6-580A-4671-ABD8-62907802A5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57542" y="-1823339"/>
            <a:ext cx="7523827" cy="868134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FF6D245-76FA-41BF-92E0-75557C201A4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3800" y="6024588"/>
            <a:ext cx="252985" cy="26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947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 Central (Escur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42F49737-511D-46FF-A179-6D29E589BB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471684" y="-1316436"/>
            <a:ext cx="15135367" cy="883578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973F174-0461-45A7-8F99-0019B1D8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571" y="608746"/>
            <a:ext cx="7423074" cy="112245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F39EC3-EAB6-41B1-AF6D-1FF09E90B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245" y="1934308"/>
            <a:ext cx="7423075" cy="3787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899C2A-8D75-473A-9DFD-EC391EC9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83244" y="5924640"/>
            <a:ext cx="119571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4D8BB3C-6B53-46BD-A4F0-0757B46599C3}" type="datetimeFigureOut">
              <a:rPr lang="pt-BR" smtClean="0"/>
              <a:pPr/>
              <a:t>05/11/2025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5B9AF1-5F2D-4615-83D4-CA141F55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4290" y="5924639"/>
            <a:ext cx="436098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B69BE5-9ED2-499D-A461-BC7071BB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5924640"/>
            <a:ext cx="119572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6016F14-41C8-42A0-A751-72D01404B6D7}" type="slidenum">
              <a:rPr lang="pt-BR" smtClean="0"/>
              <a:pPr/>
              <a:t>‹nº›</a:t>
            </a:fld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FF6D245-76FA-41BF-92E0-75557C201A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3800" y="6024588"/>
            <a:ext cx="252985" cy="26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171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 Esqu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42F49737-511D-46FF-A179-6D29E589BB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27124" y="-1195540"/>
            <a:ext cx="7523826" cy="868133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973F174-0461-45A7-8F99-0019B1D8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248" y="608746"/>
            <a:ext cx="9080873" cy="1122453"/>
          </a:xfrm>
        </p:spPr>
        <p:txBody>
          <a:bodyPr/>
          <a:lstStyle>
            <a:lvl1pPr algn="l">
              <a:defRPr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F39EC3-EAB6-41B1-AF6D-1FF09E90B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923" y="1934308"/>
            <a:ext cx="9080874" cy="3787222"/>
          </a:xfr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899C2A-8D75-473A-9DFD-EC391EC9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0922" y="5924640"/>
            <a:ext cx="1195719" cy="365125"/>
          </a:xfrm>
        </p:spPr>
        <p:txBody>
          <a:bodyPr/>
          <a:lstStyle/>
          <a:p>
            <a:fld id="{14D8BB3C-6B53-46BD-A4F0-0757B46599C3}" type="datetimeFigureOut">
              <a:rPr lang="pt-BR" smtClean="0"/>
              <a:t>05/11/2025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5B9AF1-5F2D-4615-83D4-CA141F55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1968" y="5924639"/>
            <a:ext cx="6007632" cy="365125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B69BE5-9ED2-499D-A461-BC7071BB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9655" y="5924640"/>
            <a:ext cx="1195720" cy="365125"/>
          </a:xfrm>
        </p:spPr>
        <p:txBody>
          <a:bodyPr/>
          <a:lstStyle/>
          <a:p>
            <a:fld id="{46016F14-41C8-42A0-A751-72D01404B6D7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FF6D245-76FA-41BF-92E0-75557C201A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3800" y="6024588"/>
            <a:ext cx="252985" cy="26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624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 Dire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73F174-0461-45A7-8F99-0019B1D8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2768" y="608746"/>
            <a:ext cx="8999620" cy="1122453"/>
          </a:xfrm>
        </p:spPr>
        <p:txBody>
          <a:bodyPr/>
          <a:lstStyle>
            <a:lvl1pPr algn="l">
              <a:defRPr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F39EC3-EAB6-41B1-AF6D-1FF09E90B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4442" y="1934308"/>
            <a:ext cx="8999621" cy="3787222"/>
          </a:xfr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899C2A-8D75-473A-9DFD-EC391EC9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55430" y="5924640"/>
            <a:ext cx="1195719" cy="365125"/>
          </a:xfrm>
        </p:spPr>
        <p:txBody>
          <a:bodyPr/>
          <a:lstStyle/>
          <a:p>
            <a:fld id="{14D8BB3C-6B53-46BD-A4F0-0757B46599C3}" type="datetimeFigureOut">
              <a:rPr lang="pt-BR" smtClean="0"/>
              <a:t>05/11/2025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5B9AF1-5F2D-4615-83D4-CA141F55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82453" y="5924639"/>
            <a:ext cx="5989279" cy="365125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B69BE5-9ED2-499D-A461-BC7071BB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07060" y="5924640"/>
            <a:ext cx="829692" cy="365125"/>
          </a:xfrm>
        </p:spPr>
        <p:txBody>
          <a:bodyPr/>
          <a:lstStyle/>
          <a:p>
            <a:fld id="{46016F14-41C8-42A0-A751-72D01404B6D7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E42BBD6-580A-4671-ABD8-62907802A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>
            <a:off x="-12600044" y="-1829175"/>
            <a:ext cx="14870813" cy="868134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FF6D245-76FA-41BF-92E0-75557C201A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3800" y="6024588"/>
            <a:ext cx="252985" cy="26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932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 Esquerda (Escur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4764281E-E4F0-4767-B322-1566CD1088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921364" y="-928047"/>
            <a:ext cx="19517566" cy="1139403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973F174-0461-45A7-8F99-0019B1D8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248" y="608746"/>
            <a:ext cx="9080873" cy="112245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F39EC3-EAB6-41B1-AF6D-1FF09E90B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923" y="1934308"/>
            <a:ext cx="9080874" cy="3787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899C2A-8D75-473A-9DFD-EC391EC9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0922" y="5924640"/>
            <a:ext cx="119571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4D8BB3C-6B53-46BD-A4F0-0757B46599C3}" type="datetimeFigureOut">
              <a:rPr lang="pt-BR" smtClean="0"/>
              <a:pPr/>
              <a:t>05/11/2025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5B9AF1-5F2D-4615-83D4-CA141F55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1968" y="5924639"/>
            <a:ext cx="600763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B69BE5-9ED2-499D-A461-BC7071BB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9655" y="5924640"/>
            <a:ext cx="119572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6016F14-41C8-42A0-A751-72D01404B6D7}" type="slidenum">
              <a:rPr lang="pt-BR" smtClean="0"/>
              <a:pPr/>
              <a:t>‹nº›</a:t>
            </a:fld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FF6D245-76FA-41BF-92E0-75557C201A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3800" y="6024588"/>
            <a:ext cx="252985" cy="26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828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 Direita (Escur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CD341943-BAF0-4955-9CB4-EC99A30320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791368" y="-3468383"/>
            <a:ext cx="19851186" cy="1158880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973F174-0461-45A7-8F99-0019B1D8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2768" y="608746"/>
            <a:ext cx="8999620" cy="112245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F39EC3-EAB6-41B1-AF6D-1FF09E90B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4442" y="1934308"/>
            <a:ext cx="8999621" cy="3787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899C2A-8D75-473A-9DFD-EC391EC9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55430" y="5924640"/>
            <a:ext cx="119571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4D8BB3C-6B53-46BD-A4F0-0757B46599C3}" type="datetimeFigureOut">
              <a:rPr lang="pt-BR" smtClean="0"/>
              <a:pPr/>
              <a:t>05/11/2025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5B9AF1-5F2D-4615-83D4-CA141F55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82453" y="5924639"/>
            <a:ext cx="598927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B69BE5-9ED2-499D-A461-BC7071BB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07060" y="5924640"/>
            <a:ext cx="82969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6016F14-41C8-42A0-A751-72D01404B6D7}" type="slidenum">
              <a:rPr lang="pt-BR" smtClean="0"/>
              <a:pPr/>
              <a:t>‹nº›</a:t>
            </a:fld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FF6D245-76FA-41BF-92E0-75557C201A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3800" y="6024588"/>
            <a:ext cx="252985" cy="26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367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Mais Espaç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Tela de computador com texto preto sobre fundo escuro&#10;&#10;Descrição gerada automaticamente com confiança média">
            <a:extLst>
              <a:ext uri="{FF2B5EF4-FFF2-40B4-BE49-F238E27FC236}">
                <a16:creationId xmlns:a16="http://schemas.microsoft.com/office/drawing/2014/main" id="{D650A5DA-CBC5-4A17-BDD6-EBE1DDAAF7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0DBB1C4-3E84-4211-9AC5-82AD210D13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99E7852-A458-4FA9-84E7-B5740A11A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8BB3C-6B53-46BD-A4F0-0757B46599C3}" type="datetimeFigureOut">
              <a:rPr lang="pt-BR" smtClean="0"/>
              <a:t>05/11/2025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3B1C282-3269-448A-8FE7-0E4AC610B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2E26CDE-E8A8-4B72-95B7-66623629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6F14-41C8-42A0-A751-72D01404B6D7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D4A7DCA-D76F-447F-BC5C-37B38660BAB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3800" y="6024588"/>
            <a:ext cx="252985" cy="265177"/>
          </a:xfrm>
          <a:prstGeom prst="rect">
            <a:avLst/>
          </a:prstGeom>
        </p:spPr>
      </p:pic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6BD76F00-ACA6-404B-A55A-9A2EF5B7BC8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94758"/>
            <a:ext cx="10515600" cy="37963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018025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Tela de computador com texto preto sobre fundo escuro&#10;&#10;Descrição gerada automaticamente com confiança média">
            <a:extLst>
              <a:ext uri="{FF2B5EF4-FFF2-40B4-BE49-F238E27FC236}">
                <a16:creationId xmlns:a16="http://schemas.microsoft.com/office/drawing/2014/main" id="{01D837B4-9215-43AA-A7DA-A27AC17E92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31110AF-7EA7-48B2-8AEF-6C48636DD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8BB3C-6B53-46BD-A4F0-0757B46599C3}" type="datetimeFigureOut">
              <a:rPr lang="pt-BR" smtClean="0"/>
              <a:t>05/11/2025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1438FAC-4893-4625-9039-FE3A63683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69DAC9-0730-4CD0-A32B-23AEA78F2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6F14-41C8-42A0-A751-72D01404B6D7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7963B50-A512-44A7-896A-F368BA44347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3800" y="6024588"/>
            <a:ext cx="252985" cy="26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284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2235EBF-FFA7-423B-81C1-214740CFC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8235"/>
            <a:ext cx="10515600" cy="11224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6D118E-2E06-4109-843A-6FCF4EC67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8959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ACD35E-55A0-4327-B9C0-A80C08D036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5924640"/>
            <a:ext cx="22838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8BB3C-6B53-46BD-A4F0-0757B46599C3}" type="datetimeFigureOut">
              <a:rPr lang="pt-BR" smtClean="0"/>
              <a:t>05/11/2025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563E96-409C-438A-AB85-4BC35FC121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33504" y="5924640"/>
            <a:ext cx="46699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B51195-407B-456F-8362-F3471BA84C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5924640"/>
            <a:ext cx="22838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16F14-41C8-42A0-A751-72D01404B6D7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679DD90-3649-495B-825A-3D584B517F64}"/>
              </a:ext>
            </a:extLst>
          </p:cNvPr>
          <p:cNvSpPr/>
          <p:nvPr userDrawn="1"/>
        </p:nvSpPr>
        <p:spPr>
          <a:xfrm>
            <a:off x="426720" y="365125"/>
            <a:ext cx="11338560" cy="612775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1683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8" r:id="rId3"/>
    <p:sldLayoutId id="2147483663" r:id="rId4"/>
    <p:sldLayoutId id="2147483659" r:id="rId5"/>
    <p:sldLayoutId id="2147483660" r:id="rId6"/>
    <p:sldLayoutId id="2147483661" r:id="rId7"/>
    <p:sldLayoutId id="2147483662" r:id="rId8"/>
    <p:sldLayoutId id="2147483654" r:id="rId9"/>
    <p:sldLayoutId id="2147483655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pn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slideLayout" Target="../slideLayouts/slideLayout10.xml"/><Relationship Id="rId1" Type="http://schemas.openxmlformats.org/officeDocument/2006/relationships/video" Target="https://www.youtube.com/embed/_m5ZZ7gyv1w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Diferenças culturais no Brasil - Grupo Amanhã">
            <a:extLst>
              <a:ext uri="{FF2B5EF4-FFF2-40B4-BE49-F238E27FC236}">
                <a16:creationId xmlns:a16="http://schemas.microsoft.com/office/drawing/2014/main" id="{0CC15834-8856-437A-8EDD-A1665E8EC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25" y="376518"/>
            <a:ext cx="11275915" cy="6118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luxograma: Fita Perfurada 1">
            <a:extLst>
              <a:ext uri="{FF2B5EF4-FFF2-40B4-BE49-F238E27FC236}">
                <a16:creationId xmlns:a16="http://schemas.microsoft.com/office/drawing/2014/main" id="{FCDC8206-ACB1-49E0-AA9B-DCE066D99D66}"/>
              </a:ext>
            </a:extLst>
          </p:cNvPr>
          <p:cNvSpPr/>
          <p:nvPr/>
        </p:nvSpPr>
        <p:spPr>
          <a:xfrm>
            <a:off x="1129553" y="3792071"/>
            <a:ext cx="5177118" cy="1963270"/>
          </a:xfrm>
          <a:prstGeom prst="flowChartPunchedTap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65423D6-9911-421E-B4BA-94C7154AE93E}"/>
              </a:ext>
            </a:extLst>
          </p:cNvPr>
          <p:cNvSpPr txBox="1"/>
          <p:nvPr/>
        </p:nvSpPr>
        <p:spPr>
          <a:xfrm>
            <a:off x="1358152" y="4262718"/>
            <a:ext cx="53250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Cultura e Diferença</a:t>
            </a:r>
          </a:p>
          <a:p>
            <a:r>
              <a:rPr lang="pt-BR" sz="40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Semana 3</a:t>
            </a:r>
          </a:p>
        </p:txBody>
      </p:sp>
    </p:spTree>
    <p:extLst>
      <p:ext uri="{BB962C8B-B14F-4D97-AF65-F5344CB8AC3E}">
        <p14:creationId xmlns:p14="http://schemas.microsoft.com/office/powerpoint/2010/main" val="1357093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B1EE3A-9994-407F-B3BB-32532FA2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249" y="1136470"/>
            <a:ext cx="9080873" cy="1122453"/>
          </a:xfrm>
        </p:spPr>
        <p:txBody>
          <a:bodyPr/>
          <a:lstStyle/>
          <a:p>
            <a:r>
              <a:rPr lang="pt-BR" dirty="0"/>
              <a:t>Definição Antropológica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542845-93D1-456F-8174-A547057CC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923" y="2604655"/>
            <a:ext cx="9080874" cy="3116875"/>
          </a:xfrm>
        </p:spPr>
        <p:txBody>
          <a:bodyPr>
            <a:normAutofit/>
          </a:bodyPr>
          <a:lstStyle/>
          <a:p>
            <a:r>
              <a:rPr lang="pt-BR" dirty="0"/>
              <a:t>Para além do surgimento da </a:t>
            </a:r>
            <a:r>
              <a:rPr lang="pt-BR" b="1" dirty="0"/>
              <a:t>linguagem</a:t>
            </a:r>
            <a:r>
              <a:rPr lang="pt-BR" dirty="0"/>
              <a:t> como ponto chave da diferenciação humano-natureza, nascimento da </a:t>
            </a:r>
            <a:r>
              <a:rPr lang="pt-BR" b="1" dirty="0"/>
              <a:t>lei</a:t>
            </a:r>
            <a:r>
              <a:rPr lang="pt-BR" dirty="0"/>
              <a:t> como “afirmação de que os humanos são capazes de </a:t>
            </a:r>
            <a:r>
              <a:rPr lang="pt-BR" b="1" dirty="0"/>
              <a:t>criar uma ordem de existência </a:t>
            </a:r>
            <a:r>
              <a:rPr lang="pt-BR" dirty="0"/>
              <a:t>que não é simplesmente natural (física, biológica). Esta ordem é a ordem </a:t>
            </a:r>
            <a:r>
              <a:rPr lang="pt-BR" b="1" dirty="0"/>
              <a:t>simbólica</a:t>
            </a:r>
            <a:r>
              <a:rPr lang="pt-BR" dirty="0"/>
              <a:t>”.</a:t>
            </a:r>
          </a:p>
          <a:p>
            <a:endParaRPr lang="pt-BR" dirty="0">
              <a:solidFill>
                <a:schemeClr val="tx1"/>
              </a:solidFill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83323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AAA423-1848-42E9-B5F4-A7C33ED2C4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847166"/>
            <a:ext cx="10515600" cy="484395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dirty="0"/>
              <a:t>1) Criação simbólica da lei: sistema de interdições, obrigações, estabelecidos a partir da atribuição de valore a coisas, a humanos e suas relações e aos acontecimentos.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dirty="0"/>
              <a:t>2) Criação de uma ordem simbólica da linguagem, do trabalho, do espaço, do tempo, do sagrado e do profano, do visível e do invisível. Os símbolos surgem tanto para representar quanto para interpretar a realidade, dando-lhe sentido pela presença do humano no mundo.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dirty="0"/>
              <a:t>3) Organização social: conjunto de práticas, comportamentos, ações e instituições pelas quais os humanos se relacionam entre si e com a Natureza e dela se distinguem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4514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1C1BF3-671A-46DF-A23A-D16105C60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Nesse sentido, não se fala em Cultura, mas sim as culturas.</a:t>
            </a:r>
          </a:p>
          <a:p>
            <a:r>
              <a:rPr lang="pt-BR" sz="2800" b="1" dirty="0">
                <a:solidFill>
                  <a:schemeClr val="tx1"/>
                </a:solidFill>
              </a:rPr>
              <a:t>Definição conceitual</a:t>
            </a:r>
            <a:r>
              <a:rPr lang="pt-BR" sz="2800" dirty="0">
                <a:solidFill>
                  <a:schemeClr val="tx1"/>
                </a:solidFill>
              </a:rPr>
              <a:t>: </a:t>
            </a:r>
            <a:r>
              <a:rPr lang="pt-BR" sz="2800" i="1" dirty="0">
                <a:solidFill>
                  <a:schemeClr val="tx1"/>
                </a:solidFill>
              </a:rPr>
              <a:t>“(...) Cultura é a maneira pela qual os humanos se humanizam por meio de práticas que criam a existência social, econômica, política, religiosa, intelectual e artística.”</a:t>
            </a:r>
            <a:r>
              <a:rPr lang="pt-BR" sz="2800" dirty="0">
                <a:solidFill>
                  <a:schemeClr val="tx1"/>
                </a:solidFill>
              </a:rPr>
              <a:t> (CHAUÍ, 2000, p. 4)</a:t>
            </a:r>
          </a:p>
          <a:p>
            <a:r>
              <a:rPr lang="pt-BR" dirty="0"/>
              <a:t>Cultura como invenção da relação com o Outro.</a:t>
            </a:r>
          </a:p>
        </p:txBody>
      </p:sp>
    </p:spTree>
    <p:extLst>
      <p:ext uri="{BB962C8B-B14F-4D97-AF65-F5344CB8AC3E}">
        <p14:creationId xmlns:p14="http://schemas.microsoft.com/office/powerpoint/2010/main" val="2561194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7F43DA-FB04-4CFF-B3F2-C2FF0B3A3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Cultura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B7F17B-6E10-42EB-BB1B-06DA6E2FEDC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Antiguidade</a:t>
            </a:r>
            <a:r>
              <a:rPr lang="pt-BR" dirty="0">
                <a:solidFill>
                  <a:schemeClr val="tx1"/>
                </a:solidFill>
              </a:rPr>
              <a:t>: cultura como </a:t>
            </a:r>
            <a:r>
              <a:rPr lang="pt-BR" b="1" dirty="0">
                <a:solidFill>
                  <a:schemeClr val="tx1"/>
                </a:solidFill>
              </a:rPr>
              <a:t>cultivo da educação </a:t>
            </a:r>
            <a:r>
              <a:rPr lang="pt-BR" dirty="0">
                <a:solidFill>
                  <a:schemeClr val="tx1"/>
                </a:solidFill>
              </a:rPr>
              <a:t>e da virtude. Expressão advinda do verbo latino </a:t>
            </a:r>
            <a:r>
              <a:rPr lang="pt-BR" i="1" dirty="0" err="1">
                <a:solidFill>
                  <a:schemeClr val="tx1"/>
                </a:solidFill>
              </a:rPr>
              <a:t>colere</a:t>
            </a:r>
            <a:r>
              <a:rPr lang="pt-BR" i="1" dirty="0">
                <a:solidFill>
                  <a:schemeClr val="tx1"/>
                </a:solidFill>
              </a:rPr>
              <a:t> – </a:t>
            </a:r>
            <a:r>
              <a:rPr lang="pt-BR" b="1" dirty="0">
                <a:solidFill>
                  <a:schemeClr val="tx1"/>
                </a:solidFill>
              </a:rPr>
              <a:t>Cuidado</a:t>
            </a:r>
            <a:r>
              <a:rPr lang="pt-BR" dirty="0">
                <a:solidFill>
                  <a:schemeClr val="tx1"/>
                </a:solidFill>
              </a:rPr>
              <a:t> do humano com a natureza, com os deuses (culto), com a educação e a formação; iniciação à vida na coletividade (cultos e incultos).</a:t>
            </a:r>
          </a:p>
          <a:p>
            <a:r>
              <a:rPr lang="pt-BR" b="1" dirty="0">
                <a:solidFill>
                  <a:schemeClr val="tx1"/>
                </a:solidFill>
              </a:rPr>
              <a:t>Modernidade (Século XVIII)</a:t>
            </a:r>
            <a:r>
              <a:rPr lang="pt-BR" dirty="0">
                <a:solidFill>
                  <a:schemeClr val="tx1"/>
                </a:solidFill>
              </a:rPr>
              <a:t>: sinônimo de </a:t>
            </a:r>
            <a:r>
              <a:rPr lang="pt-BR" b="1" dirty="0">
                <a:solidFill>
                  <a:schemeClr val="tx1"/>
                </a:solidFill>
              </a:rPr>
              <a:t>civilização</a:t>
            </a:r>
            <a:r>
              <a:rPr lang="pt-BR" dirty="0">
                <a:solidFill>
                  <a:schemeClr val="tx1"/>
                </a:solidFill>
              </a:rPr>
              <a:t>. Advinda do latim, </a:t>
            </a:r>
            <a:r>
              <a:rPr lang="pt-BR" i="1" dirty="0">
                <a:solidFill>
                  <a:schemeClr val="tx1"/>
                </a:solidFill>
              </a:rPr>
              <a:t>civil, </a:t>
            </a:r>
            <a:r>
              <a:rPr lang="pt-BR" dirty="0">
                <a:solidFill>
                  <a:schemeClr val="tx1"/>
                </a:solidFill>
              </a:rPr>
              <a:t>a expressão agora refere-se à </a:t>
            </a:r>
            <a:r>
              <a:rPr lang="pt-BR" b="1" dirty="0">
                <a:solidFill>
                  <a:schemeClr val="tx1"/>
                </a:solidFill>
              </a:rPr>
              <a:t>formação</a:t>
            </a:r>
            <a:r>
              <a:rPr lang="pt-BR" dirty="0">
                <a:solidFill>
                  <a:schemeClr val="tx1"/>
                </a:solidFill>
              </a:rPr>
              <a:t> ou educação dos seres humanos.</a:t>
            </a:r>
            <a:r>
              <a:rPr lang="pt-BR" b="1" dirty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chemeClr val="tx1"/>
                </a:solidFill>
              </a:rPr>
              <a:t>Separação</a:t>
            </a:r>
            <a:r>
              <a:rPr lang="pt-BR" b="1" dirty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chemeClr val="tx1"/>
                </a:solidFill>
              </a:rPr>
              <a:t>entre natureza (necessidade) e cultura (razão).</a:t>
            </a:r>
          </a:p>
          <a:p>
            <a:endParaRPr lang="pt-BR" dirty="0">
              <a:solidFill>
                <a:schemeClr val="tx1"/>
              </a:solidFill>
            </a:endParaRPr>
          </a:p>
          <a:p>
            <a:endParaRPr lang="pt-BR" dirty="0">
              <a:solidFill>
                <a:schemeClr val="tx1"/>
              </a:solidFill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00709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57CB46-342E-455E-9E88-2105BE661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Ser humano X Natureza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B39F17-44F1-40FA-BFC4-81F7FEDCFAA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Natureza: opera mecanicamente de acordo com leis necessárias de causa e efeito.</a:t>
            </a:r>
          </a:p>
          <a:p>
            <a:r>
              <a:rPr lang="pt-BR" dirty="0"/>
              <a:t>Ser humano: dotado de liberdade e razão, agindo por escolha, de acordo com valores e fins.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dirty="0"/>
              <a:t>A </a:t>
            </a:r>
            <a:r>
              <a:rPr lang="pt-BR" b="1" dirty="0"/>
              <a:t>Natureza</a:t>
            </a:r>
            <a:r>
              <a:rPr lang="pt-BR" dirty="0"/>
              <a:t> é o reino da </a:t>
            </a:r>
            <a:r>
              <a:rPr lang="pt-BR" b="1" dirty="0"/>
              <a:t>necessidade</a:t>
            </a:r>
            <a:r>
              <a:rPr lang="pt-BR" dirty="0"/>
              <a:t> causal, do </a:t>
            </a:r>
            <a:r>
              <a:rPr lang="pt-BR" b="1" dirty="0"/>
              <a:t>determinismo</a:t>
            </a:r>
            <a:r>
              <a:rPr lang="pt-BR" dirty="0"/>
              <a:t> cego. A humanidade ou </a:t>
            </a:r>
            <a:r>
              <a:rPr lang="pt-BR" b="1" dirty="0"/>
              <a:t>Cultura</a:t>
            </a:r>
            <a:r>
              <a:rPr lang="pt-BR" dirty="0"/>
              <a:t> é o reino da finalidade livre, das </a:t>
            </a:r>
            <a:r>
              <a:rPr lang="pt-BR" b="1" dirty="0"/>
              <a:t>escolhas racionais</a:t>
            </a:r>
            <a:r>
              <a:rPr lang="pt-BR" dirty="0"/>
              <a:t>, dos </a:t>
            </a:r>
            <a:r>
              <a:rPr lang="pt-BR" b="1" dirty="0"/>
              <a:t>valores</a:t>
            </a:r>
            <a:r>
              <a:rPr lang="pt-BR" dirty="0"/>
              <a:t>, da distinção entre bem e mal, verdadeiro e falso, justo e injusto, sagrado e profano, belo e feio.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9876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5EDADE-0A25-4D88-B0E4-D845C7804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Cultura = história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DAD123-DB5F-45FD-9F2C-F341BEFA4B0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l"/>
            <a:r>
              <a:rPr lang="pt-BR" sz="2600" dirty="0"/>
              <a:t>Cultura passou a significar, em primeiro lugar, as obras humanas que se exprimem numa civilização, mas, em segundo lugar, a relação que os humanos, socialmente organizados, estabelecem com o tempo e com o espaço, com os outros humanos e com a Natureza, relações que se transformam e variam. </a:t>
            </a:r>
          </a:p>
          <a:p>
            <a:pPr algn="l"/>
            <a:r>
              <a:rPr lang="pt-BR" sz="2600" dirty="0"/>
              <a:t>Cultura torna-se sinônimo de História. </a:t>
            </a:r>
          </a:p>
          <a:p>
            <a:pPr algn="l"/>
            <a:r>
              <a:rPr lang="pt-BR" sz="2600" dirty="0"/>
              <a:t>A Natureza é o reino da repetição; a Cultura, o da transformação racional; portanto, é a relação dos humanos com o tempo e no tempo.</a:t>
            </a:r>
          </a:p>
        </p:txBody>
      </p:sp>
    </p:spTree>
    <p:extLst>
      <p:ext uri="{BB962C8B-B14F-4D97-AF65-F5344CB8AC3E}">
        <p14:creationId xmlns:p14="http://schemas.microsoft.com/office/powerpoint/2010/main" val="2453423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9EE79C-1558-4000-A636-CD1D82AB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924" y="1136470"/>
            <a:ext cx="9080873" cy="1122453"/>
          </a:xfrm>
        </p:spPr>
        <p:txBody>
          <a:bodyPr/>
          <a:lstStyle/>
          <a:p>
            <a:r>
              <a:rPr lang="pt-BR" dirty="0"/>
              <a:t>Iluminismo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95355D-E390-4115-BEDA-F8696D12E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924" y="2507673"/>
            <a:ext cx="9080874" cy="3213857"/>
          </a:xfrm>
        </p:spPr>
        <p:txBody>
          <a:bodyPr/>
          <a:lstStyle/>
          <a:p>
            <a:r>
              <a:rPr lang="pt-BR" dirty="0"/>
              <a:t>Missão proselitista = promoção do aprendizado - a “suavização” e “melhora” das maneiras e tratos sociais e o “­</a:t>
            </a:r>
            <a:r>
              <a:rPr lang="pt-BR" b="1" dirty="0"/>
              <a:t>refinamento</a:t>
            </a:r>
            <a:r>
              <a:rPr lang="pt-BR" dirty="0"/>
              <a:t>” dos gostos.</a:t>
            </a:r>
          </a:p>
          <a:p>
            <a:r>
              <a:rPr lang="pt-BR" dirty="0"/>
              <a:t>Cultura Universal – conhecimento e educação que pode ser alcançado por toda humanidade.</a:t>
            </a:r>
          </a:p>
        </p:txBody>
      </p:sp>
    </p:spTree>
    <p:extLst>
      <p:ext uri="{BB962C8B-B14F-4D97-AF65-F5344CB8AC3E}">
        <p14:creationId xmlns:p14="http://schemas.microsoft.com/office/powerpoint/2010/main" val="108676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A81BC5-2C8B-4FBA-A970-1039B9F3AC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914400"/>
            <a:ext cx="10515600" cy="4776715"/>
          </a:xfrm>
        </p:spPr>
        <p:txBody>
          <a:bodyPr>
            <a:normAutofit/>
          </a:bodyPr>
          <a:lstStyle/>
          <a:p>
            <a:r>
              <a:rPr lang="pt-BR" dirty="0"/>
              <a:t>Cultura: uma </a:t>
            </a:r>
            <a:r>
              <a:rPr lang="pt-BR" b="1" dirty="0"/>
              <a:t>ferramen</a:t>
            </a:r>
            <a:r>
              <a:rPr lang="pt-BR" dirty="0"/>
              <a:t>­ta básica e fundamental à </a:t>
            </a:r>
            <a:r>
              <a:rPr lang="pt-BR" b="1" dirty="0"/>
              <a:t>construção dos Estados Nação</a:t>
            </a:r>
            <a:r>
              <a:rPr lang="pt-BR" dirty="0"/>
              <a:t>, à formação dos elementos nacionais - dos cidadãos do Estado Moderno.</a:t>
            </a:r>
          </a:p>
          <a:p>
            <a:r>
              <a:rPr lang="pt-BR" dirty="0"/>
              <a:t>Transmissão da cultura - os “</a:t>
            </a:r>
            <a:r>
              <a:rPr lang="pt-BR" b="1" dirty="0"/>
              <a:t>ilustrados</a:t>
            </a:r>
            <a:r>
              <a:rPr lang="pt-BR" dirty="0"/>
              <a:t>” atuavam de maneira a “</a:t>
            </a:r>
            <a:r>
              <a:rPr lang="pt-BR" b="1" dirty="0"/>
              <a:t>edu</a:t>
            </a:r>
            <a:r>
              <a:rPr lang="pt-BR" dirty="0"/>
              <a:t>­</a:t>
            </a:r>
            <a:r>
              <a:rPr lang="pt-BR" b="1" dirty="0"/>
              <a:t>car</a:t>
            </a:r>
            <a:r>
              <a:rPr lang="pt-BR" dirty="0"/>
              <a:t>” os “menos instruídos” com a finalidade de compor uma “</a:t>
            </a:r>
            <a:r>
              <a:rPr lang="pt-BR" b="1" dirty="0"/>
              <a:t>totalidade integrada” de costumes e valores</a:t>
            </a:r>
            <a:r>
              <a:rPr lang="pt-BR" dirty="0"/>
              <a:t> (idioma, história e calendário comuns, bem como rituais comemo­rativos únicos). O que escapa desse modelo de cultura nacional “comum a todos” deveria ser visto como “atraso” em relação ao “progresso”. </a:t>
            </a:r>
          </a:p>
          <a:p>
            <a:r>
              <a:rPr lang="pt-BR" dirty="0"/>
              <a:t>Cultura = agente de transformação social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16092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E876A5-3B06-4D01-89B8-CB5866CFF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Cultura – Século XX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A1149E-A03C-417C-9395-43712A467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dirty="0"/>
              <a:t>Mudança na concepção de cultura: os “instruídos” estavam substituindo sua antiga “missão proselitista” pela “tarefa” de </a:t>
            </a:r>
            <a:r>
              <a:rPr lang="pt-BR" b="1" dirty="0"/>
              <a:t>separar</a:t>
            </a:r>
            <a:r>
              <a:rPr lang="pt-BR" dirty="0"/>
              <a:t> aquilo a ser considerado como “bom” ou “mau” gosto, “refinado” ou “vulgar”.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dirty="0"/>
              <a:t>Não há mais a busca pela “condição humana universal”. A cultura atuaria como um aparato de </a:t>
            </a:r>
            <a:r>
              <a:rPr lang="pt-BR" b="1" dirty="0"/>
              <a:t>reforço das diferenças e hierarquias sociais</a:t>
            </a:r>
            <a:r>
              <a:rPr lang="pt-BR" dirty="0"/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dirty="0"/>
              <a:t> Logo, a cultura teria sido convertida em um dos mais privilegiados </a:t>
            </a:r>
            <a:r>
              <a:rPr lang="pt-BR" b="1" dirty="0"/>
              <a:t>mecanismos de distinção social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08634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8035325-216A-4FFE-9C90-3B85E8D33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Zygmunt </a:t>
            </a:r>
            <a:r>
              <a:rPr lang="pt-BR" dirty="0" err="1"/>
              <a:t>Bauman</a:t>
            </a:r>
            <a:r>
              <a:rPr lang="pt-BR" dirty="0"/>
              <a:t> (1925 – 2017)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0225658D-960E-44A5-A0A6-88D18E2083C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Sociólogo e filósofo polonês</a:t>
            </a:r>
          </a:p>
        </p:txBody>
      </p:sp>
      <p:pic>
        <p:nvPicPr>
          <p:cNvPr id="2050" name="Picture 2" descr="Morre Zygmunt Bauman. Leia entrevista inédita em que ele defende a redenção  pelo diálogo - ÉPOCA | Cultura">
            <a:extLst>
              <a:ext uri="{FF2B5EF4-FFF2-40B4-BE49-F238E27FC236}">
                <a16:creationId xmlns:a16="http://schemas.microsoft.com/office/drawing/2014/main" id="{37431E1D-B542-4873-BB3D-37474C58A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8521" y="1466595"/>
            <a:ext cx="2315583" cy="3307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Livro: Modernidade Líquida - Zygmunt Bauman | Estante Virtual">
            <a:extLst>
              <a:ext uri="{FF2B5EF4-FFF2-40B4-BE49-F238E27FC236}">
                <a16:creationId xmlns:a16="http://schemas.microsoft.com/office/drawing/2014/main" id="{40A094B4-33EE-49A0-B9FD-C190D797F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227" y="2751189"/>
            <a:ext cx="2139082" cy="3208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livro: Vida Para Consumo, de Zygmunt Bauman">
            <a:extLst>
              <a:ext uri="{FF2B5EF4-FFF2-40B4-BE49-F238E27FC236}">
                <a16:creationId xmlns:a16="http://schemas.microsoft.com/office/drawing/2014/main" id="{D38EC02A-D17F-4F5B-A7AC-88799E48E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553" y="2751189"/>
            <a:ext cx="2138082" cy="3201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DENTIDADE - 1ªED.(2005) - Zygmunt Bauman - Livro">
            <a:extLst>
              <a:ext uri="{FF2B5EF4-FFF2-40B4-BE49-F238E27FC236}">
                <a16:creationId xmlns:a16="http://schemas.microsoft.com/office/drawing/2014/main" id="{9BD4511D-A2BE-4A50-AB0E-D2E6ABDBF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3805" y="2751189"/>
            <a:ext cx="2148845" cy="3201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9155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paço Reservado para Conteúdo 4">
            <a:extLst>
              <a:ext uri="{FF2B5EF4-FFF2-40B4-BE49-F238E27FC236}">
                <a16:creationId xmlns:a16="http://schemas.microsoft.com/office/drawing/2014/main" id="{3B551753-270C-46FA-99F2-E35E13872DA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84" r="-1" b="8419"/>
          <a:stretch/>
        </p:blipFill>
        <p:spPr>
          <a:xfrm>
            <a:off x="473196" y="427617"/>
            <a:ext cx="11245608" cy="434509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37561E6D-4B4F-4D8B-AE7F-283785A40AE0}"/>
              </a:ext>
            </a:extLst>
          </p:cNvPr>
          <p:cNvSpPr txBox="1"/>
          <p:nvPr/>
        </p:nvSpPr>
        <p:spPr>
          <a:xfrm>
            <a:off x="2276420" y="5163670"/>
            <a:ext cx="797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 Cultura na Modernidade Líquida</a:t>
            </a:r>
          </a:p>
        </p:txBody>
      </p:sp>
    </p:spTree>
    <p:extLst>
      <p:ext uri="{BB962C8B-B14F-4D97-AF65-F5344CB8AC3E}">
        <p14:creationId xmlns:p14="http://schemas.microsoft.com/office/powerpoint/2010/main" val="2172003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1FD997C-925D-4796-8CBB-5F4D0109E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249" y="1246056"/>
            <a:ext cx="9080873" cy="1122453"/>
          </a:xfrm>
        </p:spPr>
        <p:txBody>
          <a:bodyPr/>
          <a:lstStyle/>
          <a:p>
            <a:r>
              <a:rPr lang="pt-BR" dirty="0"/>
              <a:t>Definição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3A144F62-5AC8-4B44-8476-263F2193A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248" y="2904126"/>
            <a:ext cx="9080874" cy="3787222"/>
          </a:xfrm>
        </p:spPr>
        <p:txBody>
          <a:bodyPr/>
          <a:lstStyle/>
          <a:p>
            <a:r>
              <a:rPr lang="pt-BR" dirty="0">
                <a:solidFill>
                  <a:schemeClr val="tx1"/>
                </a:solidFill>
              </a:rPr>
              <a:t>Cultura como ‘</a:t>
            </a:r>
            <a:r>
              <a:rPr lang="pt-BR" b="1" dirty="0">
                <a:solidFill>
                  <a:schemeClr val="tx1"/>
                </a:solidFill>
              </a:rPr>
              <a:t>fábrica de ordem</a:t>
            </a:r>
            <a:r>
              <a:rPr lang="pt-BR" dirty="0">
                <a:solidFill>
                  <a:schemeClr val="tx1"/>
                </a:solidFill>
              </a:rPr>
              <a:t>’ – estabelecimento e manutenção da ordem social por meio da transmissão e da fixação de valores, sobretudo por meio das instituições sociais.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2044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9FF359-3DE7-434F-8B99-93E77B850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Modernidade Líquida – Século XXI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74ABED-1054-4859-B6D4-974610438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Seguindo a lógica de cultura como distinção, tem-se a imersão da cul­tura nas </a:t>
            </a:r>
            <a:r>
              <a:rPr lang="pt-BR" b="1" dirty="0"/>
              <a:t>lógicas de mercado da globalização</a:t>
            </a:r>
            <a:r>
              <a:rPr lang="pt-BR" dirty="0"/>
              <a:t>.</a:t>
            </a:r>
          </a:p>
          <a:p>
            <a:r>
              <a:rPr lang="pt-BR" dirty="0"/>
              <a:t>Mundo em constante </a:t>
            </a:r>
            <a:r>
              <a:rPr lang="pt-BR" b="1" dirty="0"/>
              <a:t>aceleração e transformação </a:t>
            </a:r>
            <a:r>
              <a:rPr lang="pt-BR" dirty="0"/>
              <a:t>- a cultura miraria a formação de indivíduos não necessariamente “instruídos” ou “esclarecidos”, e sim </a:t>
            </a:r>
            <a:r>
              <a:rPr lang="pt-BR" b="1" dirty="0"/>
              <a:t>consumidores</a:t>
            </a:r>
            <a:r>
              <a:rPr lang="pt-BR" dirty="0"/>
              <a:t>. A cultura torna-se um dispositivo de sedução dos sujeitos, objetivando </a:t>
            </a:r>
            <a:r>
              <a:rPr lang="pt-BR" b="1" dirty="0"/>
              <a:t>criar desejos </a:t>
            </a:r>
            <a:r>
              <a:rPr lang="pt-BR" dirty="0"/>
              <a:t>e respectivas promessas de satisfação.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1346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8447B8-2D8A-443D-B24E-3BA164177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M. Sólida X M. Líquida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4D78C76-67FB-4811-B67B-5A12F19665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0924" y="2273647"/>
            <a:ext cx="897955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dirty="0"/>
              <a:t>Na modernidade sólida, as estruturas sociais — como o trabalho, a família, a comunidade, o Estado — eram relativamente estáveis e duradouras.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dirty="0"/>
              <a:t>Na modernidade líquida, essas estruturas se tornaram flexíveis, mutáveis e frágeis, assim como os líquidos, que não mantêm forma fixa e se adaptam ao recipiente que os contém.</a:t>
            </a:r>
          </a:p>
        </p:txBody>
      </p:sp>
    </p:spTree>
    <p:extLst>
      <p:ext uri="{BB962C8B-B14F-4D97-AF65-F5344CB8AC3E}">
        <p14:creationId xmlns:p14="http://schemas.microsoft.com/office/powerpoint/2010/main" val="3432506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6E85BC-BBB7-4DC4-B105-8CE4DA367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Modernidade Sólida X Modernidade Líquida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901ABA-9520-450D-BA02-C55F4BA30EE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pPr algn="l"/>
            <a:r>
              <a:rPr lang="pt-BR" dirty="0"/>
              <a:t>Modernidade Sólida = </a:t>
            </a:r>
            <a:r>
              <a:rPr lang="pt-BR" b="1" dirty="0">
                <a:effectLst/>
                <a:latin typeface="Segoe UI" panose="020B0502040204020203" pitchFamily="34" charset="0"/>
              </a:rPr>
              <a:t>rigidez e solidificação </a:t>
            </a:r>
            <a:r>
              <a:rPr lang="pt-BR" dirty="0">
                <a:effectLst/>
              </a:rPr>
              <a:t>das relações humanas, das relações sociais, da ciência e do pensamento.</a:t>
            </a:r>
            <a:r>
              <a:rPr lang="pt-BR" dirty="0"/>
              <a:t> Instituições firmes, segurança no trabalho, sistema baseado na </a:t>
            </a:r>
            <a:r>
              <a:rPr lang="pt-BR" b="1" dirty="0"/>
              <a:t>racionalidade</a:t>
            </a:r>
            <a:r>
              <a:rPr lang="pt-BR" dirty="0"/>
              <a:t>, religião e nacionalismo davam um sentido para a comunidade e um sentimento de </a:t>
            </a:r>
            <a:r>
              <a:rPr lang="pt-BR" b="1" dirty="0"/>
              <a:t>pertencimento</a:t>
            </a:r>
            <a:r>
              <a:rPr lang="pt-BR" dirty="0"/>
              <a:t>. Constituição da identidade a partir dessas referências.</a:t>
            </a:r>
          </a:p>
          <a:p>
            <a:pPr algn="l"/>
            <a:r>
              <a:rPr lang="pt-BR" dirty="0"/>
              <a:t>Modernidade Líquida = </a:t>
            </a:r>
            <a:r>
              <a:rPr lang="pt-BR" b="1" dirty="0"/>
              <a:t>Enfraquecimento</a:t>
            </a:r>
            <a:r>
              <a:rPr lang="pt-BR" dirty="0"/>
              <a:t> das instituições, </a:t>
            </a:r>
            <a:r>
              <a:rPr lang="pt-BR" b="1" dirty="0"/>
              <a:t>concorrência</a:t>
            </a:r>
            <a:r>
              <a:rPr lang="pt-BR" dirty="0"/>
              <a:t> dos mercados e ao aumento da </a:t>
            </a:r>
            <a:r>
              <a:rPr lang="pt-BR" b="1" dirty="0"/>
              <a:t>competitividade</a:t>
            </a:r>
            <a:r>
              <a:rPr lang="pt-BR" dirty="0"/>
              <a:t>, o indivíduo deixa de ter certezas, os indivíduos têm que construir sua identidade a partir da sua </a:t>
            </a:r>
            <a:r>
              <a:rPr lang="pt-BR" b="1" dirty="0"/>
              <a:t>experiência pessoal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0822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DC357-C83A-400B-8974-D53455C71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Características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634AD44-C187-4652-95BA-0AABCCF90F2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838201" y="1346113"/>
            <a:ext cx="10336305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sz="2600" dirty="0"/>
              <a:t> </a:t>
            </a:r>
            <a:r>
              <a:rPr lang="pt-BR" altLang="pt-BR" sz="2600" b="1" dirty="0"/>
              <a:t>Mudança constante</a:t>
            </a:r>
            <a:r>
              <a:rPr lang="pt-BR" altLang="pt-BR" sz="2600" dirty="0"/>
              <a:t>: nada parece durar; relações, empregos e identidades estão sempre em transformação.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sz="2600" dirty="0"/>
              <a:t> </a:t>
            </a:r>
            <a:r>
              <a:rPr lang="pt-BR" altLang="pt-BR" sz="2600" b="1" dirty="0"/>
              <a:t>Individualização</a:t>
            </a:r>
            <a:r>
              <a:rPr lang="pt-BR" altLang="pt-BR" sz="2600" dirty="0"/>
              <a:t>: as pessoas são cada vez mais responsáveis por seu próprio destino, sem a segurança de instituições sólidas.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sz="2600" dirty="0"/>
              <a:t> </a:t>
            </a:r>
            <a:r>
              <a:rPr lang="pt-BR" altLang="pt-BR" sz="2600" b="1" dirty="0"/>
              <a:t>Consumo e descartabilidade</a:t>
            </a:r>
            <a:r>
              <a:rPr lang="pt-BR" altLang="pt-BR" sz="2600" dirty="0"/>
              <a:t>: a lógica do consumo substitui a da produção; tudo é rápido, substituível e temporário — inclusive os vínculos humanos.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sz="2600" dirty="0"/>
              <a:t> </a:t>
            </a:r>
            <a:r>
              <a:rPr lang="pt-BR" altLang="pt-BR" sz="2600" b="1" dirty="0"/>
              <a:t>Insegurança e incerteza</a:t>
            </a:r>
            <a:r>
              <a:rPr lang="pt-BR" altLang="pt-BR" sz="2600" dirty="0"/>
              <a:t>: a sensação de instabilidade e imprevisibilidade marca a vida cotidiana.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sz="2600" dirty="0"/>
              <a:t> </a:t>
            </a:r>
            <a:r>
              <a:rPr lang="pt-BR" altLang="pt-BR" sz="2600" b="1" dirty="0"/>
              <a:t>Globalização</a:t>
            </a:r>
            <a:r>
              <a:rPr lang="pt-BR" altLang="pt-BR" sz="2600" dirty="0"/>
              <a:t>: o mundo é interconectado, mas essa conexão nem sempre gera pertencimento; muitas vezes cria exclusão e desigualdade.</a:t>
            </a:r>
          </a:p>
        </p:txBody>
      </p:sp>
    </p:spTree>
    <p:extLst>
      <p:ext uri="{BB962C8B-B14F-4D97-AF65-F5344CB8AC3E}">
        <p14:creationId xmlns:p14="http://schemas.microsoft.com/office/powerpoint/2010/main" val="1286180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998EA3-4388-4F1D-BD20-093CC7877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Modernidade Líquida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C14971-DAFD-4063-AB41-E793AD006A3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546412"/>
            <a:ext cx="10515600" cy="4743353"/>
          </a:xfrm>
        </p:spPr>
        <p:txBody>
          <a:bodyPr>
            <a:normAutofit fontScale="62500" lnSpcReduction="20000"/>
          </a:bodyPr>
          <a:lstStyle/>
          <a:p>
            <a:pPr algn="just">
              <a:spcAft>
                <a:spcPts val="1125"/>
              </a:spcAft>
            </a:pPr>
            <a:r>
              <a:rPr lang="pt-BR" sz="3800" dirty="0"/>
              <a:t>Relações econômicas sobrepostas às relações sociais e humanas – </a:t>
            </a:r>
            <a:r>
              <a:rPr lang="pt-BR" sz="3800" b="1" dirty="0"/>
              <a:t>fragilidade</a:t>
            </a:r>
            <a:r>
              <a:rPr lang="pt-BR" sz="3800" dirty="0"/>
              <a:t> dos laços entre pessoas e instituições.</a:t>
            </a:r>
          </a:p>
          <a:p>
            <a:pPr algn="just">
              <a:spcAft>
                <a:spcPts val="1125"/>
              </a:spcAft>
            </a:pPr>
            <a:r>
              <a:rPr lang="pt-BR" sz="3800" dirty="0"/>
              <a:t>Emprego: empreendimento </a:t>
            </a:r>
            <a:r>
              <a:rPr lang="pt-BR" sz="3800" b="1" dirty="0"/>
              <a:t>individual</a:t>
            </a:r>
            <a:r>
              <a:rPr lang="pt-BR" sz="3800" dirty="0"/>
              <a:t>, “empreendedor” de si mesmo. Se alguém não obtém sucesso nessa lógica da modernidade líquida, a </a:t>
            </a:r>
            <a:r>
              <a:rPr lang="pt-BR" sz="3800" b="1" dirty="0"/>
              <a:t>responsabilidade é completamente individual</a:t>
            </a:r>
            <a:r>
              <a:rPr lang="pt-BR" sz="3800" dirty="0"/>
              <a:t>.</a:t>
            </a:r>
          </a:p>
          <a:p>
            <a:pPr algn="just">
              <a:spcAft>
                <a:spcPts val="1125"/>
              </a:spcAft>
            </a:pPr>
            <a:r>
              <a:rPr lang="pt-BR" sz="3800" b="1" dirty="0"/>
              <a:t>Exploração capitalista </a:t>
            </a:r>
            <a:r>
              <a:rPr lang="pt-BR" sz="3800" dirty="0"/>
              <a:t>deixa de ser vista como exploração e passa a ser vista como uma </a:t>
            </a:r>
            <a:r>
              <a:rPr lang="pt-BR" sz="3800" b="1" dirty="0"/>
              <a:t>relação natural </a:t>
            </a:r>
            <a:r>
              <a:rPr lang="pt-BR" sz="3800" dirty="0"/>
              <a:t>em que o sujeito, empreendedor de si mesmo, vende a sua força de trabalho ao sujeito empreendedor que possui o capital.</a:t>
            </a:r>
          </a:p>
          <a:p>
            <a:pPr algn="just">
              <a:spcAft>
                <a:spcPts val="1125"/>
              </a:spcAft>
            </a:pPr>
            <a:r>
              <a:rPr lang="pt-BR" sz="3800" dirty="0"/>
              <a:t>A modernidade líquida é </a:t>
            </a:r>
            <a:r>
              <a:rPr lang="pt-BR" sz="3800" b="1" dirty="0"/>
              <a:t>ágil</a:t>
            </a:r>
            <a:r>
              <a:rPr lang="pt-BR" sz="3800" dirty="0"/>
              <a:t>, pois ela acompanha a moda e o pensamento de época. A ciência, a técnica, a educação, a saúde, as relações humanas e tudo mais que foi criado pelo ser humano para compor a sociedade </a:t>
            </a:r>
            <a:r>
              <a:rPr lang="pt-BR" sz="3800" b="1" dirty="0"/>
              <a:t>são submetidos à lógica capitalista de consumo</a:t>
            </a:r>
            <a:r>
              <a:rPr lang="pt-BR" sz="3800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09658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A3D0C3-212E-464A-B9FF-7596BAA82EE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779928"/>
            <a:ext cx="10515600" cy="4440539"/>
          </a:xfrm>
        </p:spPr>
        <p:txBody>
          <a:bodyPr>
            <a:normAutofit fontScale="92500"/>
          </a:bodyPr>
          <a:lstStyle/>
          <a:p>
            <a:r>
              <a:rPr lang="pt-BR" dirty="0"/>
              <a:t>Relações humanas – conexões </a:t>
            </a:r>
            <a:r>
              <a:rPr lang="pt-BR" b="1" dirty="0"/>
              <a:t>superficiais</a:t>
            </a:r>
            <a:r>
              <a:rPr lang="pt-BR" dirty="0"/>
              <a:t> – amor líquido – prazer para o indivíduo – </a:t>
            </a:r>
            <a:r>
              <a:rPr lang="pt-BR" b="1" dirty="0"/>
              <a:t>prazer a qualquer custo</a:t>
            </a:r>
            <a:r>
              <a:rPr lang="pt-BR" dirty="0"/>
              <a:t>.</a:t>
            </a:r>
          </a:p>
          <a:p>
            <a:r>
              <a:rPr lang="pt-BR" dirty="0"/>
              <a:t>A lógica do </a:t>
            </a:r>
            <a:r>
              <a:rPr lang="pt-BR" b="1" dirty="0"/>
              <a:t>consumo</a:t>
            </a:r>
            <a:r>
              <a:rPr lang="pt-BR" dirty="0"/>
              <a:t> entrou no lugar da lógica da moral - as pessoas passam a ser analisadas não pelo que são, mas pelo que compram. </a:t>
            </a:r>
            <a:r>
              <a:rPr lang="pt-BR" b="1" dirty="0"/>
              <a:t>O sujeito é aquilo que consome</a:t>
            </a:r>
            <a:r>
              <a:rPr lang="pt-BR" dirty="0"/>
              <a:t>.</a:t>
            </a:r>
          </a:p>
          <a:p>
            <a:r>
              <a:rPr lang="pt-BR" dirty="0"/>
              <a:t>Associação do </a:t>
            </a:r>
            <a:r>
              <a:rPr lang="pt-BR" b="1" dirty="0"/>
              <a:t>prazer (momentâneo) à felicidade</a:t>
            </a:r>
            <a:r>
              <a:rPr lang="pt-BR" dirty="0"/>
              <a:t>. Como esse prazer é rapidamente passageiro, o sujeito sente a necessidade de buscá-lo constantemente, na tentativa de alcançar a felicidade.</a:t>
            </a:r>
          </a:p>
          <a:p>
            <a:r>
              <a:rPr lang="pt-BR" dirty="0"/>
              <a:t>Isso gera a </a:t>
            </a:r>
            <a:r>
              <a:rPr lang="pt-BR" b="1" dirty="0"/>
              <a:t>angústia</a:t>
            </a:r>
            <a:r>
              <a:rPr lang="pt-BR" dirty="0"/>
              <a:t> e desconforto, mas também uma sensação de </a:t>
            </a:r>
            <a:r>
              <a:rPr lang="pt-BR" b="1" dirty="0"/>
              <a:t>liberdade</a:t>
            </a:r>
            <a:r>
              <a:rPr lang="pt-BR" dirty="0"/>
              <a:t>, onde o indivíduo tem a </a:t>
            </a:r>
            <a:r>
              <a:rPr lang="pt-BR" b="1" dirty="0"/>
              <a:t>responsabilidade total dos seus atos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pic>
        <p:nvPicPr>
          <p:cNvPr id="4098" name="Picture 2" descr="Logotipo Facebook Imagens – Download Grátis no Freepik">
            <a:extLst>
              <a:ext uri="{FF2B5EF4-FFF2-40B4-BE49-F238E27FC236}">
                <a16:creationId xmlns:a16="http://schemas.microsoft.com/office/drawing/2014/main" id="{3A8E96FF-6C58-4055-B863-DD8ED0DD1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7130" y="5185495"/>
            <a:ext cx="1318550" cy="1209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Logo WhatsApp – Logos PNG | Simbolo do whatsapp, Simbolo whatsapp vetor,  Ideias para logotipos">
            <a:extLst>
              <a:ext uri="{FF2B5EF4-FFF2-40B4-BE49-F238E27FC236}">
                <a16:creationId xmlns:a16="http://schemas.microsoft.com/office/drawing/2014/main" id="{C50758E2-AD3C-44E9-872F-0ABDC43BC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9155" y="5271246"/>
            <a:ext cx="1144127" cy="1144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Simbolo Instagram Imagens – Download Grátis no Freepik">
            <a:extLst>
              <a:ext uri="{FF2B5EF4-FFF2-40B4-BE49-F238E27FC236}">
                <a16:creationId xmlns:a16="http://schemas.microsoft.com/office/drawing/2014/main" id="{82AE0F30-E750-47F2-BF76-44CC79580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454" y="5164400"/>
            <a:ext cx="1318550" cy="131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Twitter remodela pássaro símbolo da rede social | Exame">
            <a:extLst>
              <a:ext uri="{FF2B5EF4-FFF2-40B4-BE49-F238E27FC236}">
                <a16:creationId xmlns:a16="http://schemas.microsoft.com/office/drawing/2014/main" id="{C0F243CD-8F18-4271-8D14-DDA01C826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7745" y="5399715"/>
            <a:ext cx="1318549" cy="879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>
            <a:extLst>
              <a:ext uri="{FF2B5EF4-FFF2-40B4-BE49-F238E27FC236}">
                <a16:creationId xmlns:a16="http://schemas.microsoft.com/office/drawing/2014/main" id="{6A35143C-2C16-4B35-AA73-26137FB75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5537" y="5399715"/>
            <a:ext cx="800557" cy="800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Simbolo Youtube Imagens – Download Grátis no Freepik">
            <a:extLst>
              <a:ext uri="{FF2B5EF4-FFF2-40B4-BE49-F238E27FC236}">
                <a16:creationId xmlns:a16="http://schemas.microsoft.com/office/drawing/2014/main" id="{F77535F3-469F-47CE-B3CF-F23296C47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023589" y="5220467"/>
            <a:ext cx="1139079" cy="1139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Vetores e ilustrações de Facebook messenger para download gratuito | Freepik">
            <a:extLst>
              <a:ext uri="{FF2B5EF4-FFF2-40B4-BE49-F238E27FC236}">
                <a16:creationId xmlns:a16="http://schemas.microsoft.com/office/drawing/2014/main" id="{5B8479D4-ACDD-485C-8BAD-4AFF38F02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5595" y="5323953"/>
            <a:ext cx="1047993" cy="104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5218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DCEE81-60D8-4037-AF4E-67BDE086452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Indivíduos = </a:t>
            </a:r>
            <a:r>
              <a:rPr lang="pt-BR" b="1" dirty="0"/>
              <a:t>corredores</a:t>
            </a:r>
            <a:r>
              <a:rPr lang="pt-BR" dirty="0"/>
              <a:t> em busca da vitória (</a:t>
            </a:r>
            <a:r>
              <a:rPr lang="pt-BR" b="1" dirty="0"/>
              <a:t>vencer na vida</a:t>
            </a:r>
            <a:r>
              <a:rPr lang="pt-BR" dirty="0"/>
              <a:t>), sem nunca chegar à linha de chegada – eterna busca da novidade, de seguir a moda, obter o que os outros tem.</a:t>
            </a:r>
          </a:p>
          <a:p>
            <a:r>
              <a:rPr lang="pt-BR" dirty="0"/>
              <a:t>Cultura identificada à </a:t>
            </a:r>
            <a:r>
              <a:rPr lang="pt-BR" b="1" dirty="0"/>
              <a:t>moda</a:t>
            </a:r>
            <a:r>
              <a:rPr lang="pt-BR" dirty="0"/>
              <a:t> - </a:t>
            </a:r>
            <a:r>
              <a:rPr lang="pt-BR" sz="2800" dirty="0"/>
              <a:t>não só as mercadorias e aquisições, mas a própria </a:t>
            </a:r>
            <a:r>
              <a:rPr lang="pt-BR" sz="2800" b="1" dirty="0"/>
              <a:t>identidade dos sujeitos </a:t>
            </a:r>
            <a:r>
              <a:rPr lang="pt-BR" sz="2800" dirty="0"/>
              <a:t>é “convidada” (para não dizer compelida) a eternamente se </a:t>
            </a:r>
            <a:r>
              <a:rPr lang="pt-BR" sz="2800" b="1" dirty="0"/>
              <a:t>ajustar</a:t>
            </a:r>
            <a:r>
              <a:rPr lang="pt-BR" sz="2800" dirty="0"/>
              <a:t> às mutações das tendências em voga.</a:t>
            </a:r>
          </a:p>
          <a:p>
            <a:r>
              <a:rPr lang="pt-BR" dirty="0"/>
              <a:t>Modelo de identidade camaleão.</a:t>
            </a:r>
            <a:endParaRPr lang="pt-BR" sz="2800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5568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CA7D347-8CB1-48CE-8259-658265705B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295" y="487819"/>
            <a:ext cx="4576387" cy="5478952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5518970-057F-4376-B1EB-5C03F9803B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247" y="497226"/>
            <a:ext cx="4774855" cy="556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1566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4E5EE6-F745-44A8-A720-112914348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Multiculturalismo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4A13FB-500E-40AF-845E-5170EA8DFEB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Iluminismo – cultura </a:t>
            </a:r>
            <a:r>
              <a:rPr lang="pt-BR" sz="2800" dirty="0"/>
              <a:t>“universal”, a ser partilhada entre os membros nacionais.</a:t>
            </a:r>
          </a:p>
          <a:p>
            <a:r>
              <a:rPr lang="pt-BR" dirty="0"/>
              <a:t>Modernidade líquida – multiculturalismo = </a:t>
            </a:r>
            <a:r>
              <a:rPr lang="pt-BR" sz="2800" dirty="0"/>
              <a:t>“</a:t>
            </a:r>
            <a:r>
              <a:rPr lang="pt-BR" sz="2800" b="1" dirty="0"/>
              <a:t>indiferença à diferença</a:t>
            </a:r>
            <a:r>
              <a:rPr lang="pt-BR" sz="2800" dirty="0"/>
              <a:t>”. U</a:t>
            </a:r>
            <a:r>
              <a:rPr lang="pt-BR" dirty="0"/>
              <a:t>m sistema em que as comunidades culturais estão </a:t>
            </a:r>
            <a:r>
              <a:rPr lang="pt-BR" b="1" dirty="0"/>
              <a:t>próximas</a:t>
            </a:r>
            <a:r>
              <a:rPr lang="pt-BR" dirty="0"/>
              <a:t>, mas </a:t>
            </a:r>
            <a:r>
              <a:rPr lang="pt-BR" b="1" dirty="0"/>
              <a:t>raras vezes constroem o diálogo entre si.</a:t>
            </a:r>
          </a:p>
          <a:p>
            <a:r>
              <a:rPr lang="pt-BR" dirty="0" err="1"/>
              <a:t>M</a:t>
            </a:r>
            <a:r>
              <a:rPr lang="pt-BR" sz="2800" dirty="0" err="1"/>
              <a:t>ulticomu­nitarismo</a:t>
            </a:r>
            <a:r>
              <a:rPr lang="pt-BR" sz="2800" dirty="0"/>
              <a:t> = </a:t>
            </a:r>
            <a:r>
              <a:rPr lang="pt-BR" sz="2800" b="1" dirty="0"/>
              <a:t>intercâmbio mútuo </a:t>
            </a:r>
            <a:r>
              <a:rPr lang="pt-BR" sz="2800" dirty="0"/>
              <a:t>entre as diferentes culturas para alcançar uma “humanidade comum”.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6448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tnocentrismo - Toda Matéria">
            <a:extLst>
              <a:ext uri="{FF2B5EF4-FFF2-40B4-BE49-F238E27FC236}">
                <a16:creationId xmlns:a16="http://schemas.microsoft.com/office/drawing/2014/main" id="{4655B0F5-F777-4B36-88D3-26F1C9D4B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2675964"/>
            <a:ext cx="6000750" cy="381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tnocentrismo: o que é, formas, exemplos - Brasil Escola">
            <a:extLst>
              <a:ext uri="{FF2B5EF4-FFF2-40B4-BE49-F238E27FC236}">
                <a16:creationId xmlns:a16="http://schemas.microsoft.com/office/drawing/2014/main" id="{4A3FBD73-1CCB-4C4A-BCAD-23044A773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3087" y="362511"/>
            <a:ext cx="5487240" cy="3658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Espaço Reservado para Conteúdo 4">
            <a:extLst>
              <a:ext uri="{FF2B5EF4-FFF2-40B4-BE49-F238E27FC236}">
                <a16:creationId xmlns:a16="http://schemas.microsoft.com/office/drawing/2014/main" id="{67963C9C-A395-4EA6-A627-AFBCD6FE5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7318" y="4016588"/>
            <a:ext cx="5003009" cy="263356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C0FFE84-A11C-4129-A0DA-140129999BE9}"/>
              </a:ext>
            </a:extLst>
          </p:cNvPr>
          <p:cNvSpPr txBox="1"/>
          <p:nvPr/>
        </p:nvSpPr>
        <p:spPr>
          <a:xfrm>
            <a:off x="693436" y="1175928"/>
            <a:ext cx="54872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Etnocentrismo</a:t>
            </a:r>
          </a:p>
        </p:txBody>
      </p:sp>
    </p:spTree>
    <p:extLst>
      <p:ext uri="{BB962C8B-B14F-4D97-AF65-F5344CB8AC3E}">
        <p14:creationId xmlns:p14="http://schemas.microsoft.com/office/powerpoint/2010/main" val="25312898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6695AB-4C5A-40A4-8F38-A9F5E1E76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Etnocentrismo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0A6C25-1F33-4F43-83D2-74E783562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</a:t>
            </a:r>
            <a:r>
              <a:rPr lang="pt-BR" dirty="0">
                <a:solidFill>
                  <a:schemeClr val="tx1"/>
                </a:solidFill>
              </a:rPr>
              <a:t> um modo de pensar, ser e agir no mundo que </a:t>
            </a:r>
            <a:r>
              <a:rPr lang="pt-BR" b="1" dirty="0">
                <a:solidFill>
                  <a:schemeClr val="tx1"/>
                </a:solidFill>
              </a:rPr>
              <a:t>repudia</a:t>
            </a:r>
            <a:r>
              <a:rPr lang="pt-BR" dirty="0">
                <a:solidFill>
                  <a:schemeClr val="tx1"/>
                </a:solidFill>
              </a:rPr>
              <a:t> qualquer forma de cultura ou etnia que seja </a:t>
            </a:r>
            <a:r>
              <a:rPr lang="pt-BR" b="1" dirty="0">
                <a:solidFill>
                  <a:schemeClr val="tx1"/>
                </a:solidFill>
              </a:rPr>
              <a:t>diferente de si </a:t>
            </a:r>
            <a:r>
              <a:rPr lang="pt-BR" dirty="0">
                <a:solidFill>
                  <a:schemeClr val="tx1"/>
                </a:solidFill>
              </a:rPr>
              <a:t>próprio.</a:t>
            </a:r>
          </a:p>
          <a:p>
            <a:r>
              <a:rPr lang="pt-BR" b="1" dirty="0"/>
              <a:t>H</a:t>
            </a:r>
            <a:r>
              <a:rPr lang="pt-BR" b="1" dirty="0">
                <a:solidFill>
                  <a:schemeClr val="tx1"/>
                </a:solidFill>
              </a:rPr>
              <a:t>omogeneização</a:t>
            </a:r>
            <a:r>
              <a:rPr lang="pt-BR" dirty="0">
                <a:solidFill>
                  <a:schemeClr val="tx1"/>
                </a:solidFill>
              </a:rPr>
              <a:t> e </a:t>
            </a:r>
            <a:r>
              <a:rPr lang="pt-BR" b="1" dirty="0">
                <a:solidFill>
                  <a:schemeClr val="tx1"/>
                </a:solidFill>
              </a:rPr>
              <a:t>supervalorização</a:t>
            </a:r>
            <a:r>
              <a:rPr lang="pt-BR" dirty="0">
                <a:solidFill>
                  <a:schemeClr val="tx1"/>
                </a:solidFill>
              </a:rPr>
              <a:t> de sua própria cultura.</a:t>
            </a:r>
          </a:p>
          <a:p>
            <a:r>
              <a:rPr lang="pt-BR" dirty="0">
                <a:solidFill>
                  <a:schemeClr val="tx1"/>
                </a:solidFill>
              </a:rPr>
              <a:t>São exemplos de etnocentrismo: nazismo, </a:t>
            </a:r>
            <a:r>
              <a:rPr lang="pt-BR" dirty="0"/>
              <a:t>xenofobia, fascismo, bairrismo, núcleos familiares, </a:t>
            </a:r>
            <a:r>
              <a:rPr lang="pt-BR" dirty="0">
                <a:solidFill>
                  <a:schemeClr val="tx1"/>
                </a:solidFill>
              </a:rPr>
              <a:t>etc.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35057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8CB6DB-1F7E-4533-A90A-A70D64D6A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Etnocentrismo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08A47E-EE78-4BE6-B3C2-F7CB0D8F454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pt-BR" dirty="0">
                <a:solidFill>
                  <a:srgbClr val="000000"/>
                </a:solidFill>
              </a:rPr>
              <a:t>Tendência de valorizar de forma </a:t>
            </a:r>
            <a:r>
              <a:rPr lang="pt-BR" b="1" dirty="0">
                <a:solidFill>
                  <a:srgbClr val="000000"/>
                </a:solidFill>
              </a:rPr>
              <a:t>excessiva</a:t>
            </a:r>
            <a:r>
              <a:rPr lang="pt-BR" dirty="0">
                <a:solidFill>
                  <a:srgbClr val="000000"/>
                </a:solidFill>
              </a:rPr>
              <a:t> os valores e referências morais do próprio grupo. </a:t>
            </a:r>
          </a:p>
          <a:p>
            <a:r>
              <a:rPr lang="pt-BR" dirty="0"/>
              <a:t>V</a:t>
            </a:r>
            <a:r>
              <a:rPr lang="pt-BR" dirty="0">
                <a:solidFill>
                  <a:schemeClr val="tx1"/>
                </a:solidFill>
              </a:rPr>
              <a:t>isão do mundo onde nosso próprio grupo é tomado como </a:t>
            </a:r>
            <a:r>
              <a:rPr lang="pt-BR" b="1" dirty="0">
                <a:solidFill>
                  <a:schemeClr val="tx1"/>
                </a:solidFill>
              </a:rPr>
              <a:t>centro de tudo</a:t>
            </a:r>
            <a:r>
              <a:rPr lang="pt-BR" dirty="0">
                <a:solidFill>
                  <a:schemeClr val="tx1"/>
                </a:solidFill>
              </a:rPr>
              <a:t> e todos os outros são pensados e sentidos através dos </a:t>
            </a:r>
            <a:r>
              <a:rPr lang="pt-BR" b="1" dirty="0">
                <a:solidFill>
                  <a:schemeClr val="tx1"/>
                </a:solidFill>
              </a:rPr>
              <a:t>nossos valores</a:t>
            </a:r>
            <a:r>
              <a:rPr lang="pt-BR" dirty="0">
                <a:solidFill>
                  <a:schemeClr val="tx1"/>
                </a:solidFill>
              </a:rPr>
              <a:t>, nossos modelos e nossas definições do que é a </a:t>
            </a:r>
            <a:r>
              <a:rPr lang="pt-BR" dirty="0"/>
              <a:t>existência.</a:t>
            </a:r>
          </a:p>
          <a:p>
            <a:r>
              <a:rPr lang="pt-BR" dirty="0"/>
              <a:t>O etnocêntrico não reconhece a </a:t>
            </a:r>
            <a:r>
              <a:rPr lang="pt-BR" b="1" dirty="0"/>
              <a:t>diferença</a:t>
            </a:r>
            <a:r>
              <a:rPr lang="pt-BR" dirty="0"/>
              <a:t>, pois está preso dentro de si mesmo – do </a:t>
            </a:r>
            <a:r>
              <a:rPr lang="pt-BR" b="1" dirty="0"/>
              <a:t>idêntico.</a:t>
            </a:r>
          </a:p>
          <a:p>
            <a:endParaRPr lang="pt-BR" dirty="0">
              <a:solidFill>
                <a:schemeClr val="tx1"/>
              </a:solidFill>
            </a:endParaRPr>
          </a:p>
          <a:p>
            <a:endParaRPr lang="pt-BR" dirty="0">
              <a:solidFill>
                <a:schemeClr val="tx1"/>
              </a:solidFill>
            </a:endParaRPr>
          </a:p>
          <a:p>
            <a:endParaRPr lang="pt-B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52981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59E55E-D8BF-40EF-99C9-29727148B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Etnocentrismo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08324C-01C2-4CA9-8718-1F9C41911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</a:rPr>
              <a:t>O “eu” = </a:t>
            </a:r>
            <a:r>
              <a:rPr lang="pt-BR" b="1" dirty="0">
                <a:solidFill>
                  <a:schemeClr val="tx1"/>
                </a:solidFill>
              </a:rPr>
              <a:t>Único </a:t>
            </a:r>
            <a:r>
              <a:rPr lang="pt-BR" dirty="0">
                <a:solidFill>
                  <a:schemeClr val="tx1"/>
                </a:solidFill>
              </a:rPr>
              <a:t>possível, o melhor, o natural, o mais perfeita.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O </a:t>
            </a:r>
            <a:r>
              <a:rPr lang="pt-BR" dirty="0">
                <a:solidFill>
                  <a:schemeClr val="tx1"/>
                </a:solidFill>
              </a:rPr>
              <a:t>Outro = absurdo, </a:t>
            </a:r>
            <a:r>
              <a:rPr lang="pt-BR" b="1" dirty="0">
                <a:solidFill>
                  <a:schemeClr val="tx1"/>
                </a:solidFill>
              </a:rPr>
              <a:t>anormal</a:t>
            </a:r>
            <a:r>
              <a:rPr lang="pt-BR" dirty="0">
                <a:solidFill>
                  <a:schemeClr val="tx1"/>
                </a:solidFill>
              </a:rPr>
              <a:t>, ininteligível.</a:t>
            </a:r>
          </a:p>
          <a:p>
            <a:r>
              <a:rPr lang="pt-BR" dirty="0">
                <a:solidFill>
                  <a:schemeClr val="tx1"/>
                </a:solidFill>
              </a:rPr>
              <a:t>A diferença é </a:t>
            </a:r>
            <a:r>
              <a:rPr lang="pt-BR" b="1" dirty="0">
                <a:solidFill>
                  <a:schemeClr val="tx1"/>
                </a:solidFill>
              </a:rPr>
              <a:t>ameaçadora</a:t>
            </a:r>
            <a:r>
              <a:rPr lang="pt-BR" dirty="0">
                <a:solidFill>
                  <a:schemeClr val="tx1"/>
                </a:solidFill>
              </a:rPr>
              <a:t> por que fere a própria identidade cultural.</a:t>
            </a:r>
          </a:p>
          <a:p>
            <a:r>
              <a:rPr lang="pt-BR" dirty="0"/>
              <a:t>Medo frente ao desconhecido – o outro é aquele que não sou eu – o diferente.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462439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E14B116-E8BE-4EC5-A463-8296C7875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Etnocentrismo – Reducionismo Cultural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35C98C77-90BE-4BBC-8DAD-1D2295CC974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>
                <a:solidFill>
                  <a:srgbClr val="000000"/>
                </a:solidFill>
              </a:rPr>
              <a:t>M</a:t>
            </a:r>
            <a:r>
              <a:rPr lang="pt-BR" sz="2800" b="0" i="0" u="none" strike="noStrike" baseline="0" dirty="0">
                <a:solidFill>
                  <a:srgbClr val="000000"/>
                </a:solidFill>
              </a:rPr>
              <a:t>odelos deterministas e redutores, em que as pessoas e os grupos ajuízam os outros a partir de suas representações, geralmente estreitas, não dão conta das </a:t>
            </a:r>
            <a:r>
              <a:rPr lang="pt-BR" sz="2800" b="1" i="0" u="none" strike="noStrike" baseline="0" dirty="0">
                <a:solidFill>
                  <a:srgbClr val="000000"/>
                </a:solidFill>
              </a:rPr>
              <a:t>possibilidades e da complexidade da vida</a:t>
            </a:r>
            <a:r>
              <a:rPr lang="pt-BR" sz="2800" b="0" i="0" u="none" strike="noStrike" baseline="0" dirty="0">
                <a:solidFill>
                  <a:srgbClr val="000000"/>
                </a:solidFill>
              </a:rPr>
              <a:t>.</a:t>
            </a:r>
          </a:p>
          <a:p>
            <a:r>
              <a:rPr lang="pt-BR" sz="2800" b="0" i="0" u="none" strike="noStrike" baseline="0" dirty="0">
                <a:solidFill>
                  <a:srgbClr val="000000"/>
                </a:solidFill>
              </a:rPr>
              <a:t> A vida </a:t>
            </a:r>
            <a:r>
              <a:rPr lang="pt-BR" sz="2800" b="1" i="0" u="none" strike="noStrike" baseline="0" dirty="0">
                <a:solidFill>
                  <a:srgbClr val="000000"/>
                </a:solidFill>
              </a:rPr>
              <a:t>aprisionada</a:t>
            </a:r>
            <a:r>
              <a:rPr lang="pt-BR" sz="2800" b="0" i="0" u="none" strike="noStrike" baseline="0" dirty="0">
                <a:solidFill>
                  <a:srgbClr val="000000"/>
                </a:solidFill>
              </a:rPr>
              <a:t> em alguns modelos culturais é </a:t>
            </a:r>
            <a:r>
              <a:rPr lang="pt-BR" sz="2800" b="1" i="0" u="none" strike="noStrike" baseline="0" dirty="0">
                <a:solidFill>
                  <a:srgbClr val="000000"/>
                </a:solidFill>
              </a:rPr>
              <a:t>empobrecida</a:t>
            </a:r>
            <a:r>
              <a:rPr lang="pt-BR" sz="2800" b="0" i="0" u="none" strike="noStrike" baseline="0" dirty="0">
                <a:solidFill>
                  <a:srgbClr val="000000"/>
                </a:solidFill>
              </a:rPr>
              <a:t>. A cultura, enquanto desafio ao alargamento de nossa existência, pode se tornar assim num miserável registro formal de existência, numa classificação de registros morais superficiais. </a:t>
            </a:r>
          </a:p>
          <a:p>
            <a:r>
              <a:rPr lang="pt-BR" b="1" dirty="0">
                <a:solidFill>
                  <a:schemeClr val="tx1"/>
                </a:solidFill>
              </a:rPr>
              <a:t>Este problema não é exclusivo de uma determinada época histórica nem de uma única sociedade.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076194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49DA24-0418-4008-A2B6-2D73920520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874059"/>
            <a:ext cx="7028329" cy="5216161"/>
          </a:xfrm>
        </p:spPr>
        <p:txBody>
          <a:bodyPr>
            <a:normAutofit lnSpcReduction="10000"/>
          </a:bodyPr>
          <a:lstStyle/>
          <a:p>
            <a:r>
              <a:rPr lang="pt-BR" sz="3200" dirty="0">
                <a:solidFill>
                  <a:srgbClr val="000000"/>
                </a:solidFill>
              </a:rPr>
              <a:t>O Etnocentrismo é a </a:t>
            </a:r>
            <a:r>
              <a:rPr lang="pt-BR" sz="3200" b="1" dirty="0">
                <a:solidFill>
                  <a:srgbClr val="000000"/>
                </a:solidFill>
              </a:rPr>
              <a:t>anulação</a:t>
            </a:r>
            <a:r>
              <a:rPr lang="pt-BR" sz="3200" dirty="0">
                <a:solidFill>
                  <a:srgbClr val="000000"/>
                </a:solidFill>
              </a:rPr>
              <a:t> do Outro. A </a:t>
            </a:r>
            <a:r>
              <a:rPr lang="pt-BR" sz="3200" b="1" dirty="0">
                <a:solidFill>
                  <a:srgbClr val="000000"/>
                </a:solidFill>
              </a:rPr>
              <a:t>negação</a:t>
            </a:r>
            <a:r>
              <a:rPr lang="pt-BR" sz="3200" dirty="0">
                <a:solidFill>
                  <a:srgbClr val="000000"/>
                </a:solidFill>
              </a:rPr>
              <a:t> de sua existência, a </a:t>
            </a:r>
            <a:r>
              <a:rPr lang="pt-BR" sz="3200" b="1" dirty="0">
                <a:solidFill>
                  <a:srgbClr val="000000"/>
                </a:solidFill>
              </a:rPr>
              <a:t>invalidação</a:t>
            </a:r>
            <a:r>
              <a:rPr lang="pt-BR" sz="3200" dirty="0">
                <a:solidFill>
                  <a:srgbClr val="000000"/>
                </a:solidFill>
              </a:rPr>
              <a:t> de seu modo de ser. O etnocêntrico enxerga o Outro como alguém </a:t>
            </a:r>
            <a:r>
              <a:rPr lang="pt-BR" sz="3200" b="1" dirty="0">
                <a:solidFill>
                  <a:srgbClr val="000000"/>
                </a:solidFill>
              </a:rPr>
              <a:t>inferior</a:t>
            </a:r>
            <a:r>
              <a:rPr lang="pt-BR" sz="3200" dirty="0">
                <a:solidFill>
                  <a:srgbClr val="000000"/>
                </a:solidFill>
              </a:rPr>
              <a:t>, passível de ser </a:t>
            </a:r>
            <a:r>
              <a:rPr lang="pt-BR" sz="3200" b="1" dirty="0">
                <a:solidFill>
                  <a:srgbClr val="000000"/>
                </a:solidFill>
              </a:rPr>
              <a:t>eliminado</a:t>
            </a:r>
            <a:r>
              <a:rPr lang="pt-BR" sz="3200" dirty="0">
                <a:solidFill>
                  <a:srgbClr val="000000"/>
                </a:solidFill>
              </a:rPr>
              <a:t> ou tratado como um não-humano. O etnocêntrico concebe o outro como um </a:t>
            </a:r>
            <a:r>
              <a:rPr lang="pt-BR" sz="3200" b="1" dirty="0">
                <a:solidFill>
                  <a:srgbClr val="000000"/>
                </a:solidFill>
              </a:rPr>
              <a:t>objeto descartável </a:t>
            </a:r>
            <a:r>
              <a:rPr lang="pt-BR" sz="3200" dirty="0">
                <a:solidFill>
                  <a:srgbClr val="000000"/>
                </a:solidFill>
              </a:rPr>
              <a:t>ou um </a:t>
            </a:r>
            <a:r>
              <a:rPr lang="pt-BR" sz="3200" b="1" dirty="0">
                <a:solidFill>
                  <a:srgbClr val="000000"/>
                </a:solidFill>
              </a:rPr>
              <a:t>galho torto</a:t>
            </a:r>
            <a:r>
              <a:rPr lang="pt-BR" sz="3200" dirty="0">
                <a:solidFill>
                  <a:srgbClr val="000000"/>
                </a:solidFill>
              </a:rPr>
              <a:t> que se desviou do caminho certo e correto. O outro, portanto, para o etnocêntrico deve ser curvar diante dele.</a:t>
            </a:r>
          </a:p>
        </p:txBody>
      </p:sp>
      <p:pic>
        <p:nvPicPr>
          <p:cNvPr id="2050" name="Picture 2" descr="Com Ciência - SBPC/Labjor">
            <a:extLst>
              <a:ext uri="{FF2B5EF4-FFF2-40B4-BE49-F238E27FC236}">
                <a16:creationId xmlns:a16="http://schemas.microsoft.com/office/drawing/2014/main" id="{9F31A9C0-5B02-4C96-AD02-CEE11651D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6529" y="564601"/>
            <a:ext cx="3174349" cy="552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77961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6E84FC-F084-431E-B05A-14A9A89A0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Tradição Filosófica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18EF-CD1F-45AF-907D-A73C3231E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P</a:t>
            </a:r>
            <a:r>
              <a:rPr lang="pt-BR" b="1" dirty="0">
                <a:solidFill>
                  <a:schemeClr val="tx1"/>
                </a:solidFill>
              </a:rPr>
              <a:t>rivilégio</a:t>
            </a:r>
            <a:r>
              <a:rPr lang="pt-BR" dirty="0">
                <a:solidFill>
                  <a:schemeClr val="tx1"/>
                </a:solidFill>
              </a:rPr>
              <a:t> do ‘Eu’ (Identidade) sobre o ‘Outro” (Diferença) – Aristóteles (Bárbaro), Montaigne (Exótico), Voltaire (Civilizado), Sartre (Inferno).</a:t>
            </a:r>
          </a:p>
          <a:p>
            <a:r>
              <a:rPr lang="pt-BR" dirty="0"/>
              <a:t>Gilles Deleuze (1925 – 1995):</a:t>
            </a:r>
          </a:p>
          <a:p>
            <a:pPr marL="0" indent="0">
              <a:buNone/>
            </a:pPr>
            <a:r>
              <a:rPr lang="pt-BR" dirty="0"/>
              <a:t>Filosofia da Diferença</a:t>
            </a:r>
            <a:endParaRPr lang="pt-BR" dirty="0">
              <a:solidFill>
                <a:schemeClr val="tx1"/>
              </a:solidFill>
            </a:endParaRPr>
          </a:p>
          <a:p>
            <a:endParaRPr lang="pt-BR" dirty="0">
              <a:solidFill>
                <a:schemeClr val="tx1"/>
              </a:solidFill>
            </a:endParaRPr>
          </a:p>
          <a:p>
            <a:endParaRPr lang="pt-BR" dirty="0"/>
          </a:p>
        </p:txBody>
      </p:sp>
      <p:pic>
        <p:nvPicPr>
          <p:cNvPr id="3074" name="Picture 2" descr="Deleuze e Guattari - Vida e Obra • Razão Inadequada">
            <a:extLst>
              <a:ext uri="{FF2B5EF4-FFF2-40B4-BE49-F238E27FC236}">
                <a16:creationId xmlns:a16="http://schemas.microsoft.com/office/drawing/2014/main" id="{DF8C1841-E702-466B-ADFC-F5E2D30CE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9163" y="3199885"/>
            <a:ext cx="2644412" cy="3311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59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75D279-0C5E-4EF3-829B-815745FF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Outro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3A8DDC-0F20-4C6C-8F3F-51A68DE8327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tx1"/>
                </a:solidFill>
              </a:rPr>
              <a:t>O outro é o </a:t>
            </a:r>
            <a:r>
              <a:rPr lang="pt-BR" sz="2800" b="1" dirty="0">
                <a:solidFill>
                  <a:schemeClr val="tx1"/>
                </a:solidFill>
              </a:rPr>
              <a:t>desconhecido</a:t>
            </a:r>
            <a:r>
              <a:rPr lang="pt-BR" sz="2800" dirty="0">
                <a:solidFill>
                  <a:schemeClr val="tx1"/>
                </a:solidFill>
              </a:rPr>
              <a:t> que não sou ‘eu’ – o ‘eu’ me é familiar e reconfortante, o outro é desconhecido e imprevisível.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b="0" i="0" dirty="0">
                <a:solidFill>
                  <a:schemeClr val="tx1"/>
                </a:solidFill>
                <a:effectLst/>
              </a:rPr>
              <a:t>Percebe-se, portanto, que este outro pode ser tanto uma outra pessoa, uma outra cultura, como o ‘eu’ mesmo.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tx1"/>
                </a:solidFill>
              </a:rPr>
              <a:t>No encontro com o outro, o ‘eu’ também pode se alterar. Assim, descobrimos que a </a:t>
            </a:r>
            <a:r>
              <a:rPr lang="pt-BR" sz="2800" b="1" dirty="0">
                <a:solidFill>
                  <a:schemeClr val="tx1"/>
                </a:solidFill>
              </a:rPr>
              <a:t>identidade</a:t>
            </a:r>
            <a:r>
              <a:rPr lang="pt-BR" sz="2800" dirty="0">
                <a:solidFill>
                  <a:schemeClr val="tx1"/>
                </a:solidFill>
              </a:rPr>
              <a:t> é uma ilusão que o si mesmo cria para poder se sentir seguro. Pois, se nós mudamos pelo atravessamento (pelo encontro) do outro, nós nunca permanecemos o mesmo e, assim, falar em identidade é uma </a:t>
            </a:r>
            <a:r>
              <a:rPr lang="pt-BR" sz="2800" b="1" dirty="0">
                <a:solidFill>
                  <a:schemeClr val="tx1"/>
                </a:solidFill>
              </a:rPr>
              <a:t>ilusão</a:t>
            </a:r>
            <a:r>
              <a:rPr lang="pt-BR" sz="2800" dirty="0">
                <a:solidFill>
                  <a:schemeClr val="tx1"/>
                </a:solidFill>
              </a:rPr>
              <a:t> que busca por estabilidade em meio ao caos e a incerteza.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tx1"/>
                </a:solidFill>
              </a:rPr>
              <a:t>O </a:t>
            </a:r>
            <a:r>
              <a:rPr lang="pt-BR" sz="2800" b="1" dirty="0">
                <a:solidFill>
                  <a:schemeClr val="tx1"/>
                </a:solidFill>
              </a:rPr>
              <a:t>outro marca a diferença </a:t>
            </a:r>
            <a:r>
              <a:rPr lang="pt-BR" sz="2800" dirty="0">
                <a:solidFill>
                  <a:schemeClr val="tx1"/>
                </a:solidFill>
              </a:rPr>
              <a:t>e a diversidade que existe.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715030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F8E840-B6AF-45B7-A991-B1643EC0E9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982640"/>
            <a:ext cx="10515600" cy="4708476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</a:rPr>
              <a:t>É quando o Outro nos mostra </a:t>
            </a:r>
            <a:r>
              <a:rPr lang="pt-BR" b="1" dirty="0">
                <a:solidFill>
                  <a:schemeClr val="tx1"/>
                </a:solidFill>
              </a:rPr>
              <a:t>novas possibilidades (de ser) </a:t>
            </a:r>
            <a:r>
              <a:rPr lang="pt-BR" dirty="0">
                <a:solidFill>
                  <a:schemeClr val="tx1"/>
                </a:solidFill>
              </a:rPr>
              <a:t>que percebemos que nosso mundo não passa de mais uma possibilidade.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</a:rPr>
              <a:t>O outro é a manifestação de outras virtualidades, de outro mundo possível</a:t>
            </a:r>
            <a:r>
              <a:rPr lang="pt-BR" dirty="0"/>
              <a:t>. Logo, </a:t>
            </a:r>
            <a:r>
              <a:rPr lang="pt-BR" b="1" dirty="0">
                <a:solidFill>
                  <a:schemeClr val="tx1"/>
                </a:solidFill>
              </a:rPr>
              <a:t>é o outro que torna possível que haja qualquer mundo</a:t>
            </a:r>
            <a:r>
              <a:rPr lang="pt-BR" b="1" dirty="0"/>
              <a:t>.</a:t>
            </a:r>
            <a:endParaRPr lang="pt-BR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tx1"/>
                </a:solidFill>
              </a:rPr>
              <a:t>Outro como condição de possibilidade</a:t>
            </a:r>
            <a:r>
              <a:rPr lang="pt-BR" dirty="0">
                <a:solidFill>
                  <a:schemeClr val="tx1"/>
                </a:solidFill>
              </a:rPr>
              <a:t>: a condição de que meu mundo seja possível, na mesma medida em que o dele também o é.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tx1"/>
                </a:solidFill>
              </a:rPr>
              <a:t>O que é o outro e o que é o eu?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</a:rPr>
              <a:t>Depende do ponto de vista de quem pergunta, depende do momento em que é feita a pergunta.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199180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CA970C-84D0-4869-AA63-D3226EB8B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Refletindo sobre o Etnocentrismo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E609DF-E2BD-4E15-8E86-03BE52EE87B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</a:rPr>
              <a:t>A diferença não é uma hostilidade do Outro, mas uma possibilidade de </a:t>
            </a:r>
            <a:r>
              <a:rPr lang="pt-BR" b="1" dirty="0">
                <a:solidFill>
                  <a:schemeClr val="tx1"/>
                </a:solidFill>
              </a:rPr>
              <a:t>abertura</a:t>
            </a:r>
            <a:r>
              <a:rPr lang="pt-BR" dirty="0">
                <a:solidFill>
                  <a:schemeClr val="tx1"/>
                </a:solidFill>
              </a:rPr>
              <a:t> do Outro para o “eu”.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tx1"/>
                </a:solidFill>
              </a:rPr>
              <a:t>Pluralidade cultural </a:t>
            </a:r>
            <a:r>
              <a:rPr lang="pt-BR" dirty="0">
                <a:solidFill>
                  <a:schemeClr val="tx1"/>
                </a:solidFill>
              </a:rPr>
              <a:t>= concepção que reconhece a existência de múltiplas culturas.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</a:rPr>
              <a:t>É necessário superar toda forma de repúdio a uma cultura que não seja a sua própria – ou seja, faz-se necessário reconhecer a diversidade cultural, reconhecer a cultura afro, ameríndia, LGBTQI+, árabe, etc.</a:t>
            </a:r>
          </a:p>
        </p:txBody>
      </p:sp>
    </p:spTree>
    <p:extLst>
      <p:ext uri="{BB962C8B-B14F-4D97-AF65-F5344CB8AC3E}">
        <p14:creationId xmlns:p14="http://schemas.microsoft.com/office/powerpoint/2010/main" val="9805794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8AC225-DE0D-4349-96CA-C6D56DC2D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Cultura – Abertura para o Outro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8325FB-CB51-4119-AA9E-B85DD4BFB8F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300" dirty="0"/>
              <a:t>Habilidade do diálogo com a diversidade.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300" dirty="0"/>
              <a:t>Cultura como o espaço simbólico no qual o ser humano dá sentido à vida em relação uns com os outros.</a:t>
            </a:r>
          </a:p>
          <a:p>
            <a:pPr marL="342900" indent="-342900"/>
            <a:r>
              <a:rPr lang="pt-BR" sz="3300" dirty="0"/>
              <a:t>Vitrô multicolorido: as cores se atravessam e se completam.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300" dirty="0"/>
              <a:t>Mestiçagem: encontro com a diversidade cultural no propósito de miscigenar-se, ou seja, promover o diálogo planetário entre as culturas.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300" dirty="0"/>
              <a:t>Miscigenação: reconhecimento do Outro – da diferença.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300" dirty="0"/>
              <a:t>Miscigenar a espécie humana, mantendo as singularidades de cada cultura e de cada pessoa.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58076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ídia Online 1" title="Provocações - Como é por Dentro Outra Pessoa (Fernando Pessoa) - Abujamra">
            <a:hlinkClick r:id="" action="ppaction://media"/>
            <a:extLst>
              <a:ext uri="{FF2B5EF4-FFF2-40B4-BE49-F238E27FC236}">
                <a16:creationId xmlns:a16="http://schemas.microsoft.com/office/drawing/2014/main" id="{025B7E03-6E16-4B46-A918-D8D371966D2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562364" y="778772"/>
            <a:ext cx="7067272" cy="530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422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Personalizada 2">
      <a:dk1>
        <a:sysClr val="windowText" lastClr="000000"/>
      </a:dk1>
      <a:lt1>
        <a:srgbClr val="F9F9F5"/>
      </a:lt1>
      <a:dk2>
        <a:srgbClr val="8363A7"/>
      </a:dk2>
      <a:lt2>
        <a:srgbClr val="E7E6E6"/>
      </a:lt2>
      <a:accent1>
        <a:srgbClr val="5889AB"/>
      </a:accent1>
      <a:accent2>
        <a:srgbClr val="2AB2AE"/>
      </a:accent2>
      <a:accent3>
        <a:srgbClr val="A5A5A5"/>
      </a:accent3>
      <a:accent4>
        <a:srgbClr val="ED7D31"/>
      </a:accent4>
      <a:accent5>
        <a:srgbClr val="36B088"/>
      </a:accent5>
      <a:accent6>
        <a:srgbClr val="42AF60"/>
      </a:accent6>
      <a:hlink>
        <a:srgbClr val="FFC000"/>
      </a:hlink>
      <a:folHlink>
        <a:srgbClr val="C490AA"/>
      </a:folHlink>
    </a:clrScheme>
    <a:fontScheme name="Graduacao">
      <a:majorFont>
        <a:latin typeface="Gill Sans MT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B360A73E357F2438BB83FE89C825B47" ma:contentTypeVersion="20" ma:contentTypeDescription="Crie um novo documento." ma:contentTypeScope="" ma:versionID="30ccdf8b79f9487c21c849f8cbec1bf4">
  <xsd:schema xmlns:xsd="http://www.w3.org/2001/XMLSchema" xmlns:xs="http://www.w3.org/2001/XMLSchema" xmlns:p="http://schemas.microsoft.com/office/2006/metadata/properties" xmlns:ns2="b3c82ae9-dfb5-4276-ba80-5d7c7465f520" xmlns:ns3="33f618e5-2d6d-4cbe-87e3-8cbcb41a16af" targetNamespace="http://schemas.microsoft.com/office/2006/metadata/properties" ma:root="true" ma:fieldsID="519e15a55727cdc293f57a605e75df58" ns2:_="" ns3:_="">
    <xsd:import namespace="b3c82ae9-dfb5-4276-ba80-5d7c7465f520"/>
    <xsd:import namespace="33f618e5-2d6d-4cbe-87e3-8cbcb41a16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Tamanho" minOccurs="0"/>
                <xsd:element ref="ns2:_Flow_SignoffStatu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c82ae9-dfb5-4276-ba80-5d7c7465f5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Tamanho" ma:index="19" nillable="true" ma:displayName="Tamanho" ma:format="Dropdown" ma:internalName="Tamanho" ma:percentage="FALSE">
      <xsd:simpleType>
        <xsd:restriction base="dms:Number"/>
      </xsd:simpleType>
    </xsd:element>
    <xsd:element name="_Flow_SignoffStatus" ma:index="20" nillable="true" ma:displayName="Status de liberação" ma:internalName="Status_x0020_de_x0020_libera_x00e7__x00e3_o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Marcações de imagem" ma:readOnly="false" ma:fieldId="{5cf76f15-5ced-4ddc-b409-7134ff3c332f}" ma:taxonomyMulti="true" ma:sspId="aac08c5c-6fe0-4712-b828-e958a9361e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f618e5-2d6d-4cbe-87e3-8cbcb41a16af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0473b68e-2571-491e-aa69-cde0e725b1df}" ma:internalName="TaxCatchAll" ma:showField="CatchAllData" ma:web="33f618e5-2d6d-4cbe-87e3-8cbcb41a16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manho xmlns="b3c82ae9-dfb5-4276-ba80-5d7c7465f520" xsi:nil="true"/>
    <_Flow_SignoffStatus xmlns="b3c82ae9-dfb5-4276-ba80-5d7c7465f520" xsi:nil="true"/>
    <lcf76f155ced4ddcb4097134ff3c332f xmlns="b3c82ae9-dfb5-4276-ba80-5d7c7465f520">
      <Terms xmlns="http://schemas.microsoft.com/office/infopath/2007/PartnerControls"/>
    </lcf76f155ced4ddcb4097134ff3c332f>
    <TaxCatchAll xmlns="33f618e5-2d6d-4cbe-87e3-8cbcb41a16af" xsi:nil="true"/>
  </documentManagement>
</p:properties>
</file>

<file path=customXml/itemProps1.xml><?xml version="1.0" encoding="utf-8"?>
<ds:datastoreItem xmlns:ds="http://schemas.openxmlformats.org/officeDocument/2006/customXml" ds:itemID="{D4BB1D50-17B0-4E4A-98C6-F1178DEEEEE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D896914-8177-4CDB-9F95-7E1639BAEB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c82ae9-dfb5-4276-ba80-5d7c7465f520"/>
    <ds:schemaRef ds:uri="33f618e5-2d6d-4cbe-87e3-8cbcb41a16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9052074-0390-4F2F-B6F8-E381E8F614C4}">
  <ds:schemaRefs>
    <ds:schemaRef ds:uri="http://schemas.microsoft.com/office/2006/metadata/properties"/>
    <ds:schemaRef ds:uri="http://schemas.microsoft.com/office/infopath/2007/PartnerControls"/>
    <ds:schemaRef ds:uri="b3c82ae9-dfb5-4276-ba80-5d7c7465f520"/>
    <ds:schemaRef ds:uri="33f618e5-2d6d-4cbe-87e3-8cbcb41a16a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1181</TotalTime>
  <Words>2370</Words>
  <Application>Microsoft Office PowerPoint</Application>
  <PresentationFormat>Widescreen</PresentationFormat>
  <Paragraphs>113</Paragraphs>
  <Slides>34</Slides>
  <Notes>0</Notes>
  <HiddenSlides>0</HiddenSlides>
  <MMClips>1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40" baseType="lpstr">
      <vt:lpstr>Arial</vt:lpstr>
      <vt:lpstr>Calibri</vt:lpstr>
      <vt:lpstr>Gill Sans MT</vt:lpstr>
      <vt:lpstr>Segoe UI</vt:lpstr>
      <vt:lpstr>Trebuchet MS</vt:lpstr>
      <vt:lpstr>Tema do Office</vt:lpstr>
      <vt:lpstr>Apresentação do PowerPoint</vt:lpstr>
      <vt:lpstr>Definição Antropológica</vt:lpstr>
      <vt:lpstr>Apresentação do PowerPoint</vt:lpstr>
      <vt:lpstr>Apresentação do PowerPoint</vt:lpstr>
      <vt:lpstr>O que é Cultura</vt:lpstr>
      <vt:lpstr>Ser humano X Natureza</vt:lpstr>
      <vt:lpstr>Cultura = história</vt:lpstr>
      <vt:lpstr>Iluminismo</vt:lpstr>
      <vt:lpstr>Apresentação do PowerPoint</vt:lpstr>
      <vt:lpstr>Cultura – Século XX</vt:lpstr>
      <vt:lpstr>Zygmunt Bauman (1925 – 2017)</vt:lpstr>
      <vt:lpstr>Apresentação do PowerPoint</vt:lpstr>
      <vt:lpstr>Definição</vt:lpstr>
      <vt:lpstr>Modernidade Líquida – Século XXI</vt:lpstr>
      <vt:lpstr>M. Sólida X M. Líquida</vt:lpstr>
      <vt:lpstr>Modernidade Sólida X Modernidade Líquida</vt:lpstr>
      <vt:lpstr>Características</vt:lpstr>
      <vt:lpstr>Modernidade Líquida</vt:lpstr>
      <vt:lpstr>Apresentação do PowerPoint</vt:lpstr>
      <vt:lpstr>Apresentação do PowerPoint</vt:lpstr>
      <vt:lpstr>Apresentação do PowerPoint</vt:lpstr>
      <vt:lpstr>Multiculturalismo</vt:lpstr>
      <vt:lpstr>Apresentação do PowerPoint</vt:lpstr>
      <vt:lpstr>O que é Etnocentrismo</vt:lpstr>
      <vt:lpstr>Etnocentrismo</vt:lpstr>
      <vt:lpstr>Etnocentrismo</vt:lpstr>
      <vt:lpstr>Etnocentrismo – Reducionismo Cultural</vt:lpstr>
      <vt:lpstr>Apresentação do PowerPoint</vt:lpstr>
      <vt:lpstr>Tradição Filosófica</vt:lpstr>
      <vt:lpstr>O Outro</vt:lpstr>
      <vt:lpstr>Apresentação do PowerPoint</vt:lpstr>
      <vt:lpstr>Refletindo sobre o Etnocentrismo</vt:lpstr>
      <vt:lpstr>Cultura – Abertura para o Outro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Raul Fontoura</dc:creator>
  <cp:lastModifiedBy>Adelaide Bersch Boff</cp:lastModifiedBy>
  <cp:revision>28</cp:revision>
  <dcterms:created xsi:type="dcterms:W3CDTF">2021-07-28T20:18:47Z</dcterms:created>
  <dcterms:modified xsi:type="dcterms:W3CDTF">2025-11-05T17:27:47Z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0x0101006B360A73E357F2438BB83FE89C825B47</vt:lpwstr>
  </property>
  <property fmtid="{D5CDD505-2E9C-101B-9397-08002B2CF9AE}" pid="3" name="MediaServiceImageTags">
    <vt:lpwstr/>
  </property>
</Properties>
</file>