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57" r:id="rId5"/>
    <p:sldId id="276" r:id="rId6"/>
    <p:sldId id="259" r:id="rId7"/>
    <p:sldId id="258" r:id="rId8"/>
    <p:sldId id="274" r:id="rId9"/>
    <p:sldId id="275" r:id="rId10"/>
    <p:sldId id="262" r:id="rId11"/>
    <p:sldId id="263" r:id="rId12"/>
    <p:sldId id="265" r:id="rId13"/>
    <p:sldId id="277" r:id="rId14"/>
    <p:sldId id="278" r:id="rId15"/>
    <p:sldId id="264" r:id="rId16"/>
    <p:sldId id="266" r:id="rId17"/>
    <p:sldId id="269" r:id="rId18"/>
    <p:sldId id="279" r:id="rId19"/>
    <p:sldId id="270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06" autoAdjust="0"/>
    <p:restoredTop sz="54492" autoAdjust="0"/>
  </p:normalViewPr>
  <p:slideViewPr>
    <p:cSldViewPr snapToGrid="0">
      <p:cViewPr varScale="1">
        <p:scale>
          <a:sx n="71" d="100"/>
          <a:sy n="71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88F408-5B01-4A36-8A56-A4B6AB98DA1E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E4ADB-4F6C-4A14-A232-7FEC66448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5986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Uma imagem contendo Texto&#10;&#10;Descrição gerada automaticamente">
            <a:extLst>
              <a:ext uri="{FF2B5EF4-FFF2-40B4-BE49-F238E27FC236}">
                <a16:creationId xmlns:a16="http://schemas.microsoft.com/office/drawing/2014/main" id="{A6899666-3415-4A1C-8C02-D785AD2F09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886" y="-1823339"/>
            <a:ext cx="7523828" cy="868133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EBCAA61-B0CA-451F-B78A-0669DB9EF7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041400"/>
            <a:ext cx="6645442" cy="2387600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5378E7-73A5-45D1-8BA4-2A1E0411C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21074"/>
            <a:ext cx="6645442" cy="2145799"/>
          </a:xfrm>
        </p:spPr>
        <p:txBody>
          <a:bodyPr>
            <a:normAutofit/>
          </a:bodyPr>
          <a:lstStyle>
            <a:lvl1pPr marL="0" indent="0" algn="l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04A13F-A601-4EB3-9212-9DDE59E3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5924640"/>
            <a:ext cx="1483895" cy="365125"/>
          </a:xfrm>
        </p:spPr>
        <p:txBody>
          <a:bodyPr/>
          <a:lstStyle/>
          <a:p>
            <a:fld id="{14D8BB3C-6B53-46BD-A4F0-0757B46599C3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BE6AE-1A6A-49CF-88A3-A5956709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0853" y="5924640"/>
            <a:ext cx="4872789" cy="365125"/>
          </a:xfrm>
        </p:spPr>
        <p:txBody>
          <a:bodyPr/>
          <a:lstStyle>
            <a:lvl1pPr algn="l">
              <a:defRPr/>
            </a:lvl1pPr>
          </a:lstStyle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C269AF2-D220-4898-8C9F-A6A31405E8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78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Texto&#10;&#10;Descrição gerada automaticamente">
            <a:extLst>
              <a:ext uri="{FF2B5EF4-FFF2-40B4-BE49-F238E27FC236}">
                <a16:creationId xmlns:a16="http://schemas.microsoft.com/office/drawing/2014/main" id="{42F49737-511D-46FF-A179-6D29E589B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123" y="-1823339"/>
            <a:ext cx="7523828" cy="868133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571" y="608746"/>
            <a:ext cx="7423074" cy="1122453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245" y="1934308"/>
            <a:ext cx="7423075" cy="3787222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3244" y="5924640"/>
            <a:ext cx="1195719" cy="365125"/>
          </a:xfrm>
        </p:spPr>
        <p:txBody>
          <a:bodyPr/>
          <a:lstStyle/>
          <a:p>
            <a:fld id="{14D8BB3C-6B53-46BD-A4F0-0757B46599C3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4290" y="5924639"/>
            <a:ext cx="4360984" cy="36512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5924640"/>
            <a:ext cx="1195720" cy="365125"/>
          </a:xfrm>
        </p:spPr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E42BBD6-580A-4671-ABD8-62907802A5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-12600044" y="-168812"/>
            <a:ext cx="14870813" cy="868134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4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Centr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2F49737-511D-46FF-A179-6D29E589B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27124" y="-1823339"/>
            <a:ext cx="7523826" cy="868133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571" y="608746"/>
            <a:ext cx="7423074" cy="1122453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245" y="1934308"/>
            <a:ext cx="7423075" cy="3787222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3244" y="5924640"/>
            <a:ext cx="1195719" cy="365125"/>
          </a:xfrm>
        </p:spPr>
        <p:txBody>
          <a:bodyPr/>
          <a:lstStyle/>
          <a:p>
            <a:fld id="{14D8BB3C-6B53-46BD-A4F0-0757B46599C3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4290" y="5924639"/>
            <a:ext cx="4360984" cy="36512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5924640"/>
            <a:ext cx="1195720" cy="365125"/>
          </a:xfrm>
        </p:spPr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E42BBD6-580A-4671-ABD8-62907802A5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57542" y="-1823339"/>
            <a:ext cx="7523827" cy="868134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47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Central (Escur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2F49737-511D-46FF-A179-6D29E589B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71684" y="-1316436"/>
            <a:ext cx="15135367" cy="88357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571" y="608746"/>
            <a:ext cx="7423074" cy="112245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245" y="1934308"/>
            <a:ext cx="7423075" cy="3787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3244" y="5924640"/>
            <a:ext cx="119571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D8BB3C-6B53-46BD-A4F0-0757B46599C3}" type="datetimeFigureOut">
              <a:rPr lang="pt-BR" smtClean="0"/>
              <a:pPr/>
              <a:t>04/03/2026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4290" y="5924639"/>
            <a:ext cx="43609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5924640"/>
            <a:ext cx="11957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6016F14-41C8-42A0-A751-72D01404B6D7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171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Esqu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2F49737-511D-46FF-A179-6D29E589B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27124" y="-1195540"/>
            <a:ext cx="7523826" cy="868133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248" y="608746"/>
            <a:ext cx="9080873" cy="1122453"/>
          </a:xfrm>
        </p:spPr>
        <p:txBody>
          <a:bodyPr/>
          <a:lstStyle>
            <a:lvl1pPr algn="l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923" y="1934308"/>
            <a:ext cx="9080874" cy="3787222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0922" y="5924640"/>
            <a:ext cx="1195719" cy="365125"/>
          </a:xfrm>
        </p:spPr>
        <p:txBody>
          <a:bodyPr/>
          <a:lstStyle/>
          <a:p>
            <a:fld id="{14D8BB3C-6B53-46BD-A4F0-0757B46599C3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1968" y="5924639"/>
            <a:ext cx="6007632" cy="36512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9655" y="5924640"/>
            <a:ext cx="1195720" cy="365125"/>
          </a:xfrm>
        </p:spPr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24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2768" y="608746"/>
            <a:ext cx="8999620" cy="1122453"/>
          </a:xfrm>
        </p:spPr>
        <p:txBody>
          <a:bodyPr/>
          <a:lstStyle>
            <a:lvl1pPr algn="l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4442" y="1934308"/>
            <a:ext cx="8999621" cy="3787222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55430" y="5924640"/>
            <a:ext cx="1195719" cy="365125"/>
          </a:xfrm>
        </p:spPr>
        <p:txBody>
          <a:bodyPr/>
          <a:lstStyle/>
          <a:p>
            <a:fld id="{14D8BB3C-6B53-46BD-A4F0-0757B46599C3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2453" y="5924639"/>
            <a:ext cx="5989279" cy="36512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060" y="5924640"/>
            <a:ext cx="829692" cy="365125"/>
          </a:xfrm>
        </p:spPr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E42BBD6-580A-4671-ABD8-62907802A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-12600044" y="-1829175"/>
            <a:ext cx="14870813" cy="868134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93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Esquerda (Escur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764281E-E4F0-4767-B322-1566CD1088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21364" y="-928047"/>
            <a:ext cx="19517566" cy="113940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248" y="608746"/>
            <a:ext cx="9080873" cy="112245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923" y="1934308"/>
            <a:ext cx="9080874" cy="3787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0922" y="5924640"/>
            <a:ext cx="119571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D8BB3C-6B53-46BD-A4F0-0757B46599C3}" type="datetimeFigureOut">
              <a:rPr lang="pt-BR" smtClean="0"/>
              <a:pPr/>
              <a:t>04/03/2026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1968" y="5924639"/>
            <a:ext cx="600763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9655" y="5924640"/>
            <a:ext cx="11957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6016F14-41C8-42A0-A751-72D01404B6D7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28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Direita (Escur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CD341943-BAF0-4955-9CB4-EC99A30320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791368" y="-3468383"/>
            <a:ext cx="19851186" cy="1158880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2768" y="608746"/>
            <a:ext cx="8999620" cy="112245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4442" y="1934308"/>
            <a:ext cx="8999621" cy="3787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55430" y="5924640"/>
            <a:ext cx="119571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D8BB3C-6B53-46BD-A4F0-0757B46599C3}" type="datetimeFigureOut">
              <a:rPr lang="pt-BR" smtClean="0"/>
              <a:pPr/>
              <a:t>04/03/2026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2453" y="5924639"/>
            <a:ext cx="598927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060" y="5924640"/>
            <a:ext cx="82969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6016F14-41C8-42A0-A751-72D01404B6D7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67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Mais Espaç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Tela de computador com texto preto sobre fundo escuro&#10;&#10;Descrição gerada automaticamente com confiança média">
            <a:extLst>
              <a:ext uri="{FF2B5EF4-FFF2-40B4-BE49-F238E27FC236}">
                <a16:creationId xmlns:a16="http://schemas.microsoft.com/office/drawing/2014/main" id="{D650A5DA-CBC5-4A17-BDD6-EBE1DDAAF7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0DBB1C4-3E84-4211-9AC5-82AD210D13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9E7852-A458-4FA9-84E7-B5740A11A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8BB3C-6B53-46BD-A4F0-0757B46599C3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3B1C282-3269-448A-8FE7-0E4AC610B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2E26CDE-E8A8-4B72-95B7-66623629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4A7DCA-D76F-447F-BC5C-37B38660BAB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6BD76F00-ACA6-404B-A55A-9A2EF5B7BC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94758"/>
            <a:ext cx="10515600" cy="37963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18025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Tela de computador com texto preto sobre fundo escuro&#10;&#10;Descrição gerada automaticamente com confiança média">
            <a:extLst>
              <a:ext uri="{FF2B5EF4-FFF2-40B4-BE49-F238E27FC236}">
                <a16:creationId xmlns:a16="http://schemas.microsoft.com/office/drawing/2014/main" id="{01D837B4-9215-43AA-A7DA-A27AC17E92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31110AF-7EA7-48B2-8AEF-6C48636DD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8BB3C-6B53-46BD-A4F0-0757B46599C3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1438FAC-4893-4625-9039-FE3A63683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69DAC9-0730-4CD0-A32B-23AEA78F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7963B50-A512-44A7-896A-F368BA4434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28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2235EBF-FFA7-423B-81C1-214740CFC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235"/>
            <a:ext cx="10515600" cy="11224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6D118E-2E06-4109-843A-6FCF4EC67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95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ACD35E-55A0-4327-B9C0-A80C08D03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5924640"/>
            <a:ext cx="22838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8BB3C-6B53-46BD-A4F0-0757B46599C3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563E96-409C-438A-AB85-4BC35FC12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33504" y="5924640"/>
            <a:ext cx="4669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B51195-407B-456F-8362-F3471BA84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5924640"/>
            <a:ext cx="22838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16F14-41C8-42A0-A751-72D01404B6D7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679DD90-3649-495B-825A-3D584B517F64}"/>
              </a:ext>
            </a:extLst>
          </p:cNvPr>
          <p:cNvSpPr/>
          <p:nvPr userDrawn="1"/>
        </p:nvSpPr>
        <p:spPr>
          <a:xfrm>
            <a:off x="426720" y="365125"/>
            <a:ext cx="11338560" cy="612775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68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  <p:sldLayoutId id="2147483663" r:id="rId4"/>
    <p:sldLayoutId id="2147483659" r:id="rId5"/>
    <p:sldLayoutId id="2147483660" r:id="rId6"/>
    <p:sldLayoutId id="2147483661" r:id="rId7"/>
    <p:sldLayoutId id="2147483662" r:id="rId8"/>
    <p:sldLayoutId id="2147483654" r:id="rId9"/>
    <p:sldLayoutId id="214748365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https://www.youtube.com/embed/XMK_t2pB8rU?feature=oembed" TargetMode="External"/><Relationship Id="rId1" Type="http://schemas.openxmlformats.org/officeDocument/2006/relationships/video" Target="https://www.youtube.com/embed/5yPWVKzAtDw?feature=oembed" TargetMode="Externa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vC0aA9hgHwI?si=LlRV5FMNJ1sLzEMH" TargetMode="External"/><Relationship Id="rId2" Type="http://schemas.openxmlformats.org/officeDocument/2006/relationships/hyperlink" Target="https://youtu.be/iqFOmq_9TR8?si=lMc6OlLc9eVFX1W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Lago com árvores em volta&#10;&#10;Descrição gerada automaticamente">
            <a:extLst>
              <a:ext uri="{FF2B5EF4-FFF2-40B4-BE49-F238E27FC236}">
                <a16:creationId xmlns:a16="http://schemas.microsoft.com/office/drawing/2014/main" id="{33D16E2F-B675-44D1-8849-BA6A014718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" name="Paralelogramo 2">
            <a:extLst>
              <a:ext uri="{FF2B5EF4-FFF2-40B4-BE49-F238E27FC236}">
                <a16:creationId xmlns:a16="http://schemas.microsoft.com/office/drawing/2014/main" id="{D9AC03D5-1066-4C83-A992-2D8E65F5A322}"/>
              </a:ext>
            </a:extLst>
          </p:cNvPr>
          <p:cNvSpPr/>
          <p:nvPr/>
        </p:nvSpPr>
        <p:spPr>
          <a:xfrm>
            <a:off x="1011497" y="4548970"/>
            <a:ext cx="5082989" cy="1781220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1AD12C9-D810-45F4-B484-988750A09A6B}"/>
              </a:ext>
            </a:extLst>
          </p:cNvPr>
          <p:cNvSpPr/>
          <p:nvPr/>
        </p:nvSpPr>
        <p:spPr>
          <a:xfrm>
            <a:off x="1344630" y="4548970"/>
            <a:ext cx="441672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Semana 2</a:t>
            </a:r>
          </a:p>
          <a:p>
            <a:pPr algn="ctr"/>
            <a:r>
              <a:rPr lang="pt-BR" sz="4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Visão Sistêmica</a:t>
            </a:r>
          </a:p>
        </p:txBody>
      </p:sp>
    </p:spTree>
    <p:extLst>
      <p:ext uri="{BB962C8B-B14F-4D97-AF65-F5344CB8AC3E}">
        <p14:creationId xmlns:p14="http://schemas.microsoft.com/office/powerpoint/2010/main" val="3747760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84130E-6B3B-47CA-801E-68D42D45C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980" y="964095"/>
            <a:ext cx="5502059" cy="3787222"/>
          </a:xfrm>
        </p:spPr>
        <p:txBody>
          <a:bodyPr/>
          <a:lstStyle/>
          <a:p>
            <a:r>
              <a:rPr lang="pt-BR" dirty="0" err="1"/>
              <a:t>Fritjof</a:t>
            </a:r>
            <a:r>
              <a:rPr lang="pt-BR" dirty="0"/>
              <a:t> Capra (1939), físico e pensador que nasceu em Viena, Áustria.</a:t>
            </a:r>
          </a:p>
          <a:p>
            <a:r>
              <a:rPr lang="pt-BR" dirty="0"/>
              <a:t>Principais obras:</a:t>
            </a:r>
          </a:p>
        </p:txBody>
      </p:sp>
      <p:pic>
        <p:nvPicPr>
          <p:cNvPr id="3076" name="Picture 4" descr="Fritjof Capra – Wikipédia, a enciclopédia livre">
            <a:extLst>
              <a:ext uri="{FF2B5EF4-FFF2-40B4-BE49-F238E27FC236}">
                <a16:creationId xmlns:a16="http://schemas.microsoft.com/office/drawing/2014/main" id="{ED55B8A6-3C60-46CD-ADF4-B8057522C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646" y="1480962"/>
            <a:ext cx="2509530" cy="323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O Tao da Física: uma Análise dos Paralelos Entre a Física Moderna e  Misticismo Oriental | Amazon.com.br">
            <a:extLst>
              <a:ext uri="{FF2B5EF4-FFF2-40B4-BE49-F238E27FC236}">
                <a16:creationId xmlns:a16="http://schemas.microsoft.com/office/drawing/2014/main" id="{78CD01F5-5532-4BED-B702-AA4299B8D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980" y="3674202"/>
            <a:ext cx="1914958" cy="275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Livro: A TEIA DA VIDA | Livraria Cultura - Livraria Cultura">
            <a:extLst>
              <a:ext uri="{FF2B5EF4-FFF2-40B4-BE49-F238E27FC236}">
                <a16:creationId xmlns:a16="http://schemas.microsoft.com/office/drawing/2014/main" id="{2A0CEA3F-66F5-4DF1-ACE0-6050B2A00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650" y="3674202"/>
            <a:ext cx="2751120" cy="275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O Ponto de Mutação - Fritjof Capra - Profº Ruberval Machado">
            <a:extLst>
              <a:ext uri="{FF2B5EF4-FFF2-40B4-BE49-F238E27FC236}">
                <a16:creationId xmlns:a16="http://schemas.microsoft.com/office/drawing/2014/main" id="{9DD1542E-5CA1-4A37-9542-F7538D3EE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482" y="3674202"/>
            <a:ext cx="1935268" cy="2716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59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E136C-AC99-4882-9738-8FEB4C00E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Retomando – Pensamento Complexo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8173A7-5336-49AC-AD91-EDC0132521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90688"/>
            <a:ext cx="10515600" cy="4414277"/>
          </a:xfrm>
        </p:spPr>
        <p:txBody>
          <a:bodyPr>
            <a:normAutofit fontScale="92500" lnSpcReduction="10000"/>
          </a:bodyPr>
          <a:lstStyle/>
          <a:p>
            <a:r>
              <a:rPr lang="pt-BR" sz="3400" dirty="0"/>
              <a:t>Crítica à racionalidade linear (cartesiana): </a:t>
            </a:r>
            <a:r>
              <a:rPr lang="pt-BR" sz="3400" b="1" dirty="0"/>
              <a:t>divisão</a:t>
            </a:r>
            <a:r>
              <a:rPr lang="pt-BR" sz="3400" dirty="0"/>
              <a:t> entre razão e emoção, corpo e mente, matéria e espírito.</a:t>
            </a:r>
          </a:p>
          <a:p>
            <a:r>
              <a:rPr lang="pt-BR" sz="3400" dirty="0"/>
              <a:t>Visão </a:t>
            </a:r>
            <a:r>
              <a:rPr lang="pt-BR" sz="3400" b="1" dirty="0"/>
              <a:t>mecanicista</a:t>
            </a:r>
            <a:r>
              <a:rPr lang="pt-BR" sz="3400" dirty="0"/>
              <a:t>: organismos vivos são como </a:t>
            </a:r>
            <a:r>
              <a:rPr lang="pt-BR" sz="3400" b="1" dirty="0"/>
              <a:t>máquinas</a:t>
            </a:r>
            <a:r>
              <a:rPr lang="pt-BR" sz="3400" dirty="0"/>
              <a:t> constituídas por peças separadas.</a:t>
            </a:r>
          </a:p>
          <a:p>
            <a:r>
              <a:rPr lang="pt-BR" sz="3400" dirty="0"/>
              <a:t>Descartes: “</a:t>
            </a:r>
            <a:r>
              <a:rPr lang="pt-BR" sz="3400" b="1" dirty="0"/>
              <a:t>Penso, logo existo</a:t>
            </a:r>
            <a:r>
              <a:rPr lang="pt-BR" sz="3400" dirty="0"/>
              <a:t>” – Identificação do sujeito com a </a:t>
            </a:r>
            <a:r>
              <a:rPr lang="pt-BR" sz="3400" b="1" dirty="0"/>
              <a:t>mente racional </a:t>
            </a:r>
            <a:r>
              <a:rPr lang="pt-BR" sz="3400" dirty="0"/>
              <a:t>apenas.</a:t>
            </a:r>
          </a:p>
          <a:p>
            <a:r>
              <a:rPr lang="pt-BR" sz="3400" dirty="0"/>
              <a:t>Critica ao </a:t>
            </a:r>
            <a:r>
              <a:rPr lang="pt-BR" sz="3400" b="1" dirty="0"/>
              <a:t>Iluminismo</a:t>
            </a:r>
            <a:r>
              <a:rPr lang="pt-BR" sz="3400" dirty="0"/>
              <a:t>: a via racional é o </a:t>
            </a:r>
            <a:r>
              <a:rPr lang="pt-BR" sz="3400" b="1" dirty="0"/>
              <a:t>único acesso </a:t>
            </a:r>
            <a:r>
              <a:rPr lang="pt-BR" sz="3400" dirty="0"/>
              <a:t>possível ao entendimento.</a:t>
            </a:r>
          </a:p>
          <a:p>
            <a:r>
              <a:rPr lang="pt-BR" sz="3400" dirty="0"/>
              <a:t> </a:t>
            </a:r>
            <a:r>
              <a:rPr lang="pt-BR" sz="3400" b="1" dirty="0"/>
              <a:t>Antropocentrismo</a:t>
            </a:r>
            <a:r>
              <a:rPr lang="pt-BR" sz="3400" dirty="0"/>
              <a:t>: o ser humano é o </a:t>
            </a:r>
            <a:r>
              <a:rPr lang="pt-BR" sz="3400" b="1" dirty="0"/>
              <a:t>centro</a:t>
            </a:r>
            <a:r>
              <a:rPr lang="pt-BR" sz="3400" dirty="0"/>
              <a:t> do Universo e é </a:t>
            </a:r>
            <a:r>
              <a:rPr lang="pt-BR" sz="3400" b="1" dirty="0"/>
              <a:t>à parte </a:t>
            </a:r>
            <a:r>
              <a:rPr lang="pt-BR" sz="3400" dirty="0"/>
              <a:t>da natureza.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2233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8533D-31FD-48CE-9268-DA77B9828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Pensamento Complexo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334277-93D4-4F1F-8873-37BA540AE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800" dirty="0"/>
              <a:t>“</a:t>
            </a:r>
            <a:r>
              <a:rPr lang="pt-BR" sz="2800" b="1" dirty="0"/>
              <a:t>O homem não é centro de nada</a:t>
            </a:r>
            <a:r>
              <a:rPr lang="pt-BR" sz="2800" dirty="0"/>
              <a:t>. Essa cultura do </a:t>
            </a:r>
            <a:r>
              <a:rPr lang="pt-BR" sz="2800" b="1" dirty="0"/>
              <a:t>narcisismo</a:t>
            </a:r>
            <a:r>
              <a:rPr lang="pt-BR" sz="2800" dirty="0"/>
              <a:t> amplia intolerâncias, guerras, extermínios. </a:t>
            </a:r>
            <a:r>
              <a:rPr lang="pt-BR" sz="2800" b="1" dirty="0"/>
              <a:t>A natureza não existe para ser submetida ao homem</a:t>
            </a:r>
            <a:r>
              <a:rPr lang="pt-BR" sz="2800" dirty="0"/>
              <a:t>. A relação homem-natureza é de </a:t>
            </a:r>
            <a:r>
              <a:rPr lang="pt-BR" sz="2800" b="1" dirty="0"/>
              <a:t>coautoria</a:t>
            </a:r>
            <a:r>
              <a:rPr lang="pt-BR" sz="2800" dirty="0"/>
              <a:t>, e não de dominação ou submissão” – Edgard Assis de Carvalho</a:t>
            </a:r>
          </a:p>
          <a:p>
            <a:r>
              <a:rPr lang="pt-BR" sz="2800" dirty="0"/>
              <a:t>O pensamento complexo é marcado pelo princípio da incerteza racional que envolve uma postura de </a:t>
            </a:r>
            <a:r>
              <a:rPr lang="pt-BR" sz="2800" b="1" dirty="0"/>
              <a:t>descentramento do sujeito e sua reinserção na teia da vida</a:t>
            </a:r>
            <a:r>
              <a:rPr lang="pt-BR" sz="2800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3626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C2A2468-99E2-4056-83F1-5F2DD388A728}"/>
              </a:ext>
            </a:extLst>
          </p:cNvPr>
          <p:cNvSpPr txBox="1"/>
          <p:nvPr/>
        </p:nvSpPr>
        <p:spPr>
          <a:xfrm>
            <a:off x="753035" y="1492240"/>
            <a:ext cx="579568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Base: </a:t>
            </a:r>
            <a:r>
              <a:rPr lang="pt-BR" sz="2000" b="1" dirty="0"/>
              <a:t>R E D E S ou T E I A 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Em todos os níveis de vida – desde as redes metabólicas dentro da célula até as teias alimentares dos ecossistemas e as redes de comunicações da sociedade humana-, os componentes dos sistemas vivos se </a:t>
            </a:r>
            <a:r>
              <a:rPr lang="pt-BR" sz="2000" b="1" dirty="0"/>
              <a:t>interligam</a:t>
            </a:r>
            <a:r>
              <a:rPr lang="pt-BR" sz="2000" dirty="0"/>
              <a:t> </a:t>
            </a:r>
            <a:r>
              <a:rPr lang="pt-BR" sz="2000" b="1" dirty="0"/>
              <a:t>sob a forma de rede</a:t>
            </a:r>
            <a:r>
              <a:rPr lang="pt-BR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Era da Informação: as funções e processos sociais organizam-se cada vez mais em torno das </a:t>
            </a:r>
            <a:r>
              <a:rPr lang="pt-BR" sz="2000" b="1" dirty="0"/>
              <a:t>redes</a:t>
            </a:r>
            <a:r>
              <a:rPr lang="pt-BR" sz="2000" dirty="0"/>
              <a:t>. Quer se trate das grandes empresas, do mercado financeiro, dos meios de comunicações ou das ONGs globais, constatamos que a organização em rede tornou-se um fenômeno social importante.</a:t>
            </a:r>
          </a:p>
        </p:txBody>
      </p:sp>
      <p:pic>
        <p:nvPicPr>
          <p:cNvPr id="4" name="Espaço Reservado para Conteúdo 7">
            <a:extLst>
              <a:ext uri="{FF2B5EF4-FFF2-40B4-BE49-F238E27FC236}">
                <a16:creationId xmlns:a16="http://schemas.microsoft.com/office/drawing/2014/main" id="{F6EB68D6-293E-41F6-ADDC-80C4A99ED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43" y="1888551"/>
            <a:ext cx="4983122" cy="360858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C62C80F-9ACA-4508-9C01-7AA80667F2F5}"/>
              </a:ext>
            </a:extLst>
          </p:cNvPr>
          <p:cNvSpPr txBox="1"/>
          <p:nvPr/>
        </p:nvSpPr>
        <p:spPr>
          <a:xfrm>
            <a:off x="1277471" y="735955"/>
            <a:ext cx="4491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</a:t>
            </a:r>
            <a:r>
              <a:rPr lang="pt-BR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Visão Sistêmica</a:t>
            </a:r>
          </a:p>
        </p:txBody>
      </p:sp>
    </p:spTree>
    <p:extLst>
      <p:ext uri="{BB962C8B-B14F-4D97-AF65-F5344CB8AC3E}">
        <p14:creationId xmlns:p14="http://schemas.microsoft.com/office/powerpoint/2010/main" val="285738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C32B52C-C1BF-409F-ACB3-6C68A1507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365" y="1896036"/>
            <a:ext cx="4668750" cy="389760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A1B06C0-8718-4B16-AB83-038B44047134}"/>
              </a:ext>
            </a:extLst>
          </p:cNvPr>
          <p:cNvSpPr txBox="1"/>
          <p:nvPr/>
        </p:nvSpPr>
        <p:spPr>
          <a:xfrm>
            <a:off x="503885" y="1896036"/>
            <a:ext cx="61927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Visão mecanicista: o conhecimento se dá pela </a:t>
            </a:r>
            <a:r>
              <a:rPr lang="pt-BR" sz="2400" b="1" dirty="0"/>
              <a:t>separação das partes </a:t>
            </a:r>
            <a:r>
              <a:rPr lang="pt-BR" sz="2400" dirty="0"/>
              <a:t>– folhas, copa, tronco, raiz...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Visão sistêmica: o conhecimento se dá pela </a:t>
            </a:r>
            <a:r>
              <a:rPr lang="pt-BR" sz="2400" b="1" dirty="0"/>
              <a:t>visão do todo </a:t>
            </a:r>
            <a:r>
              <a:rPr lang="pt-BR" sz="2400" dirty="0"/>
              <a:t>(holista), de </a:t>
            </a:r>
            <a:r>
              <a:rPr lang="pt-BR" sz="2400" b="1" dirty="0"/>
              <a:t>redes</a:t>
            </a:r>
            <a:r>
              <a:rPr lang="pt-BR" sz="2400" dirty="0"/>
              <a:t>, de </a:t>
            </a:r>
            <a:r>
              <a:rPr lang="pt-BR" sz="2400" b="1" dirty="0"/>
              <a:t>interligação</a:t>
            </a:r>
            <a:r>
              <a:rPr lang="pt-BR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Bebe na fonte da filosofia chinesa: yin e yang – a realidade é um processo de contínuo fluxo e mudanças.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DB88DBB-72BA-41CF-BCAB-4B58E0E8157C}"/>
              </a:ext>
            </a:extLst>
          </p:cNvPr>
          <p:cNvSpPr txBox="1"/>
          <p:nvPr/>
        </p:nvSpPr>
        <p:spPr>
          <a:xfrm>
            <a:off x="785154" y="1008529"/>
            <a:ext cx="5475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</a:t>
            </a:r>
            <a:r>
              <a:rPr lang="pt-BR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Exemplo da Árvore</a:t>
            </a:r>
          </a:p>
        </p:txBody>
      </p:sp>
    </p:spTree>
    <p:extLst>
      <p:ext uri="{BB962C8B-B14F-4D97-AF65-F5344CB8AC3E}">
        <p14:creationId xmlns:p14="http://schemas.microsoft.com/office/powerpoint/2010/main" val="1621372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0AEA7-5BCB-4C9C-B0D6-CCC78F3D2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Pensamento em Rede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5A42B6-1CDA-40C6-96B7-7761D06933D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A separação, a especialização e a ênfase na técnica e no progresso apenas da razão nos levou ao </a:t>
            </a:r>
            <a:r>
              <a:rPr lang="pt-BR" b="1" dirty="0"/>
              <a:t>antropocentrismo</a:t>
            </a:r>
            <a:r>
              <a:rPr lang="pt-BR" dirty="0"/>
              <a:t>.</a:t>
            </a:r>
          </a:p>
          <a:p>
            <a:r>
              <a:rPr lang="pt-BR" dirty="0">
                <a:latin typeface="Helvetica" panose="020B0604020202020204" pitchFamily="34" charset="0"/>
              </a:rPr>
              <a:t>D</a:t>
            </a:r>
            <a:r>
              <a:rPr lang="pt-BR" sz="2800" b="0" i="0" u="none" strike="noStrike" baseline="0" dirty="0">
                <a:latin typeface="Helvetica" panose="020B0604020202020204" pitchFamily="34" charset="0"/>
              </a:rPr>
              <a:t>isparidade entre o desenvolvimento do poder intelectual, o conhecimento científico e as qualificações tecnológicas, por um lado, e a sabedoria, a espiritualidade e a ética, por outro.</a:t>
            </a:r>
          </a:p>
          <a:p>
            <a:r>
              <a:rPr lang="pt-BR" dirty="0"/>
              <a:t>Assim como o ser humano, a natureza é complexa em sua teia de relações. Não uma teia ordenada em que cada parte exerce uma função definida, mas, uma </a:t>
            </a:r>
            <a:r>
              <a:rPr lang="pt-BR" b="1" dirty="0"/>
              <a:t>rede de alianças flexíveis</a:t>
            </a:r>
            <a:r>
              <a:rPr lang="pt-BR" dirty="0"/>
              <a:t>, que nos coloca diante do tempo e da evolução como seres desafiados a compor parcerias criativas.</a:t>
            </a:r>
          </a:p>
          <a:p>
            <a:pPr marL="0" indent="0">
              <a:buNone/>
            </a:pPr>
            <a:endParaRPr lang="pt-B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pt-B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0388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70861C-F7A4-43A2-A781-1995788D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Capitalismo Global X Comunidades Sustentáveis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1301CC-E37B-46CA-A910-811513306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/>
              <a:t>Capitalismo global: </a:t>
            </a:r>
            <a:r>
              <a:rPr lang="pt-BR" b="1" dirty="0"/>
              <a:t>redes eletrônicas </a:t>
            </a:r>
            <a:r>
              <a:rPr lang="pt-BR" dirty="0"/>
              <a:t>onde ocorrem fluxos financeiros e de informações, cujo objetivo é o de </a:t>
            </a:r>
            <a:r>
              <a:rPr lang="pt-BR" b="1" dirty="0"/>
              <a:t>elevar ao máximo a riqueza e o poder de suas elites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/>
              <a:t>Projeto ecológico: trata das </a:t>
            </a:r>
            <a:r>
              <a:rPr lang="pt-BR" b="1" dirty="0"/>
              <a:t>redes ecológicas </a:t>
            </a:r>
            <a:r>
              <a:rPr lang="pt-BR" dirty="0"/>
              <a:t>de fluxos energéticos e materiais, cujo objetivo é o de </a:t>
            </a:r>
            <a:r>
              <a:rPr lang="pt-BR" b="1" dirty="0"/>
              <a:t>elevar ao máximo a sustentabilidade da teia da vida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8172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BEEF5-7EB9-406E-B2AB-8FAA11BB2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Sociedade capitalista: valor central é ganhar dinheiro – </a:t>
            </a:r>
            <a:r>
              <a:rPr lang="pt-BR" b="1" dirty="0"/>
              <a:t>incentivo ao consumo</a:t>
            </a:r>
            <a:r>
              <a:rPr lang="pt-BR" dirty="0"/>
              <a:t>.</a:t>
            </a:r>
          </a:p>
          <a:p>
            <a:r>
              <a:rPr lang="pt-BR" dirty="0"/>
              <a:t>A </a:t>
            </a:r>
            <a:r>
              <a:rPr lang="pt-BR" b="1" dirty="0"/>
              <a:t>acumulação</a:t>
            </a:r>
            <a:r>
              <a:rPr lang="pt-BR" dirty="0"/>
              <a:t> de bens materiais é o caminho que leva à felicidade – nosso objetivo de vida.</a:t>
            </a:r>
          </a:p>
          <a:p>
            <a:r>
              <a:rPr lang="pt-BR" dirty="0"/>
              <a:t>EUA: retórica da liberdade = livre comércio – forma de </a:t>
            </a:r>
            <a:r>
              <a:rPr lang="pt-BR" b="1" dirty="0"/>
              <a:t>dominação</a:t>
            </a:r>
            <a:r>
              <a:rPr lang="pt-BR" dirty="0"/>
              <a:t> para garantir o seu poderio.</a:t>
            </a:r>
          </a:p>
        </p:txBody>
      </p:sp>
    </p:spTree>
    <p:extLst>
      <p:ext uri="{BB962C8B-B14F-4D97-AF65-F5344CB8AC3E}">
        <p14:creationId xmlns:p14="http://schemas.microsoft.com/office/powerpoint/2010/main" val="2561207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ídia Online 3" title="PATRIMÔNIO E SENTIDO DA VIDA | Eduardo Marinho #shorts">
            <a:hlinkClick r:id="" action="ppaction://media"/>
            <a:extLst>
              <a:ext uri="{FF2B5EF4-FFF2-40B4-BE49-F238E27FC236}">
                <a16:creationId xmlns:a16="http://schemas.microsoft.com/office/drawing/2014/main" id="{8B2A16C4-9DD3-44CB-B8B4-93D730ADD97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555203" y="1404400"/>
            <a:ext cx="3376653" cy="4544921"/>
          </a:xfrm>
          <a:prstGeom prst="rect">
            <a:avLst/>
          </a:prstGeom>
        </p:spPr>
      </p:pic>
      <p:pic>
        <p:nvPicPr>
          <p:cNvPr id="5" name="Mídia Online 4" title="EU NÃO QUERO “VENCER NA VIDA” | Eduardo Marinho #shorts">
            <a:hlinkClick r:id="" action="ppaction://media"/>
            <a:extLst>
              <a:ext uri="{FF2B5EF4-FFF2-40B4-BE49-F238E27FC236}">
                <a16:creationId xmlns:a16="http://schemas.microsoft.com/office/drawing/2014/main" id="{ED3D715C-C676-408D-B9C1-D61B4CAA4D47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6965935" y="1404400"/>
            <a:ext cx="3039158" cy="453683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67AA872-9F6E-4C6E-B704-7E55C9D83EB2}"/>
              </a:ext>
            </a:extLst>
          </p:cNvPr>
          <p:cNvSpPr txBox="1"/>
          <p:nvPr/>
        </p:nvSpPr>
        <p:spPr>
          <a:xfrm>
            <a:off x="2438400" y="789709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Consumo e acúmulo</a:t>
            </a:r>
            <a:endParaRPr lang="pt-BR" sz="36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DB800BF-2BFF-4C33-9180-16BC6D3AC040}"/>
              </a:ext>
            </a:extLst>
          </p:cNvPr>
          <p:cNvSpPr txBox="1"/>
          <p:nvPr/>
        </p:nvSpPr>
        <p:spPr>
          <a:xfrm>
            <a:off x="7130079" y="789709"/>
            <a:ext cx="3039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Vencer na vida</a:t>
            </a:r>
          </a:p>
        </p:txBody>
      </p:sp>
    </p:spTree>
    <p:extLst>
      <p:ext uri="{BB962C8B-B14F-4D97-AF65-F5344CB8AC3E}">
        <p14:creationId xmlns:p14="http://schemas.microsoft.com/office/powerpoint/2010/main" val="330258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8C4FC-089E-486B-BC2C-50A6BB646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Vídeo completo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62FF3F-E45F-4AF5-84E6-C65184688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Conversa com Eduardo Marinho</a:t>
            </a:r>
            <a:endParaRPr lang="pt-BR" dirty="0"/>
          </a:p>
          <a:p>
            <a:r>
              <a:rPr lang="pt-BR" dirty="0" err="1">
                <a:hlinkClick r:id="rId3"/>
              </a:rPr>
              <a:t>TedX</a:t>
            </a:r>
            <a:r>
              <a:rPr lang="pt-BR" dirty="0">
                <a:hlinkClick r:id="rId3"/>
              </a:rPr>
              <a:t> Eduardo Marinho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0915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0C49F-D7BA-462F-A617-57778D9DF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F9A5AD-84DC-4275-BADA-B8D0C54CE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Helvetica" panose="020B0604020202020204" pitchFamily="34" charset="0"/>
              </a:rPr>
              <a:t>O grande desafio do século XXI é da </a:t>
            </a:r>
            <a:r>
              <a:rPr lang="pt-BR" b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Helvetica" panose="020B0604020202020204" pitchFamily="34" charset="0"/>
              </a:rPr>
              <a:t>mudança do sistema de valores </a:t>
            </a:r>
            <a:r>
              <a:rPr lang="pt-BR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Helvetica" panose="020B0604020202020204" pitchFamily="34" charset="0"/>
              </a:rPr>
              <a:t>que está por trás da economia global, de modo a torná-lo compatível com as exigências da dignidade humana e da sustentabilidade ecológica</a:t>
            </a:r>
            <a:r>
              <a:rPr lang="pt-BR" dirty="0">
                <a:effectLst/>
                <a:ea typeface="Calibri" panose="020F0502020204030204" pitchFamily="34" charset="0"/>
                <a:cs typeface="Helvetica" panose="020B0604020202020204" pitchFamily="34" charset="0"/>
              </a:rPr>
              <a:t>.</a:t>
            </a:r>
            <a:endParaRPr lang="pt-BR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4532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786E474-78A2-44C1-9951-A49916E6E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610892"/>
            <a:ext cx="6645442" cy="1618673"/>
          </a:xfrm>
        </p:spPr>
        <p:txBody>
          <a:bodyPr/>
          <a:lstStyle/>
          <a:p>
            <a:r>
              <a:rPr lang="pt-BR" dirty="0"/>
              <a:t>Dois movimentos de virada: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2B80B785-5ACA-4BAF-B7E7-4638CB2EB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229566"/>
            <a:ext cx="6645442" cy="676062"/>
          </a:xfrm>
        </p:spPr>
        <p:txBody>
          <a:bodyPr/>
          <a:lstStyle/>
          <a:p>
            <a:r>
              <a:rPr lang="pt-BR" dirty="0"/>
              <a:t>Feminismo e Ecologia</a:t>
            </a:r>
          </a:p>
        </p:txBody>
      </p:sp>
      <p:pic>
        <p:nvPicPr>
          <p:cNvPr id="6" name="Espaço Reservado para Conteúdo 4" descr="Desenho de personagem de desenho animado&#10;&#10;Descrição gerada automaticamente">
            <a:extLst>
              <a:ext uri="{FF2B5EF4-FFF2-40B4-BE49-F238E27FC236}">
                <a16:creationId xmlns:a16="http://schemas.microsoft.com/office/drawing/2014/main" id="{1644F362-8D2F-45B6-BE70-D272592F06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" r="-1" b="-1"/>
          <a:stretch/>
        </p:blipFill>
        <p:spPr>
          <a:xfrm>
            <a:off x="457220" y="3024119"/>
            <a:ext cx="4738236" cy="3429000"/>
          </a:xfrm>
          <a:prstGeom prst="rect">
            <a:avLst/>
          </a:prstGeom>
        </p:spPr>
      </p:pic>
      <p:pic>
        <p:nvPicPr>
          <p:cNvPr id="1026" name="Picture 2" descr="Ecologia Doméstica: mudança de comportamento começa em casa - Unoeste">
            <a:extLst>
              <a:ext uri="{FF2B5EF4-FFF2-40B4-BE49-F238E27FC236}">
                <a16:creationId xmlns:a16="http://schemas.microsoft.com/office/drawing/2014/main" id="{79D58096-32B3-44D5-BF23-435FAE673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456" y="3018787"/>
            <a:ext cx="4738236" cy="343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1884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525E8AB-6F77-4A49-9BFC-654A1C27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Feminismo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D7AD0CB-FE0B-4D7F-9CB4-E2E8904FE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É a luta contra o </a:t>
            </a:r>
            <a:r>
              <a:rPr lang="pt-BR" b="1" dirty="0"/>
              <a:t>patriarcalismo</a:t>
            </a:r>
            <a:r>
              <a:rPr lang="pt-BR" dirty="0"/>
              <a:t>, contra a dominação do homem e do que ele representa (racionalidade linear/cartesiana, antropocentrismo, capitalismo, colonialismo... qualquer tipo de dominação).</a:t>
            </a:r>
          </a:p>
          <a:p>
            <a:r>
              <a:rPr lang="pt-BR" dirty="0"/>
              <a:t>A mulher representa justamente aquilo que o capitalismo tenta fazer morrer: a </a:t>
            </a:r>
            <a:r>
              <a:rPr lang="pt-BR" b="1" dirty="0"/>
              <a:t>comunidade</a:t>
            </a:r>
            <a:r>
              <a:rPr lang="pt-BR" dirty="0"/>
              <a:t>, a cooperação, os encontros, os movimentos. Por isso foram objeto de dominação desde o período de “caça às bruxas” e por isso recai a elas (ao movimento feminista) fazer esse resgate contra todo tipo de dominação.</a:t>
            </a:r>
          </a:p>
        </p:txBody>
      </p:sp>
    </p:spTree>
    <p:extLst>
      <p:ext uri="{BB962C8B-B14F-4D97-AF65-F5344CB8AC3E}">
        <p14:creationId xmlns:p14="http://schemas.microsoft.com/office/powerpoint/2010/main" val="1835547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B80815-8BAE-4242-88D6-9238E87F2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Indicação de Livro</a:t>
            </a:r>
          </a:p>
        </p:txBody>
      </p:sp>
      <p:pic>
        <p:nvPicPr>
          <p:cNvPr id="1026" name="Picture 2" descr="CALIBÃ E A BRUXA | Livraria Martins Fontes Paulista">
            <a:extLst>
              <a:ext uri="{FF2B5EF4-FFF2-40B4-BE49-F238E27FC236}">
                <a16:creationId xmlns:a16="http://schemas.microsoft.com/office/drawing/2014/main" id="{1FB68D86-51B0-495E-AFB9-32EB8C1E19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36" y="1537236"/>
            <a:ext cx="3034145" cy="3034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revolução será feminista! - aporte para lutas estratégicas da classe –  Lutas Anticapital">
            <a:extLst>
              <a:ext uri="{FF2B5EF4-FFF2-40B4-BE49-F238E27FC236}">
                <a16:creationId xmlns:a16="http://schemas.microsoft.com/office/drawing/2014/main" id="{95CAD0E6-42D9-4B48-8CAF-ECFB2DB73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393" y="2659689"/>
            <a:ext cx="2215861" cy="3025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eminismo Para Os 99% - Um Manifesto">
            <a:extLst>
              <a:ext uri="{FF2B5EF4-FFF2-40B4-BE49-F238E27FC236}">
                <a16:creationId xmlns:a16="http://schemas.microsoft.com/office/drawing/2014/main" id="{3DF5B038-6E7E-4A6D-9735-BC914C2E8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9019" y="1440065"/>
            <a:ext cx="2215861" cy="322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O Feminismo É Para Todo Mundo - Políticas Arrebatadoras">
            <a:extLst>
              <a:ext uri="{FF2B5EF4-FFF2-40B4-BE49-F238E27FC236}">
                <a16:creationId xmlns:a16="http://schemas.microsoft.com/office/drawing/2014/main" id="{DFD9BFF4-9830-4060-A6EF-FF271A5D4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192" y="2558170"/>
            <a:ext cx="2124673" cy="322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447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D14867-ECB8-4EA9-9090-EAD5101D4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Ecologia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483E63-A9E0-48C8-AED0-9ED196EB8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94758"/>
            <a:ext cx="5791200" cy="3796357"/>
          </a:xfrm>
        </p:spPr>
        <p:txBody>
          <a:bodyPr/>
          <a:lstStyle/>
          <a:p>
            <a:r>
              <a:rPr lang="pt-BR" dirty="0">
                <a:ea typeface="Calibri" panose="020F0502020204030204" pitchFamily="34" charset="0"/>
                <a:cs typeface="Helvetica" panose="020B0604020202020204" pitchFamily="34" charset="0"/>
              </a:rPr>
              <a:t>R</a:t>
            </a:r>
            <a:r>
              <a:rPr lang="pt-BR" sz="28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Helvetica" panose="020B0604020202020204" pitchFamily="34" charset="0"/>
              </a:rPr>
              <a:t>edefinição das </a:t>
            </a:r>
            <a:r>
              <a:rPr lang="pt-BR" sz="2800" b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Helvetica" panose="020B0604020202020204" pitchFamily="34" charset="0"/>
              </a:rPr>
              <a:t>relações</a:t>
            </a:r>
            <a:r>
              <a:rPr lang="pt-BR" sz="28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Helvetica" panose="020B0604020202020204" pitchFamily="34" charset="0"/>
              </a:rPr>
              <a:t> entre os seres humanos e a natureza.</a:t>
            </a:r>
          </a:p>
          <a:p>
            <a:r>
              <a:rPr lang="pt-BR" dirty="0">
                <a:ea typeface="Calibri" panose="020F0502020204030204" pitchFamily="34" charset="0"/>
                <a:cs typeface="Helvetica" panose="020B0604020202020204" pitchFamily="34" charset="0"/>
              </a:rPr>
              <a:t>Crítica ao antropocentrismo e a razão dominadora/instrumental: </a:t>
            </a:r>
            <a:r>
              <a:rPr lang="pt-BR" b="1" dirty="0">
                <a:ea typeface="Calibri" panose="020F0502020204030204" pitchFamily="34" charset="0"/>
                <a:cs typeface="Helvetica" panose="020B0604020202020204" pitchFamily="34" charset="0"/>
              </a:rPr>
              <a:t>a vida não pode ser reduzida pela razão instrumental que concebe a natureza como um objeto a ser manipulado</a:t>
            </a:r>
            <a:r>
              <a:rPr lang="pt-BR" dirty="0">
                <a:ea typeface="Calibri" panose="020F050202020403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10C3E4-6A30-47B8-8A09-4E6862EC2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153" y="1681043"/>
            <a:ext cx="3542299" cy="44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40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1D9D3A-1223-4081-BF40-F29056A0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Sustentabilidade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86EF36-014C-486A-A0F0-099C1517B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923" y="1731199"/>
            <a:ext cx="6153222" cy="4518055"/>
          </a:xfrm>
        </p:spPr>
        <p:txBody>
          <a:bodyPr>
            <a:normAutofit fontScale="47500" lnSpcReduction="20000"/>
          </a:bodyPr>
          <a:lstStyle/>
          <a:p>
            <a:pPr marL="285750" indent="-285750" algn="just">
              <a:lnSpc>
                <a:spcPct val="115000"/>
              </a:lnSpc>
              <a:spcAft>
                <a:spcPts val="1000"/>
              </a:spcAft>
            </a:pPr>
            <a:r>
              <a:rPr lang="pt-BR" sz="5100" dirty="0">
                <a:ea typeface="Calibri" panose="020F0502020204030204" pitchFamily="34" charset="0"/>
                <a:cs typeface="Helvetica" panose="020B0604020202020204" pitchFamily="34" charset="0"/>
              </a:rPr>
              <a:t>Sociedade</a:t>
            </a:r>
            <a:r>
              <a:rPr lang="pt-BR" sz="51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5100" dirty="0">
                <a:ea typeface="Calibri" panose="020F0502020204030204" pitchFamily="34" charset="0"/>
                <a:cs typeface="Helvetica" panose="020B0604020202020204" pitchFamily="34" charset="0"/>
              </a:rPr>
              <a:t>sustentável: aquela que é capaz de satisfazer suas necessidades </a:t>
            </a:r>
            <a:r>
              <a:rPr lang="pt-BR" sz="5100" b="1" dirty="0">
                <a:ea typeface="Calibri" panose="020F0502020204030204" pitchFamily="34" charset="0"/>
                <a:cs typeface="Helvetica" panose="020B0604020202020204" pitchFamily="34" charset="0"/>
              </a:rPr>
              <a:t>sem</a:t>
            </a:r>
            <a:r>
              <a:rPr lang="pt-BR" sz="5100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5100" b="1" dirty="0">
                <a:ea typeface="Calibri" panose="020F0502020204030204" pitchFamily="34" charset="0"/>
                <a:cs typeface="Helvetica" panose="020B0604020202020204" pitchFamily="34" charset="0"/>
              </a:rPr>
              <a:t>comprometer </a:t>
            </a:r>
            <a:r>
              <a:rPr lang="pt-BR" sz="5100" dirty="0">
                <a:ea typeface="Calibri" panose="020F0502020204030204" pitchFamily="34" charset="0"/>
                <a:cs typeface="Helvetica" panose="020B0604020202020204" pitchFamily="34" charset="0"/>
              </a:rPr>
              <a:t>as chances de sobrevivência das gerações futuras – Lester Brown</a:t>
            </a: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sz="5100" dirty="0">
                <a:solidFill>
                  <a:schemeClr val="tx1"/>
                </a:solidFill>
                <a:ea typeface="Calibri" panose="020F0502020204030204" pitchFamily="34" charset="0"/>
                <a:cs typeface="Helvetica" panose="020B0604020202020204" pitchFamily="34" charset="0"/>
              </a:rPr>
              <a:t>Desenvolvimento Sustentável: atender as necessidades do presente </a:t>
            </a:r>
            <a:r>
              <a:rPr lang="pt-BR" sz="5100" b="1" dirty="0">
                <a:solidFill>
                  <a:schemeClr val="tx1"/>
                </a:solidFill>
                <a:ea typeface="Calibri" panose="020F0502020204030204" pitchFamily="34" charset="0"/>
                <a:cs typeface="Helvetica" panose="020B0604020202020204" pitchFamily="34" charset="0"/>
              </a:rPr>
              <a:t>sem comprometer</a:t>
            </a:r>
            <a:r>
              <a:rPr lang="pt-BR" sz="5100" dirty="0">
                <a:solidFill>
                  <a:schemeClr val="tx1"/>
                </a:solidFill>
                <a:ea typeface="Calibri" panose="020F0502020204030204" pitchFamily="34" charset="0"/>
                <a:cs typeface="Helvetica" panose="020B0604020202020204" pitchFamily="34" charset="0"/>
              </a:rPr>
              <a:t> a capacidade das gerações futuras de atenderem as suas próprias necessidades.</a:t>
            </a:r>
          </a:p>
          <a:p>
            <a:endParaRPr lang="pt-BR" sz="5100" dirty="0">
              <a:solidFill>
                <a:schemeClr val="tx1"/>
              </a:solidFill>
              <a:effectLst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endParaRPr lang="pt-BR" dirty="0">
              <a:solidFill>
                <a:schemeClr val="tx1"/>
              </a:solidFill>
              <a:effectLst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endParaRPr lang="pt-BR" dirty="0"/>
          </a:p>
        </p:txBody>
      </p:sp>
      <p:pic>
        <p:nvPicPr>
          <p:cNvPr id="4" name="Espaço Reservado para Conteúdo 4" descr="Diagrama&#10;&#10;Descrição gerada automaticamente">
            <a:extLst>
              <a:ext uri="{FF2B5EF4-FFF2-40B4-BE49-F238E27FC236}">
                <a16:creationId xmlns:a16="http://schemas.microsoft.com/office/drawing/2014/main" id="{F74A63C3-E37D-4F6D-AF03-20591C7BB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145" y="1508082"/>
            <a:ext cx="4741205" cy="474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24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8A257-2DF6-49DC-887F-4C207BACD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Casa-Terra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51116B-741A-45DD-BEE4-DC37B6E155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90688"/>
            <a:ext cx="10515600" cy="4320147"/>
          </a:xfrm>
        </p:spPr>
        <p:txBody>
          <a:bodyPr>
            <a:normAutofit fontScale="25000" lnSpcReduction="20000"/>
          </a:bodyPr>
          <a:lstStyle/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pt-BR" b="1" dirty="0">
              <a:solidFill>
                <a:schemeClr val="tx1"/>
              </a:solidFill>
              <a:effectLst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sz="8000" dirty="0">
                <a:ea typeface="Calibri" panose="020F0502020204030204" pitchFamily="34" charset="0"/>
                <a:cs typeface="Helvetica" panose="020B0604020202020204" pitchFamily="34" charset="0"/>
              </a:rPr>
              <a:t>Casa-Terra: onde o modo de vida de uma comunidade humana </a:t>
            </a:r>
            <a:r>
              <a:rPr lang="pt-BR" sz="8000" b="1" dirty="0">
                <a:ea typeface="Calibri" panose="020F0502020204030204" pitchFamily="34" charset="0"/>
                <a:cs typeface="Helvetica" panose="020B0604020202020204" pitchFamily="34" charset="0"/>
              </a:rPr>
              <a:t>não prejudica </a:t>
            </a:r>
            <a:r>
              <a:rPr lang="pt-BR" sz="8000" dirty="0">
                <a:ea typeface="Calibri" panose="020F0502020204030204" pitchFamily="34" charset="0"/>
                <a:cs typeface="Helvetica" panose="020B0604020202020204" pitchFamily="34" charset="0"/>
              </a:rPr>
              <a:t>a capacidade intrínseca da natureza de sustentar a vida.</a:t>
            </a: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</a:pPr>
            <a:r>
              <a:rPr lang="pt-BR" sz="8000" dirty="0">
                <a:ea typeface="Calibri" panose="020F0502020204030204" pitchFamily="34" charset="0"/>
                <a:cs typeface="Helvetica" panose="020B0604020202020204" pitchFamily="34" charset="0"/>
              </a:rPr>
              <a:t>Característica: uma comunidade humana sustentável tem de ser feita de tal maneira que seus modos de vida, negócios, economia, estruturas físicas e tecnologia </a:t>
            </a:r>
            <a:r>
              <a:rPr lang="pt-BR" sz="8000" b="1" dirty="0">
                <a:ea typeface="Calibri" panose="020F0502020204030204" pitchFamily="34" charset="0"/>
                <a:cs typeface="Helvetica" panose="020B0604020202020204" pitchFamily="34" charset="0"/>
              </a:rPr>
              <a:t>não prejudiquem a capacidade intrínseca da natureza de sustentar a vida.</a:t>
            </a: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</a:pPr>
            <a:r>
              <a:rPr lang="pt-BR" sz="8000" dirty="0">
                <a:ea typeface="Calibri" panose="020F0502020204030204" pitchFamily="34" charset="0"/>
                <a:cs typeface="Helvetica" panose="020B0604020202020204" pitchFamily="34" charset="0"/>
              </a:rPr>
              <a:t>As comunidades sustentáveis desenvolvem seus modos de vida no decorrer do tempo, mediante uma </a:t>
            </a:r>
            <a:r>
              <a:rPr lang="pt-BR" sz="8000" b="1" dirty="0">
                <a:ea typeface="Calibri" panose="020F0502020204030204" pitchFamily="34" charset="0"/>
                <a:cs typeface="Helvetica" panose="020B0604020202020204" pitchFamily="34" charset="0"/>
              </a:rPr>
              <a:t>interação contínua </a:t>
            </a:r>
            <a:r>
              <a:rPr lang="pt-BR" sz="8000" dirty="0">
                <a:ea typeface="Calibri" panose="020F0502020204030204" pitchFamily="34" charset="0"/>
                <a:cs typeface="Helvetica" panose="020B0604020202020204" pitchFamily="34" charset="0"/>
              </a:rPr>
              <a:t>com outros sistemas vivos, tanto humanos quanto não-humanos. A sustentabilidade não implica uma imutabilidade das coisas. Não é um estado estático, mas um processo dinâmico de coevolução.</a:t>
            </a:r>
          </a:p>
        </p:txBody>
      </p:sp>
    </p:spTree>
    <p:extLst>
      <p:ext uri="{BB962C8B-B14F-4D97-AF65-F5344CB8AC3E}">
        <p14:creationId xmlns:p14="http://schemas.microsoft.com/office/powerpoint/2010/main" val="3810446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C080F-4E86-405E-8D07-07EE8AD0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Alfabetização Ecológica – 6 princípios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1B8DA1-5FF5-4499-B8B2-CEEB5A57986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90688"/>
            <a:ext cx="10515600" cy="4427724"/>
          </a:xfrm>
        </p:spPr>
        <p:txBody>
          <a:bodyPr>
            <a:normAutofit fontScale="85000" lnSpcReduction="20000"/>
          </a:bodyPr>
          <a:lstStyle/>
          <a:p>
            <a:r>
              <a:rPr lang="pt-BR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Redes</a:t>
            </a:r>
            <a:r>
              <a:rPr lang="pt-BR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: Todos os sistemas vivos comunicam-se uns com os outros e </a:t>
            </a:r>
            <a:r>
              <a:rPr lang="pt-BR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partilham</a:t>
            </a:r>
            <a:r>
              <a:rPr lang="pt-BR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seus recursos, transpondo seus limites.</a:t>
            </a:r>
          </a:p>
          <a:p>
            <a:pPr algn="l"/>
            <a:r>
              <a:rPr lang="pt-BR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Ciclos</a:t>
            </a:r>
            <a:r>
              <a:rPr lang="pt-BR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: os resíduos de uma espécie são os alimentos de outra. Assim, a </a:t>
            </a:r>
            <a:r>
              <a:rPr lang="pt-BR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matéria circula </a:t>
            </a:r>
            <a:r>
              <a:rPr lang="pt-BR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continuamente dentro da teia da vida.</a:t>
            </a:r>
          </a:p>
          <a:p>
            <a:pPr algn="l"/>
            <a:r>
              <a:rPr lang="pt-BR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Energia Solar: </a:t>
            </a:r>
            <a:r>
              <a:rPr lang="pt-BR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fonte de vida</a:t>
            </a:r>
            <a:r>
              <a:rPr lang="pt-BR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pt-BR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Alianças: As </a:t>
            </a:r>
            <a:r>
              <a:rPr lang="pt-BR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trocas de energia e de recursos </a:t>
            </a:r>
            <a:r>
              <a:rPr lang="pt-BR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materiais num ecossistema são sustentadas por uma </a:t>
            </a:r>
            <a:r>
              <a:rPr lang="pt-BR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cooperação</a:t>
            </a:r>
            <a:r>
              <a:rPr lang="pt-BR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generalizada. A vida não tomou conta do planeta pela violência, mas pela cooperação, pela formação de </a:t>
            </a:r>
            <a:r>
              <a:rPr lang="pt-BR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parcerias</a:t>
            </a:r>
            <a:r>
              <a:rPr lang="pt-BR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e pela organização de </a:t>
            </a:r>
            <a:r>
              <a:rPr lang="pt-BR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redes</a:t>
            </a:r>
            <a:r>
              <a:rPr lang="pt-BR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pt-BR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Diversidade</a:t>
            </a:r>
            <a:r>
              <a:rPr lang="pt-BR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: Quanto maior a biodiversidade de um ecossistema, maior a sua </a:t>
            </a:r>
            <a:r>
              <a:rPr lang="pt-BR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resistência</a:t>
            </a:r>
            <a:r>
              <a:rPr lang="pt-BR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e capacidade de recuperação.</a:t>
            </a:r>
          </a:p>
          <a:p>
            <a:pPr algn="l"/>
            <a:r>
              <a:rPr lang="pt-BR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Equilíbrio dinâmico</a:t>
            </a:r>
            <a:r>
              <a:rPr lang="pt-BR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: Um ecossistema é uma </a:t>
            </a:r>
            <a:r>
              <a:rPr lang="pt-BR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rede flexível</a:t>
            </a:r>
            <a:r>
              <a:rPr lang="pt-BR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em permanente flutuação.</a:t>
            </a:r>
          </a:p>
        </p:txBody>
      </p:sp>
    </p:spTree>
    <p:extLst>
      <p:ext uri="{BB962C8B-B14F-4D97-AF65-F5344CB8AC3E}">
        <p14:creationId xmlns:p14="http://schemas.microsoft.com/office/powerpoint/2010/main" val="5014357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Personalizada 2">
      <a:dk1>
        <a:sysClr val="windowText" lastClr="000000"/>
      </a:dk1>
      <a:lt1>
        <a:srgbClr val="F9F9F5"/>
      </a:lt1>
      <a:dk2>
        <a:srgbClr val="8363A7"/>
      </a:dk2>
      <a:lt2>
        <a:srgbClr val="E7E6E6"/>
      </a:lt2>
      <a:accent1>
        <a:srgbClr val="5889AB"/>
      </a:accent1>
      <a:accent2>
        <a:srgbClr val="2AB2AE"/>
      </a:accent2>
      <a:accent3>
        <a:srgbClr val="A5A5A5"/>
      </a:accent3>
      <a:accent4>
        <a:srgbClr val="ED7D31"/>
      </a:accent4>
      <a:accent5>
        <a:srgbClr val="36B088"/>
      </a:accent5>
      <a:accent6>
        <a:srgbClr val="42AF60"/>
      </a:accent6>
      <a:hlink>
        <a:srgbClr val="FFC000"/>
      </a:hlink>
      <a:folHlink>
        <a:srgbClr val="C490AA"/>
      </a:folHlink>
    </a:clrScheme>
    <a:fontScheme name="Graduacao">
      <a:majorFont>
        <a:latin typeface="Gill Sans MT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B360A73E357F2438BB83FE89C825B47" ma:contentTypeVersion="20" ma:contentTypeDescription="Crie um novo documento." ma:contentTypeScope="" ma:versionID="30ccdf8b79f9487c21c849f8cbec1bf4">
  <xsd:schema xmlns:xsd="http://www.w3.org/2001/XMLSchema" xmlns:xs="http://www.w3.org/2001/XMLSchema" xmlns:p="http://schemas.microsoft.com/office/2006/metadata/properties" xmlns:ns2="b3c82ae9-dfb5-4276-ba80-5d7c7465f520" xmlns:ns3="33f618e5-2d6d-4cbe-87e3-8cbcb41a16af" targetNamespace="http://schemas.microsoft.com/office/2006/metadata/properties" ma:root="true" ma:fieldsID="519e15a55727cdc293f57a605e75df58" ns2:_="" ns3:_="">
    <xsd:import namespace="b3c82ae9-dfb5-4276-ba80-5d7c7465f520"/>
    <xsd:import namespace="33f618e5-2d6d-4cbe-87e3-8cbcb41a16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Tamanho" minOccurs="0"/>
                <xsd:element ref="ns2:_Flow_SignoffStatu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c82ae9-dfb5-4276-ba80-5d7c7465f5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Tamanho" ma:index="19" nillable="true" ma:displayName="Tamanho" ma:format="Dropdown" ma:internalName="Tamanho" ma:percentage="FALSE">
      <xsd:simpleType>
        <xsd:restriction base="dms:Number"/>
      </xsd:simpleType>
    </xsd:element>
    <xsd:element name="_Flow_SignoffStatus" ma:index="20" nillable="true" ma:displayName="Status de liberação" ma:internalName="Status_x0020_de_x0020_libera_x00e7__x00e3_o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Marcações de imagem" ma:readOnly="false" ma:fieldId="{5cf76f15-5ced-4ddc-b409-7134ff3c332f}" ma:taxonomyMulti="true" ma:sspId="aac08c5c-6fe0-4712-b828-e958a9361e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618e5-2d6d-4cbe-87e3-8cbcb41a16a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0473b68e-2571-491e-aa69-cde0e725b1df}" ma:internalName="TaxCatchAll" ma:showField="CatchAllData" ma:web="33f618e5-2d6d-4cbe-87e3-8cbcb41a16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manho xmlns="b3c82ae9-dfb5-4276-ba80-5d7c7465f520" xsi:nil="true"/>
    <_Flow_SignoffStatus xmlns="b3c82ae9-dfb5-4276-ba80-5d7c7465f520" xsi:nil="true"/>
    <lcf76f155ced4ddcb4097134ff3c332f xmlns="b3c82ae9-dfb5-4276-ba80-5d7c7465f520">
      <Terms xmlns="http://schemas.microsoft.com/office/infopath/2007/PartnerControls"/>
    </lcf76f155ced4ddcb4097134ff3c332f>
    <TaxCatchAll xmlns="33f618e5-2d6d-4cbe-87e3-8cbcb41a16a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896914-8177-4CDB-9F95-7E1639BAEB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c82ae9-dfb5-4276-ba80-5d7c7465f520"/>
    <ds:schemaRef ds:uri="33f618e5-2d6d-4cbe-87e3-8cbcb41a16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9052074-0390-4F2F-B6F8-E381E8F614C4}">
  <ds:schemaRefs>
    <ds:schemaRef ds:uri="http://schemas.microsoft.com/office/2006/metadata/properties"/>
    <ds:schemaRef ds:uri="http://schemas.microsoft.com/office/infopath/2007/PartnerControls"/>
    <ds:schemaRef ds:uri="b3c82ae9-dfb5-4276-ba80-5d7c7465f520"/>
    <ds:schemaRef ds:uri="33f618e5-2d6d-4cbe-87e3-8cbcb41a16af"/>
  </ds:schemaRefs>
</ds:datastoreItem>
</file>

<file path=customXml/itemProps3.xml><?xml version="1.0" encoding="utf-8"?>
<ds:datastoreItem xmlns:ds="http://schemas.openxmlformats.org/officeDocument/2006/customXml" ds:itemID="{D4BB1D50-17B0-4E4A-98C6-F1178DEEEE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1075</Words>
  <Application>Microsoft Office PowerPoint</Application>
  <PresentationFormat>Widescreen</PresentationFormat>
  <Paragraphs>64</Paragraphs>
  <Slides>19</Slides>
  <Notes>0</Notes>
  <HiddenSlides>0</HiddenSlides>
  <MMClips>2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Arial</vt:lpstr>
      <vt:lpstr>Calibri</vt:lpstr>
      <vt:lpstr>Gill Sans MT</vt:lpstr>
      <vt:lpstr>Helvetica</vt:lpstr>
      <vt:lpstr>Trebuchet MS</vt:lpstr>
      <vt:lpstr>Tema do Office</vt:lpstr>
      <vt:lpstr>Apresentação do PowerPoint</vt:lpstr>
      <vt:lpstr>Apresentação do PowerPoint</vt:lpstr>
      <vt:lpstr>Retomando – Pensamento Complexo</vt:lpstr>
      <vt:lpstr>Pensamento Complexo</vt:lpstr>
      <vt:lpstr>Apresentação do PowerPoint</vt:lpstr>
      <vt:lpstr>Apresentação do PowerPoint</vt:lpstr>
      <vt:lpstr>Pensamento em Rede</vt:lpstr>
      <vt:lpstr>Capitalismo Global X Comunidades Sustentáveis</vt:lpstr>
      <vt:lpstr>Apresentação do PowerPoint</vt:lpstr>
      <vt:lpstr>Apresentação do PowerPoint</vt:lpstr>
      <vt:lpstr>Vídeo completo</vt:lpstr>
      <vt:lpstr>Desafio</vt:lpstr>
      <vt:lpstr>Dois movimentos de virada:</vt:lpstr>
      <vt:lpstr>Feminismo</vt:lpstr>
      <vt:lpstr>Indicação de Livro</vt:lpstr>
      <vt:lpstr>Ecologia</vt:lpstr>
      <vt:lpstr>Sustentabilidade</vt:lpstr>
      <vt:lpstr>Casa-Terra</vt:lpstr>
      <vt:lpstr>Alfabetização Ecológica – 6 princípios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Raul Fontoura</dc:creator>
  <cp:lastModifiedBy>Adelaide</cp:lastModifiedBy>
  <cp:revision>26</cp:revision>
  <dcterms:created xsi:type="dcterms:W3CDTF">2021-07-28T20:18:47Z</dcterms:created>
  <dcterms:modified xsi:type="dcterms:W3CDTF">2026-03-04T20:49:55Z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0x0101006B360A73E357F2438BB83FE89C825B47</vt:lpwstr>
  </property>
  <property fmtid="{D5CDD505-2E9C-101B-9397-08002B2CF9AE}" pid="3" name="MediaServiceImageTags">
    <vt:lpwstr/>
  </property>
</Properties>
</file>