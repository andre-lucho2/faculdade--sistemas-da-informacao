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7"/>
  </p:notesMasterIdLst>
  <p:sldIdLst>
    <p:sldId id="298" r:id="rId5"/>
    <p:sldId id="257" r:id="rId6"/>
    <p:sldId id="258" r:id="rId7"/>
    <p:sldId id="259" r:id="rId8"/>
    <p:sldId id="260" r:id="rId9"/>
    <p:sldId id="297" r:id="rId10"/>
    <p:sldId id="293" r:id="rId11"/>
    <p:sldId id="262" r:id="rId12"/>
    <p:sldId id="263" r:id="rId13"/>
    <p:sldId id="294" r:id="rId14"/>
    <p:sldId id="295" r:id="rId15"/>
    <p:sldId id="267" r:id="rId16"/>
    <p:sldId id="296" r:id="rId17"/>
    <p:sldId id="264" r:id="rId18"/>
    <p:sldId id="266" r:id="rId19"/>
    <p:sldId id="299" r:id="rId20"/>
    <p:sldId id="285" r:id="rId21"/>
    <p:sldId id="286" r:id="rId22"/>
    <p:sldId id="287" r:id="rId23"/>
    <p:sldId id="301" r:id="rId24"/>
    <p:sldId id="302" r:id="rId25"/>
    <p:sldId id="30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85" autoAdjust="0"/>
    <p:restoredTop sz="54492" autoAdjust="0"/>
  </p:normalViewPr>
  <p:slideViewPr>
    <p:cSldViewPr snapToGrid="0">
      <p:cViewPr varScale="1">
        <p:scale>
          <a:sx n="71" d="100"/>
          <a:sy n="71" d="100"/>
        </p:scale>
        <p:origin x="72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88F408-5B01-4A36-8A56-A4B6AB98DA1E}" type="datetimeFigureOut">
              <a:rPr lang="pt-BR" smtClean="0"/>
              <a:t>25/03/2025</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8E4ADB-4F6C-4A14-A232-7FEC664481FC}" type="slidenum">
              <a:rPr lang="pt-BR" smtClean="0"/>
              <a:t>‹nº›</a:t>
            </a:fld>
            <a:endParaRPr lang="pt-BR"/>
          </a:p>
        </p:txBody>
      </p:sp>
    </p:spTree>
    <p:extLst>
      <p:ext uri="{BB962C8B-B14F-4D97-AF65-F5344CB8AC3E}">
        <p14:creationId xmlns:p14="http://schemas.microsoft.com/office/powerpoint/2010/main" val="1935986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9" name="Imagem 8" descr="Uma imagem contendo Texto&#10;&#10;Descrição gerada automaticamente">
            <a:extLst>
              <a:ext uri="{FF2B5EF4-FFF2-40B4-BE49-F238E27FC236}">
                <a16:creationId xmlns:a16="http://schemas.microsoft.com/office/drawing/2014/main" id="{A6899666-3415-4A1C-8C02-D785AD2F09D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91886" y="-1823339"/>
            <a:ext cx="7523828" cy="8681339"/>
          </a:xfrm>
          <a:prstGeom prst="rect">
            <a:avLst/>
          </a:prstGeom>
        </p:spPr>
      </p:pic>
      <p:sp>
        <p:nvSpPr>
          <p:cNvPr id="2" name="Título 1">
            <a:extLst>
              <a:ext uri="{FF2B5EF4-FFF2-40B4-BE49-F238E27FC236}">
                <a16:creationId xmlns:a16="http://schemas.microsoft.com/office/drawing/2014/main" id="{BEBCAA61-B0CA-451F-B78A-0669DB9EF701}"/>
              </a:ext>
            </a:extLst>
          </p:cNvPr>
          <p:cNvSpPr>
            <a:spLocks noGrp="1"/>
          </p:cNvSpPr>
          <p:nvPr>
            <p:ph type="ctrTitle" hasCustomPrompt="1"/>
          </p:nvPr>
        </p:nvSpPr>
        <p:spPr>
          <a:xfrm>
            <a:off x="838200" y="1041400"/>
            <a:ext cx="6645442" cy="2387600"/>
          </a:xfrm>
        </p:spPr>
        <p:txBody>
          <a:bodyPr anchor="b">
            <a:normAutofit/>
          </a:bodyPr>
          <a:lstStyle>
            <a:lvl1pPr algn="l">
              <a:defRPr sz="5400" b="1"/>
            </a:lvl1pPr>
          </a:lstStyle>
          <a:p>
            <a:r>
              <a:rPr lang="pt-BR" dirty="0"/>
              <a:t>CLIQUE PARA EDITAR O TÍTULO MESTRE</a:t>
            </a:r>
          </a:p>
        </p:txBody>
      </p:sp>
      <p:sp>
        <p:nvSpPr>
          <p:cNvPr id="3" name="Subtítulo 2">
            <a:extLst>
              <a:ext uri="{FF2B5EF4-FFF2-40B4-BE49-F238E27FC236}">
                <a16:creationId xmlns:a16="http://schemas.microsoft.com/office/drawing/2014/main" id="{C25378E7-73A5-45D1-8BA4-2A1E0411C6DB}"/>
              </a:ext>
            </a:extLst>
          </p:cNvPr>
          <p:cNvSpPr>
            <a:spLocks noGrp="1"/>
          </p:cNvSpPr>
          <p:nvPr>
            <p:ph type="subTitle" idx="1"/>
          </p:nvPr>
        </p:nvSpPr>
        <p:spPr>
          <a:xfrm>
            <a:off x="838200" y="3521074"/>
            <a:ext cx="6645442" cy="2145799"/>
          </a:xfrm>
        </p:spPr>
        <p:txBody>
          <a:bodyPr>
            <a:normAutofit/>
          </a:bodyPr>
          <a:lstStyle>
            <a:lvl1pPr marL="0" indent="0" algn="l">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dirty="0"/>
              <a:t>Clique para editar o estilo do subtítulo Mestre</a:t>
            </a:r>
          </a:p>
        </p:txBody>
      </p:sp>
      <p:sp>
        <p:nvSpPr>
          <p:cNvPr id="4" name="Espaço Reservado para Data 3">
            <a:extLst>
              <a:ext uri="{FF2B5EF4-FFF2-40B4-BE49-F238E27FC236}">
                <a16:creationId xmlns:a16="http://schemas.microsoft.com/office/drawing/2014/main" id="{FF04A13F-A601-4EB3-9212-9DDE59E33C49}"/>
              </a:ext>
            </a:extLst>
          </p:cNvPr>
          <p:cNvSpPr>
            <a:spLocks noGrp="1"/>
          </p:cNvSpPr>
          <p:nvPr>
            <p:ph type="dt" sz="half" idx="10"/>
          </p:nvPr>
        </p:nvSpPr>
        <p:spPr>
          <a:xfrm>
            <a:off x="838200" y="5924640"/>
            <a:ext cx="1483895" cy="365125"/>
          </a:xfrm>
        </p:spPr>
        <p:txBody>
          <a:bodyPr/>
          <a:lstStyle/>
          <a:p>
            <a:fld id="{14D8BB3C-6B53-46BD-A4F0-0757B46599C3}" type="datetimeFigureOut">
              <a:rPr lang="pt-BR" smtClean="0"/>
              <a:t>25/03/2025</a:t>
            </a:fld>
            <a:endParaRPr lang="pt-BR" dirty="0"/>
          </a:p>
        </p:txBody>
      </p:sp>
      <p:sp>
        <p:nvSpPr>
          <p:cNvPr id="5" name="Espaço Reservado para Rodapé 4">
            <a:extLst>
              <a:ext uri="{FF2B5EF4-FFF2-40B4-BE49-F238E27FC236}">
                <a16:creationId xmlns:a16="http://schemas.microsoft.com/office/drawing/2014/main" id="{C1DBE6AE-1A6A-49CF-88A3-A5956709A5B2}"/>
              </a:ext>
            </a:extLst>
          </p:cNvPr>
          <p:cNvSpPr>
            <a:spLocks noGrp="1"/>
          </p:cNvSpPr>
          <p:nvPr>
            <p:ph type="ftr" sz="quarter" idx="11"/>
          </p:nvPr>
        </p:nvSpPr>
        <p:spPr>
          <a:xfrm>
            <a:off x="2610853" y="5924640"/>
            <a:ext cx="4872789" cy="365125"/>
          </a:xfrm>
        </p:spPr>
        <p:txBody>
          <a:bodyPr/>
          <a:lstStyle>
            <a:lvl1pPr algn="l">
              <a:defRPr/>
            </a:lvl1pPr>
          </a:lstStyle>
          <a:p>
            <a:endParaRPr lang="pt-BR" dirty="0"/>
          </a:p>
        </p:txBody>
      </p:sp>
      <p:pic>
        <p:nvPicPr>
          <p:cNvPr id="7" name="Imagem 6">
            <a:extLst>
              <a:ext uri="{FF2B5EF4-FFF2-40B4-BE49-F238E27FC236}">
                <a16:creationId xmlns:a16="http://schemas.microsoft.com/office/drawing/2014/main" id="{8C269AF2-D220-4898-8C9F-A6A31405E8B4}"/>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Tree>
    <p:extLst>
      <p:ext uri="{BB962C8B-B14F-4D97-AF65-F5344CB8AC3E}">
        <p14:creationId xmlns:p14="http://schemas.microsoft.com/office/powerpoint/2010/main" val="2463178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Central">
    <p:spTree>
      <p:nvGrpSpPr>
        <p:cNvPr id="1" name=""/>
        <p:cNvGrpSpPr/>
        <p:nvPr/>
      </p:nvGrpSpPr>
      <p:grpSpPr>
        <a:xfrm>
          <a:off x="0" y="0"/>
          <a:ext cx="0" cy="0"/>
          <a:chOff x="0" y="0"/>
          <a:chExt cx="0" cy="0"/>
        </a:xfrm>
      </p:grpSpPr>
      <p:pic>
        <p:nvPicPr>
          <p:cNvPr id="7" name="Imagem 6" descr="Uma imagem contendo Texto&#10;&#10;Descrição gerada automaticamente">
            <a:extLst>
              <a:ext uri="{FF2B5EF4-FFF2-40B4-BE49-F238E27FC236}">
                <a16:creationId xmlns:a16="http://schemas.microsoft.com/office/drawing/2014/main" id="{42F49737-511D-46FF-A179-6D29E589BB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27123" y="-1823339"/>
            <a:ext cx="7523828" cy="8681339"/>
          </a:xfrm>
          <a:prstGeom prst="rect">
            <a:avLst/>
          </a:prstGeom>
        </p:spPr>
      </p:pic>
      <p:sp>
        <p:nvSpPr>
          <p:cNvPr id="2" name="Título 1">
            <a:extLst>
              <a:ext uri="{FF2B5EF4-FFF2-40B4-BE49-F238E27FC236}">
                <a16:creationId xmlns:a16="http://schemas.microsoft.com/office/drawing/2014/main" id="{7973F174-0461-45A7-8F99-0019B1D8AD98}"/>
              </a:ext>
            </a:extLst>
          </p:cNvPr>
          <p:cNvSpPr>
            <a:spLocks noGrp="1"/>
          </p:cNvSpPr>
          <p:nvPr>
            <p:ph type="title" hasCustomPrompt="1"/>
          </p:nvPr>
        </p:nvSpPr>
        <p:spPr>
          <a:xfrm>
            <a:off x="2391571" y="608746"/>
            <a:ext cx="7423074" cy="1122453"/>
          </a:xfrm>
        </p:spPr>
        <p:txBody>
          <a:bodyPr/>
          <a:lstStyle>
            <a:lvl1pPr algn="ctr">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13F39EC3-EAB6-41B1-AF6D-1FF09E90B0E4}"/>
              </a:ext>
            </a:extLst>
          </p:cNvPr>
          <p:cNvSpPr>
            <a:spLocks noGrp="1"/>
          </p:cNvSpPr>
          <p:nvPr>
            <p:ph idx="1"/>
          </p:nvPr>
        </p:nvSpPr>
        <p:spPr>
          <a:xfrm>
            <a:off x="2383245" y="1934308"/>
            <a:ext cx="7423075" cy="3787222"/>
          </a:xfrm>
        </p:spPr>
        <p:txBody>
          <a:body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F9899C2A-8D75-473A-9DFD-EC391EC95584}"/>
              </a:ext>
            </a:extLst>
          </p:cNvPr>
          <p:cNvSpPr>
            <a:spLocks noGrp="1"/>
          </p:cNvSpPr>
          <p:nvPr>
            <p:ph type="dt" sz="half" idx="10"/>
          </p:nvPr>
        </p:nvSpPr>
        <p:spPr>
          <a:xfrm>
            <a:off x="2383244" y="5924640"/>
            <a:ext cx="1195719" cy="365125"/>
          </a:xfrm>
        </p:spPr>
        <p:txBody>
          <a:bodyPr/>
          <a:lstStyle/>
          <a:p>
            <a:fld id="{14D8BB3C-6B53-46BD-A4F0-0757B46599C3}" type="datetimeFigureOut">
              <a:rPr lang="pt-BR" smtClean="0"/>
              <a:t>25/03/2025</a:t>
            </a:fld>
            <a:endParaRPr lang="pt-BR" dirty="0"/>
          </a:p>
        </p:txBody>
      </p:sp>
      <p:sp>
        <p:nvSpPr>
          <p:cNvPr id="5" name="Espaço Reservado para Rodapé 4">
            <a:extLst>
              <a:ext uri="{FF2B5EF4-FFF2-40B4-BE49-F238E27FC236}">
                <a16:creationId xmlns:a16="http://schemas.microsoft.com/office/drawing/2014/main" id="{695B9AF1-5F2D-4615-83D4-CA141F5558C7}"/>
              </a:ext>
            </a:extLst>
          </p:cNvPr>
          <p:cNvSpPr>
            <a:spLocks noGrp="1"/>
          </p:cNvSpPr>
          <p:nvPr>
            <p:ph type="ftr" sz="quarter" idx="11"/>
          </p:nvPr>
        </p:nvSpPr>
        <p:spPr>
          <a:xfrm>
            <a:off x="3914290" y="5924639"/>
            <a:ext cx="4360984" cy="365125"/>
          </a:xfrm>
        </p:spPr>
        <p:txBody>
          <a:bodyPr/>
          <a:lstStyle/>
          <a:p>
            <a:endParaRPr lang="pt-BR" dirty="0"/>
          </a:p>
        </p:txBody>
      </p:sp>
      <p:sp>
        <p:nvSpPr>
          <p:cNvPr id="6" name="Espaço Reservado para Número de Slide 5">
            <a:extLst>
              <a:ext uri="{FF2B5EF4-FFF2-40B4-BE49-F238E27FC236}">
                <a16:creationId xmlns:a16="http://schemas.microsoft.com/office/drawing/2014/main" id="{DAB69BE5-9ED2-499D-A461-BC7071BBE524}"/>
              </a:ext>
            </a:extLst>
          </p:cNvPr>
          <p:cNvSpPr>
            <a:spLocks noGrp="1"/>
          </p:cNvSpPr>
          <p:nvPr>
            <p:ph type="sldNum" sz="quarter" idx="12"/>
          </p:nvPr>
        </p:nvSpPr>
        <p:spPr>
          <a:xfrm>
            <a:off x="8610601" y="5924640"/>
            <a:ext cx="1195720" cy="365125"/>
          </a:xfrm>
        </p:spPr>
        <p:txBody>
          <a:bodyPr/>
          <a:lstStyle/>
          <a:p>
            <a:fld id="{46016F14-41C8-42A0-A751-72D01404B6D7}" type="slidenum">
              <a:rPr lang="pt-BR" smtClean="0"/>
              <a:t>‹nº›</a:t>
            </a:fld>
            <a:endParaRPr lang="pt-BR" dirty="0"/>
          </a:p>
        </p:txBody>
      </p:sp>
      <p:pic>
        <p:nvPicPr>
          <p:cNvPr id="8" name="Imagem 7">
            <a:extLst>
              <a:ext uri="{FF2B5EF4-FFF2-40B4-BE49-F238E27FC236}">
                <a16:creationId xmlns:a16="http://schemas.microsoft.com/office/drawing/2014/main" id="{3E42BBD6-580A-4671-ABD8-62907802A50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rot="10800000">
            <a:off x="-12600044" y="-168812"/>
            <a:ext cx="14870813" cy="8681340"/>
          </a:xfrm>
          <a:prstGeom prst="rect">
            <a:avLst/>
          </a:prstGeom>
        </p:spPr>
      </p:pic>
      <p:pic>
        <p:nvPicPr>
          <p:cNvPr id="9" name="Imagem 8">
            <a:extLst>
              <a:ext uri="{FF2B5EF4-FFF2-40B4-BE49-F238E27FC236}">
                <a16:creationId xmlns:a16="http://schemas.microsoft.com/office/drawing/2014/main" id="{EFF6D245-76FA-41BF-92E0-75557C201A4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Tree>
    <p:extLst>
      <p:ext uri="{BB962C8B-B14F-4D97-AF65-F5344CB8AC3E}">
        <p14:creationId xmlns:p14="http://schemas.microsoft.com/office/powerpoint/2010/main" val="1238044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ítulo e Conteúdo Central 2">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42F49737-511D-46FF-A179-6D29E589BBB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927124" y="-1823339"/>
            <a:ext cx="7523826" cy="8681339"/>
          </a:xfrm>
          <a:prstGeom prst="rect">
            <a:avLst/>
          </a:prstGeom>
        </p:spPr>
      </p:pic>
      <p:sp>
        <p:nvSpPr>
          <p:cNvPr id="2" name="Título 1">
            <a:extLst>
              <a:ext uri="{FF2B5EF4-FFF2-40B4-BE49-F238E27FC236}">
                <a16:creationId xmlns:a16="http://schemas.microsoft.com/office/drawing/2014/main" id="{7973F174-0461-45A7-8F99-0019B1D8AD98}"/>
              </a:ext>
            </a:extLst>
          </p:cNvPr>
          <p:cNvSpPr>
            <a:spLocks noGrp="1"/>
          </p:cNvSpPr>
          <p:nvPr>
            <p:ph type="title" hasCustomPrompt="1"/>
          </p:nvPr>
        </p:nvSpPr>
        <p:spPr>
          <a:xfrm>
            <a:off x="2391571" y="608746"/>
            <a:ext cx="7423074" cy="1122453"/>
          </a:xfrm>
        </p:spPr>
        <p:txBody>
          <a:bodyPr/>
          <a:lstStyle>
            <a:lvl1pPr algn="ctr">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13F39EC3-EAB6-41B1-AF6D-1FF09E90B0E4}"/>
              </a:ext>
            </a:extLst>
          </p:cNvPr>
          <p:cNvSpPr>
            <a:spLocks noGrp="1"/>
          </p:cNvSpPr>
          <p:nvPr>
            <p:ph idx="1"/>
          </p:nvPr>
        </p:nvSpPr>
        <p:spPr>
          <a:xfrm>
            <a:off x="2383245" y="1934308"/>
            <a:ext cx="7423075" cy="3787222"/>
          </a:xfrm>
        </p:spPr>
        <p:txBody>
          <a:body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F9899C2A-8D75-473A-9DFD-EC391EC95584}"/>
              </a:ext>
            </a:extLst>
          </p:cNvPr>
          <p:cNvSpPr>
            <a:spLocks noGrp="1"/>
          </p:cNvSpPr>
          <p:nvPr>
            <p:ph type="dt" sz="half" idx="10"/>
          </p:nvPr>
        </p:nvSpPr>
        <p:spPr>
          <a:xfrm>
            <a:off x="2383244" y="5924640"/>
            <a:ext cx="1195719" cy="365125"/>
          </a:xfrm>
        </p:spPr>
        <p:txBody>
          <a:bodyPr/>
          <a:lstStyle/>
          <a:p>
            <a:fld id="{14D8BB3C-6B53-46BD-A4F0-0757B46599C3}" type="datetimeFigureOut">
              <a:rPr lang="pt-BR" smtClean="0"/>
              <a:t>25/03/2025</a:t>
            </a:fld>
            <a:endParaRPr lang="pt-BR" dirty="0"/>
          </a:p>
        </p:txBody>
      </p:sp>
      <p:sp>
        <p:nvSpPr>
          <p:cNvPr id="5" name="Espaço Reservado para Rodapé 4">
            <a:extLst>
              <a:ext uri="{FF2B5EF4-FFF2-40B4-BE49-F238E27FC236}">
                <a16:creationId xmlns:a16="http://schemas.microsoft.com/office/drawing/2014/main" id="{695B9AF1-5F2D-4615-83D4-CA141F5558C7}"/>
              </a:ext>
            </a:extLst>
          </p:cNvPr>
          <p:cNvSpPr>
            <a:spLocks noGrp="1"/>
          </p:cNvSpPr>
          <p:nvPr>
            <p:ph type="ftr" sz="quarter" idx="11"/>
          </p:nvPr>
        </p:nvSpPr>
        <p:spPr>
          <a:xfrm>
            <a:off x="3914290" y="5924639"/>
            <a:ext cx="4360984" cy="365125"/>
          </a:xfrm>
        </p:spPr>
        <p:txBody>
          <a:bodyPr/>
          <a:lstStyle/>
          <a:p>
            <a:endParaRPr lang="pt-BR" dirty="0"/>
          </a:p>
        </p:txBody>
      </p:sp>
      <p:sp>
        <p:nvSpPr>
          <p:cNvPr id="6" name="Espaço Reservado para Número de Slide 5">
            <a:extLst>
              <a:ext uri="{FF2B5EF4-FFF2-40B4-BE49-F238E27FC236}">
                <a16:creationId xmlns:a16="http://schemas.microsoft.com/office/drawing/2014/main" id="{DAB69BE5-9ED2-499D-A461-BC7071BBE524}"/>
              </a:ext>
            </a:extLst>
          </p:cNvPr>
          <p:cNvSpPr>
            <a:spLocks noGrp="1"/>
          </p:cNvSpPr>
          <p:nvPr>
            <p:ph type="sldNum" sz="quarter" idx="12"/>
          </p:nvPr>
        </p:nvSpPr>
        <p:spPr>
          <a:xfrm>
            <a:off x="8610601" y="5924640"/>
            <a:ext cx="1195720" cy="365125"/>
          </a:xfrm>
        </p:spPr>
        <p:txBody>
          <a:bodyPr/>
          <a:lstStyle/>
          <a:p>
            <a:fld id="{46016F14-41C8-42A0-A751-72D01404B6D7}" type="slidenum">
              <a:rPr lang="pt-BR" smtClean="0"/>
              <a:t>‹nº›</a:t>
            </a:fld>
            <a:endParaRPr lang="pt-BR" dirty="0"/>
          </a:p>
        </p:txBody>
      </p:sp>
      <p:pic>
        <p:nvPicPr>
          <p:cNvPr id="8" name="Imagem 7">
            <a:extLst>
              <a:ext uri="{FF2B5EF4-FFF2-40B4-BE49-F238E27FC236}">
                <a16:creationId xmlns:a16="http://schemas.microsoft.com/office/drawing/2014/main" id="{3E42BBD6-580A-4671-ABD8-62907802A50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257542" y="-1823339"/>
            <a:ext cx="7523827" cy="8681340"/>
          </a:xfrm>
          <a:prstGeom prst="rect">
            <a:avLst/>
          </a:prstGeom>
        </p:spPr>
      </p:pic>
      <p:pic>
        <p:nvPicPr>
          <p:cNvPr id="9" name="Imagem 8">
            <a:extLst>
              <a:ext uri="{FF2B5EF4-FFF2-40B4-BE49-F238E27FC236}">
                <a16:creationId xmlns:a16="http://schemas.microsoft.com/office/drawing/2014/main" id="{EFF6D245-76FA-41BF-92E0-75557C201A4C}"/>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Tree>
    <p:extLst>
      <p:ext uri="{BB962C8B-B14F-4D97-AF65-F5344CB8AC3E}">
        <p14:creationId xmlns:p14="http://schemas.microsoft.com/office/powerpoint/2010/main" val="3583947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ítulo e Conteúdo Central (Escuro)">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42F49737-511D-46FF-A179-6D29E589BBB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471684" y="-1316436"/>
            <a:ext cx="15135367" cy="8835784"/>
          </a:xfrm>
          <a:prstGeom prst="rect">
            <a:avLst/>
          </a:prstGeom>
        </p:spPr>
      </p:pic>
      <p:sp>
        <p:nvSpPr>
          <p:cNvPr id="2" name="Título 1">
            <a:extLst>
              <a:ext uri="{FF2B5EF4-FFF2-40B4-BE49-F238E27FC236}">
                <a16:creationId xmlns:a16="http://schemas.microsoft.com/office/drawing/2014/main" id="{7973F174-0461-45A7-8F99-0019B1D8AD98}"/>
              </a:ext>
            </a:extLst>
          </p:cNvPr>
          <p:cNvSpPr>
            <a:spLocks noGrp="1"/>
          </p:cNvSpPr>
          <p:nvPr>
            <p:ph type="title" hasCustomPrompt="1"/>
          </p:nvPr>
        </p:nvSpPr>
        <p:spPr>
          <a:xfrm>
            <a:off x="2391571" y="608746"/>
            <a:ext cx="7423074" cy="1122453"/>
          </a:xfrm>
        </p:spPr>
        <p:txBody>
          <a:bodyPr/>
          <a:lstStyle>
            <a:lvl1pPr algn="ctr">
              <a:defRPr>
                <a:solidFill>
                  <a:schemeClr val="bg1"/>
                </a:solidFill>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13F39EC3-EAB6-41B1-AF6D-1FF09E90B0E4}"/>
              </a:ext>
            </a:extLst>
          </p:cNvPr>
          <p:cNvSpPr>
            <a:spLocks noGrp="1"/>
          </p:cNvSpPr>
          <p:nvPr>
            <p:ph idx="1"/>
          </p:nvPr>
        </p:nvSpPr>
        <p:spPr>
          <a:xfrm>
            <a:off x="2383245" y="1934308"/>
            <a:ext cx="7423075" cy="378722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F9899C2A-8D75-473A-9DFD-EC391EC95584}"/>
              </a:ext>
            </a:extLst>
          </p:cNvPr>
          <p:cNvSpPr>
            <a:spLocks noGrp="1"/>
          </p:cNvSpPr>
          <p:nvPr>
            <p:ph type="dt" sz="half" idx="10"/>
          </p:nvPr>
        </p:nvSpPr>
        <p:spPr>
          <a:xfrm>
            <a:off x="2383244" y="5924640"/>
            <a:ext cx="1195719" cy="365125"/>
          </a:xfrm>
        </p:spPr>
        <p:txBody>
          <a:bodyPr/>
          <a:lstStyle>
            <a:lvl1pPr>
              <a:defRPr>
                <a:solidFill>
                  <a:schemeClr val="bg1"/>
                </a:solidFill>
              </a:defRPr>
            </a:lvl1pPr>
          </a:lstStyle>
          <a:p>
            <a:fld id="{14D8BB3C-6B53-46BD-A4F0-0757B46599C3}" type="datetimeFigureOut">
              <a:rPr lang="pt-BR" smtClean="0"/>
              <a:pPr/>
              <a:t>25/03/2025</a:t>
            </a:fld>
            <a:endParaRPr lang="pt-BR" dirty="0"/>
          </a:p>
        </p:txBody>
      </p:sp>
      <p:sp>
        <p:nvSpPr>
          <p:cNvPr id="5" name="Espaço Reservado para Rodapé 4">
            <a:extLst>
              <a:ext uri="{FF2B5EF4-FFF2-40B4-BE49-F238E27FC236}">
                <a16:creationId xmlns:a16="http://schemas.microsoft.com/office/drawing/2014/main" id="{695B9AF1-5F2D-4615-83D4-CA141F5558C7}"/>
              </a:ext>
            </a:extLst>
          </p:cNvPr>
          <p:cNvSpPr>
            <a:spLocks noGrp="1"/>
          </p:cNvSpPr>
          <p:nvPr>
            <p:ph type="ftr" sz="quarter" idx="11"/>
          </p:nvPr>
        </p:nvSpPr>
        <p:spPr>
          <a:xfrm>
            <a:off x="3914290" y="5924639"/>
            <a:ext cx="4360984" cy="365125"/>
          </a:xfrm>
        </p:spPr>
        <p:txBody>
          <a:bodyPr/>
          <a:lstStyle>
            <a:lvl1pPr>
              <a:defRPr>
                <a:solidFill>
                  <a:schemeClr val="bg1"/>
                </a:solidFill>
              </a:defRPr>
            </a:lvl1pPr>
          </a:lstStyle>
          <a:p>
            <a:endParaRPr lang="pt-BR" dirty="0"/>
          </a:p>
        </p:txBody>
      </p:sp>
      <p:sp>
        <p:nvSpPr>
          <p:cNvPr id="6" name="Espaço Reservado para Número de Slide 5">
            <a:extLst>
              <a:ext uri="{FF2B5EF4-FFF2-40B4-BE49-F238E27FC236}">
                <a16:creationId xmlns:a16="http://schemas.microsoft.com/office/drawing/2014/main" id="{DAB69BE5-9ED2-499D-A461-BC7071BBE524}"/>
              </a:ext>
            </a:extLst>
          </p:cNvPr>
          <p:cNvSpPr>
            <a:spLocks noGrp="1"/>
          </p:cNvSpPr>
          <p:nvPr>
            <p:ph type="sldNum" sz="quarter" idx="12"/>
          </p:nvPr>
        </p:nvSpPr>
        <p:spPr>
          <a:xfrm>
            <a:off x="8610601" y="5924640"/>
            <a:ext cx="1195720" cy="365125"/>
          </a:xfrm>
        </p:spPr>
        <p:txBody>
          <a:bodyPr/>
          <a:lstStyle>
            <a:lvl1pPr>
              <a:defRPr>
                <a:solidFill>
                  <a:schemeClr val="bg1"/>
                </a:solidFill>
              </a:defRPr>
            </a:lvl1pPr>
          </a:lstStyle>
          <a:p>
            <a:fld id="{46016F14-41C8-42A0-A751-72D01404B6D7}" type="slidenum">
              <a:rPr lang="pt-BR" smtClean="0"/>
              <a:pPr/>
              <a:t>‹nº›</a:t>
            </a:fld>
            <a:endParaRPr lang="pt-BR" dirty="0"/>
          </a:p>
        </p:txBody>
      </p:sp>
      <p:pic>
        <p:nvPicPr>
          <p:cNvPr id="9" name="Imagem 8">
            <a:extLst>
              <a:ext uri="{FF2B5EF4-FFF2-40B4-BE49-F238E27FC236}">
                <a16:creationId xmlns:a16="http://schemas.microsoft.com/office/drawing/2014/main" id="{EFF6D245-76FA-41BF-92E0-75557C201A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Tree>
    <p:extLst>
      <p:ext uri="{BB962C8B-B14F-4D97-AF65-F5344CB8AC3E}">
        <p14:creationId xmlns:p14="http://schemas.microsoft.com/office/powerpoint/2010/main" val="3491171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ítulo e Conteúdo Esquerda">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42F49737-511D-46FF-A179-6D29E589BBB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9927124" y="-1195540"/>
            <a:ext cx="7523826" cy="8681339"/>
          </a:xfrm>
          <a:prstGeom prst="rect">
            <a:avLst/>
          </a:prstGeom>
        </p:spPr>
      </p:pic>
      <p:sp>
        <p:nvSpPr>
          <p:cNvPr id="2" name="Título 1">
            <a:extLst>
              <a:ext uri="{FF2B5EF4-FFF2-40B4-BE49-F238E27FC236}">
                <a16:creationId xmlns:a16="http://schemas.microsoft.com/office/drawing/2014/main" id="{7973F174-0461-45A7-8F99-0019B1D8AD98}"/>
              </a:ext>
            </a:extLst>
          </p:cNvPr>
          <p:cNvSpPr>
            <a:spLocks noGrp="1"/>
          </p:cNvSpPr>
          <p:nvPr>
            <p:ph type="title" hasCustomPrompt="1"/>
          </p:nvPr>
        </p:nvSpPr>
        <p:spPr>
          <a:xfrm>
            <a:off x="699248" y="608746"/>
            <a:ext cx="9080873" cy="1122453"/>
          </a:xfrm>
        </p:spPr>
        <p:txBody>
          <a:bodyPr/>
          <a:lstStyle>
            <a:lvl1pPr algn="l">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13F39EC3-EAB6-41B1-AF6D-1FF09E90B0E4}"/>
              </a:ext>
            </a:extLst>
          </p:cNvPr>
          <p:cNvSpPr>
            <a:spLocks noGrp="1"/>
          </p:cNvSpPr>
          <p:nvPr>
            <p:ph idx="1"/>
          </p:nvPr>
        </p:nvSpPr>
        <p:spPr>
          <a:xfrm>
            <a:off x="690923" y="1934308"/>
            <a:ext cx="9080874" cy="3787222"/>
          </a:xfrm>
        </p:spPr>
        <p:txBody>
          <a:body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F9899C2A-8D75-473A-9DFD-EC391EC95584}"/>
              </a:ext>
            </a:extLst>
          </p:cNvPr>
          <p:cNvSpPr>
            <a:spLocks noGrp="1"/>
          </p:cNvSpPr>
          <p:nvPr>
            <p:ph type="dt" sz="half" idx="10"/>
          </p:nvPr>
        </p:nvSpPr>
        <p:spPr>
          <a:xfrm>
            <a:off x="690922" y="5924640"/>
            <a:ext cx="1195719" cy="365125"/>
          </a:xfrm>
        </p:spPr>
        <p:txBody>
          <a:bodyPr/>
          <a:lstStyle/>
          <a:p>
            <a:fld id="{14D8BB3C-6B53-46BD-A4F0-0757B46599C3}" type="datetimeFigureOut">
              <a:rPr lang="pt-BR" smtClean="0"/>
              <a:t>25/03/2025</a:t>
            </a:fld>
            <a:endParaRPr lang="pt-BR" dirty="0"/>
          </a:p>
        </p:txBody>
      </p:sp>
      <p:sp>
        <p:nvSpPr>
          <p:cNvPr id="5" name="Espaço Reservado para Rodapé 4">
            <a:extLst>
              <a:ext uri="{FF2B5EF4-FFF2-40B4-BE49-F238E27FC236}">
                <a16:creationId xmlns:a16="http://schemas.microsoft.com/office/drawing/2014/main" id="{695B9AF1-5F2D-4615-83D4-CA141F5558C7}"/>
              </a:ext>
            </a:extLst>
          </p:cNvPr>
          <p:cNvSpPr>
            <a:spLocks noGrp="1"/>
          </p:cNvSpPr>
          <p:nvPr>
            <p:ph type="ftr" sz="quarter" idx="11"/>
          </p:nvPr>
        </p:nvSpPr>
        <p:spPr>
          <a:xfrm>
            <a:off x="2221968" y="5924639"/>
            <a:ext cx="6007632" cy="365125"/>
          </a:xfrm>
        </p:spPr>
        <p:txBody>
          <a:bodyPr/>
          <a:lstStyle/>
          <a:p>
            <a:endParaRPr lang="pt-BR" dirty="0"/>
          </a:p>
        </p:txBody>
      </p:sp>
      <p:sp>
        <p:nvSpPr>
          <p:cNvPr id="6" name="Espaço Reservado para Número de Slide 5">
            <a:extLst>
              <a:ext uri="{FF2B5EF4-FFF2-40B4-BE49-F238E27FC236}">
                <a16:creationId xmlns:a16="http://schemas.microsoft.com/office/drawing/2014/main" id="{DAB69BE5-9ED2-499D-A461-BC7071BBE524}"/>
              </a:ext>
            </a:extLst>
          </p:cNvPr>
          <p:cNvSpPr>
            <a:spLocks noGrp="1"/>
          </p:cNvSpPr>
          <p:nvPr>
            <p:ph type="sldNum" sz="quarter" idx="12"/>
          </p:nvPr>
        </p:nvSpPr>
        <p:spPr>
          <a:xfrm>
            <a:off x="8569655" y="5924640"/>
            <a:ext cx="1195720" cy="365125"/>
          </a:xfrm>
        </p:spPr>
        <p:txBody>
          <a:bodyPr/>
          <a:lstStyle/>
          <a:p>
            <a:fld id="{46016F14-41C8-42A0-A751-72D01404B6D7}" type="slidenum">
              <a:rPr lang="pt-BR" smtClean="0"/>
              <a:t>‹nº›</a:t>
            </a:fld>
            <a:endParaRPr lang="pt-BR" dirty="0"/>
          </a:p>
        </p:txBody>
      </p:sp>
      <p:pic>
        <p:nvPicPr>
          <p:cNvPr id="9" name="Imagem 8">
            <a:extLst>
              <a:ext uri="{FF2B5EF4-FFF2-40B4-BE49-F238E27FC236}">
                <a16:creationId xmlns:a16="http://schemas.microsoft.com/office/drawing/2014/main" id="{EFF6D245-76FA-41BF-92E0-75557C201A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Tree>
    <p:extLst>
      <p:ext uri="{BB962C8B-B14F-4D97-AF65-F5344CB8AC3E}">
        <p14:creationId xmlns:p14="http://schemas.microsoft.com/office/powerpoint/2010/main" val="1233624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ítulo e Conteúdo Direit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73F174-0461-45A7-8F99-0019B1D8AD98}"/>
              </a:ext>
            </a:extLst>
          </p:cNvPr>
          <p:cNvSpPr>
            <a:spLocks noGrp="1"/>
          </p:cNvSpPr>
          <p:nvPr>
            <p:ph type="title" hasCustomPrompt="1"/>
          </p:nvPr>
        </p:nvSpPr>
        <p:spPr>
          <a:xfrm>
            <a:off x="2462768" y="608746"/>
            <a:ext cx="8999620" cy="1122453"/>
          </a:xfrm>
        </p:spPr>
        <p:txBody>
          <a:bodyPr/>
          <a:lstStyle>
            <a:lvl1pPr algn="l">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13F39EC3-EAB6-41B1-AF6D-1FF09E90B0E4}"/>
              </a:ext>
            </a:extLst>
          </p:cNvPr>
          <p:cNvSpPr>
            <a:spLocks noGrp="1"/>
          </p:cNvSpPr>
          <p:nvPr>
            <p:ph idx="1"/>
          </p:nvPr>
        </p:nvSpPr>
        <p:spPr>
          <a:xfrm>
            <a:off x="2454442" y="1934308"/>
            <a:ext cx="8999621" cy="3787222"/>
          </a:xfrm>
        </p:spPr>
        <p:txBody>
          <a:body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F9899C2A-8D75-473A-9DFD-EC391EC95584}"/>
              </a:ext>
            </a:extLst>
          </p:cNvPr>
          <p:cNvSpPr>
            <a:spLocks noGrp="1"/>
          </p:cNvSpPr>
          <p:nvPr>
            <p:ph type="dt" sz="half" idx="10"/>
          </p:nvPr>
        </p:nvSpPr>
        <p:spPr>
          <a:xfrm>
            <a:off x="2455430" y="5924640"/>
            <a:ext cx="1195719" cy="365125"/>
          </a:xfrm>
        </p:spPr>
        <p:txBody>
          <a:bodyPr/>
          <a:lstStyle/>
          <a:p>
            <a:fld id="{14D8BB3C-6B53-46BD-A4F0-0757B46599C3}" type="datetimeFigureOut">
              <a:rPr lang="pt-BR" smtClean="0"/>
              <a:t>25/03/2025</a:t>
            </a:fld>
            <a:endParaRPr lang="pt-BR" dirty="0"/>
          </a:p>
        </p:txBody>
      </p:sp>
      <p:sp>
        <p:nvSpPr>
          <p:cNvPr id="5" name="Espaço Reservado para Rodapé 4">
            <a:extLst>
              <a:ext uri="{FF2B5EF4-FFF2-40B4-BE49-F238E27FC236}">
                <a16:creationId xmlns:a16="http://schemas.microsoft.com/office/drawing/2014/main" id="{695B9AF1-5F2D-4615-83D4-CA141F5558C7}"/>
              </a:ext>
            </a:extLst>
          </p:cNvPr>
          <p:cNvSpPr>
            <a:spLocks noGrp="1"/>
          </p:cNvSpPr>
          <p:nvPr>
            <p:ph type="ftr" sz="quarter" idx="11"/>
          </p:nvPr>
        </p:nvSpPr>
        <p:spPr>
          <a:xfrm>
            <a:off x="3982453" y="5924639"/>
            <a:ext cx="5989279" cy="365125"/>
          </a:xfrm>
        </p:spPr>
        <p:txBody>
          <a:bodyPr/>
          <a:lstStyle/>
          <a:p>
            <a:endParaRPr lang="pt-BR" dirty="0"/>
          </a:p>
        </p:txBody>
      </p:sp>
      <p:sp>
        <p:nvSpPr>
          <p:cNvPr id="6" name="Espaço Reservado para Número de Slide 5">
            <a:extLst>
              <a:ext uri="{FF2B5EF4-FFF2-40B4-BE49-F238E27FC236}">
                <a16:creationId xmlns:a16="http://schemas.microsoft.com/office/drawing/2014/main" id="{DAB69BE5-9ED2-499D-A461-BC7071BBE524}"/>
              </a:ext>
            </a:extLst>
          </p:cNvPr>
          <p:cNvSpPr>
            <a:spLocks noGrp="1"/>
          </p:cNvSpPr>
          <p:nvPr>
            <p:ph type="sldNum" sz="quarter" idx="12"/>
          </p:nvPr>
        </p:nvSpPr>
        <p:spPr>
          <a:xfrm>
            <a:off x="10307060" y="5924640"/>
            <a:ext cx="829692" cy="365125"/>
          </a:xfrm>
        </p:spPr>
        <p:txBody>
          <a:bodyPr/>
          <a:lstStyle/>
          <a:p>
            <a:fld id="{46016F14-41C8-42A0-A751-72D01404B6D7}" type="slidenum">
              <a:rPr lang="pt-BR" smtClean="0"/>
              <a:t>‹nº›</a:t>
            </a:fld>
            <a:endParaRPr lang="pt-BR" dirty="0"/>
          </a:p>
        </p:txBody>
      </p:sp>
      <p:pic>
        <p:nvPicPr>
          <p:cNvPr id="8" name="Imagem 7">
            <a:extLst>
              <a:ext uri="{FF2B5EF4-FFF2-40B4-BE49-F238E27FC236}">
                <a16:creationId xmlns:a16="http://schemas.microsoft.com/office/drawing/2014/main" id="{3E42BBD6-580A-4671-ABD8-62907802A50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rot="10800000">
            <a:off x="-12600044" y="-1829175"/>
            <a:ext cx="14870813" cy="8681340"/>
          </a:xfrm>
          <a:prstGeom prst="rect">
            <a:avLst/>
          </a:prstGeom>
        </p:spPr>
      </p:pic>
      <p:pic>
        <p:nvPicPr>
          <p:cNvPr id="9" name="Imagem 8">
            <a:extLst>
              <a:ext uri="{FF2B5EF4-FFF2-40B4-BE49-F238E27FC236}">
                <a16:creationId xmlns:a16="http://schemas.microsoft.com/office/drawing/2014/main" id="{EFF6D245-76FA-41BF-92E0-75557C201A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Tree>
    <p:extLst>
      <p:ext uri="{BB962C8B-B14F-4D97-AF65-F5344CB8AC3E}">
        <p14:creationId xmlns:p14="http://schemas.microsoft.com/office/powerpoint/2010/main" val="128393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ítulo e Conteúdo Esquerda (Escuro)">
    <p:spTree>
      <p:nvGrpSpPr>
        <p:cNvPr id="1" name=""/>
        <p:cNvGrpSpPr/>
        <p:nvPr/>
      </p:nvGrpSpPr>
      <p:grpSpPr>
        <a:xfrm>
          <a:off x="0" y="0"/>
          <a:ext cx="0" cy="0"/>
          <a:chOff x="0" y="0"/>
          <a:chExt cx="0" cy="0"/>
        </a:xfrm>
      </p:grpSpPr>
      <p:pic>
        <p:nvPicPr>
          <p:cNvPr id="10" name="Imagem 9">
            <a:extLst>
              <a:ext uri="{FF2B5EF4-FFF2-40B4-BE49-F238E27FC236}">
                <a16:creationId xmlns:a16="http://schemas.microsoft.com/office/drawing/2014/main" id="{4764281E-E4F0-4767-B322-1566CD1088E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921364" y="-928047"/>
            <a:ext cx="19517566" cy="11394038"/>
          </a:xfrm>
          <a:prstGeom prst="rect">
            <a:avLst/>
          </a:prstGeom>
        </p:spPr>
      </p:pic>
      <p:sp>
        <p:nvSpPr>
          <p:cNvPr id="2" name="Título 1">
            <a:extLst>
              <a:ext uri="{FF2B5EF4-FFF2-40B4-BE49-F238E27FC236}">
                <a16:creationId xmlns:a16="http://schemas.microsoft.com/office/drawing/2014/main" id="{7973F174-0461-45A7-8F99-0019B1D8AD98}"/>
              </a:ext>
            </a:extLst>
          </p:cNvPr>
          <p:cNvSpPr>
            <a:spLocks noGrp="1"/>
          </p:cNvSpPr>
          <p:nvPr>
            <p:ph type="title" hasCustomPrompt="1"/>
          </p:nvPr>
        </p:nvSpPr>
        <p:spPr>
          <a:xfrm>
            <a:off x="699248" y="608746"/>
            <a:ext cx="9080873" cy="1122453"/>
          </a:xfrm>
        </p:spPr>
        <p:txBody>
          <a:bodyPr/>
          <a:lstStyle>
            <a:lvl1pPr algn="l">
              <a:defRPr>
                <a:solidFill>
                  <a:schemeClr val="bg1"/>
                </a:solidFill>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13F39EC3-EAB6-41B1-AF6D-1FF09E90B0E4}"/>
              </a:ext>
            </a:extLst>
          </p:cNvPr>
          <p:cNvSpPr>
            <a:spLocks noGrp="1"/>
          </p:cNvSpPr>
          <p:nvPr>
            <p:ph idx="1"/>
          </p:nvPr>
        </p:nvSpPr>
        <p:spPr>
          <a:xfrm>
            <a:off x="690923" y="1934308"/>
            <a:ext cx="9080874" cy="378722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F9899C2A-8D75-473A-9DFD-EC391EC95584}"/>
              </a:ext>
            </a:extLst>
          </p:cNvPr>
          <p:cNvSpPr>
            <a:spLocks noGrp="1"/>
          </p:cNvSpPr>
          <p:nvPr>
            <p:ph type="dt" sz="half" idx="10"/>
          </p:nvPr>
        </p:nvSpPr>
        <p:spPr>
          <a:xfrm>
            <a:off x="690922" y="5924640"/>
            <a:ext cx="1195719" cy="365125"/>
          </a:xfrm>
        </p:spPr>
        <p:txBody>
          <a:bodyPr/>
          <a:lstStyle>
            <a:lvl1pPr>
              <a:defRPr>
                <a:solidFill>
                  <a:schemeClr val="bg1"/>
                </a:solidFill>
              </a:defRPr>
            </a:lvl1pPr>
          </a:lstStyle>
          <a:p>
            <a:fld id="{14D8BB3C-6B53-46BD-A4F0-0757B46599C3}" type="datetimeFigureOut">
              <a:rPr lang="pt-BR" smtClean="0"/>
              <a:pPr/>
              <a:t>25/03/2025</a:t>
            </a:fld>
            <a:endParaRPr lang="pt-BR" dirty="0"/>
          </a:p>
        </p:txBody>
      </p:sp>
      <p:sp>
        <p:nvSpPr>
          <p:cNvPr id="5" name="Espaço Reservado para Rodapé 4">
            <a:extLst>
              <a:ext uri="{FF2B5EF4-FFF2-40B4-BE49-F238E27FC236}">
                <a16:creationId xmlns:a16="http://schemas.microsoft.com/office/drawing/2014/main" id="{695B9AF1-5F2D-4615-83D4-CA141F5558C7}"/>
              </a:ext>
            </a:extLst>
          </p:cNvPr>
          <p:cNvSpPr>
            <a:spLocks noGrp="1"/>
          </p:cNvSpPr>
          <p:nvPr>
            <p:ph type="ftr" sz="quarter" idx="11"/>
          </p:nvPr>
        </p:nvSpPr>
        <p:spPr>
          <a:xfrm>
            <a:off x="2221968" y="5924639"/>
            <a:ext cx="6007632" cy="365125"/>
          </a:xfrm>
        </p:spPr>
        <p:txBody>
          <a:bodyPr/>
          <a:lstStyle>
            <a:lvl1pPr>
              <a:defRPr>
                <a:solidFill>
                  <a:schemeClr val="bg1"/>
                </a:solidFill>
              </a:defRPr>
            </a:lvl1pPr>
          </a:lstStyle>
          <a:p>
            <a:endParaRPr lang="pt-BR" dirty="0"/>
          </a:p>
        </p:txBody>
      </p:sp>
      <p:sp>
        <p:nvSpPr>
          <p:cNvPr id="6" name="Espaço Reservado para Número de Slide 5">
            <a:extLst>
              <a:ext uri="{FF2B5EF4-FFF2-40B4-BE49-F238E27FC236}">
                <a16:creationId xmlns:a16="http://schemas.microsoft.com/office/drawing/2014/main" id="{DAB69BE5-9ED2-499D-A461-BC7071BBE524}"/>
              </a:ext>
            </a:extLst>
          </p:cNvPr>
          <p:cNvSpPr>
            <a:spLocks noGrp="1"/>
          </p:cNvSpPr>
          <p:nvPr>
            <p:ph type="sldNum" sz="quarter" idx="12"/>
          </p:nvPr>
        </p:nvSpPr>
        <p:spPr>
          <a:xfrm>
            <a:off x="8569655" y="5924640"/>
            <a:ext cx="1195720" cy="365125"/>
          </a:xfrm>
        </p:spPr>
        <p:txBody>
          <a:bodyPr/>
          <a:lstStyle>
            <a:lvl1pPr>
              <a:defRPr>
                <a:solidFill>
                  <a:schemeClr val="bg1"/>
                </a:solidFill>
              </a:defRPr>
            </a:lvl1pPr>
          </a:lstStyle>
          <a:p>
            <a:fld id="{46016F14-41C8-42A0-A751-72D01404B6D7}" type="slidenum">
              <a:rPr lang="pt-BR" smtClean="0"/>
              <a:pPr/>
              <a:t>‹nº›</a:t>
            </a:fld>
            <a:endParaRPr lang="pt-BR" dirty="0"/>
          </a:p>
        </p:txBody>
      </p:sp>
      <p:pic>
        <p:nvPicPr>
          <p:cNvPr id="9" name="Imagem 8">
            <a:extLst>
              <a:ext uri="{FF2B5EF4-FFF2-40B4-BE49-F238E27FC236}">
                <a16:creationId xmlns:a16="http://schemas.microsoft.com/office/drawing/2014/main" id="{EFF6D245-76FA-41BF-92E0-75557C201A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Tree>
    <p:extLst>
      <p:ext uri="{BB962C8B-B14F-4D97-AF65-F5344CB8AC3E}">
        <p14:creationId xmlns:p14="http://schemas.microsoft.com/office/powerpoint/2010/main" val="1982828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ítulo e Conteúdo Direita (Escuro)">
    <p:spTree>
      <p:nvGrpSpPr>
        <p:cNvPr id="1" name=""/>
        <p:cNvGrpSpPr/>
        <p:nvPr/>
      </p:nvGrpSpPr>
      <p:grpSpPr>
        <a:xfrm>
          <a:off x="0" y="0"/>
          <a:ext cx="0" cy="0"/>
          <a:chOff x="0" y="0"/>
          <a:chExt cx="0" cy="0"/>
        </a:xfrm>
      </p:grpSpPr>
      <p:pic>
        <p:nvPicPr>
          <p:cNvPr id="11" name="Imagem 10">
            <a:extLst>
              <a:ext uri="{FF2B5EF4-FFF2-40B4-BE49-F238E27FC236}">
                <a16:creationId xmlns:a16="http://schemas.microsoft.com/office/drawing/2014/main" id="{CD341943-BAF0-4955-9CB4-EC99A303206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791368" y="-3468383"/>
            <a:ext cx="19851186" cy="11588802"/>
          </a:xfrm>
          <a:prstGeom prst="rect">
            <a:avLst/>
          </a:prstGeom>
        </p:spPr>
      </p:pic>
      <p:sp>
        <p:nvSpPr>
          <p:cNvPr id="2" name="Título 1">
            <a:extLst>
              <a:ext uri="{FF2B5EF4-FFF2-40B4-BE49-F238E27FC236}">
                <a16:creationId xmlns:a16="http://schemas.microsoft.com/office/drawing/2014/main" id="{7973F174-0461-45A7-8F99-0019B1D8AD98}"/>
              </a:ext>
            </a:extLst>
          </p:cNvPr>
          <p:cNvSpPr>
            <a:spLocks noGrp="1"/>
          </p:cNvSpPr>
          <p:nvPr>
            <p:ph type="title" hasCustomPrompt="1"/>
          </p:nvPr>
        </p:nvSpPr>
        <p:spPr>
          <a:xfrm>
            <a:off x="2462768" y="608746"/>
            <a:ext cx="8999620" cy="1122453"/>
          </a:xfrm>
        </p:spPr>
        <p:txBody>
          <a:bodyPr/>
          <a:lstStyle>
            <a:lvl1pPr algn="l">
              <a:defRPr>
                <a:solidFill>
                  <a:schemeClr val="bg1"/>
                </a:solidFill>
              </a:defRPr>
            </a:lvl1pPr>
          </a:lstStyle>
          <a:p>
            <a:r>
              <a:rPr lang="pt-BR" dirty="0"/>
              <a:t>CLIQUE PARA EDITAR O TÍTULO MESTRE</a:t>
            </a:r>
          </a:p>
        </p:txBody>
      </p:sp>
      <p:sp>
        <p:nvSpPr>
          <p:cNvPr id="3" name="Espaço Reservado para Conteúdo 2">
            <a:extLst>
              <a:ext uri="{FF2B5EF4-FFF2-40B4-BE49-F238E27FC236}">
                <a16:creationId xmlns:a16="http://schemas.microsoft.com/office/drawing/2014/main" id="{13F39EC3-EAB6-41B1-AF6D-1FF09E90B0E4}"/>
              </a:ext>
            </a:extLst>
          </p:cNvPr>
          <p:cNvSpPr>
            <a:spLocks noGrp="1"/>
          </p:cNvSpPr>
          <p:nvPr>
            <p:ph idx="1"/>
          </p:nvPr>
        </p:nvSpPr>
        <p:spPr>
          <a:xfrm>
            <a:off x="2454442" y="1934308"/>
            <a:ext cx="8999621" cy="378722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F9899C2A-8D75-473A-9DFD-EC391EC95584}"/>
              </a:ext>
            </a:extLst>
          </p:cNvPr>
          <p:cNvSpPr>
            <a:spLocks noGrp="1"/>
          </p:cNvSpPr>
          <p:nvPr>
            <p:ph type="dt" sz="half" idx="10"/>
          </p:nvPr>
        </p:nvSpPr>
        <p:spPr>
          <a:xfrm>
            <a:off x="2455430" y="5924640"/>
            <a:ext cx="1195719" cy="365125"/>
          </a:xfrm>
        </p:spPr>
        <p:txBody>
          <a:bodyPr/>
          <a:lstStyle>
            <a:lvl1pPr>
              <a:defRPr>
                <a:solidFill>
                  <a:schemeClr val="bg1"/>
                </a:solidFill>
              </a:defRPr>
            </a:lvl1pPr>
          </a:lstStyle>
          <a:p>
            <a:fld id="{14D8BB3C-6B53-46BD-A4F0-0757B46599C3}" type="datetimeFigureOut">
              <a:rPr lang="pt-BR" smtClean="0"/>
              <a:pPr/>
              <a:t>25/03/2025</a:t>
            </a:fld>
            <a:endParaRPr lang="pt-BR" dirty="0"/>
          </a:p>
        </p:txBody>
      </p:sp>
      <p:sp>
        <p:nvSpPr>
          <p:cNvPr id="5" name="Espaço Reservado para Rodapé 4">
            <a:extLst>
              <a:ext uri="{FF2B5EF4-FFF2-40B4-BE49-F238E27FC236}">
                <a16:creationId xmlns:a16="http://schemas.microsoft.com/office/drawing/2014/main" id="{695B9AF1-5F2D-4615-83D4-CA141F5558C7}"/>
              </a:ext>
            </a:extLst>
          </p:cNvPr>
          <p:cNvSpPr>
            <a:spLocks noGrp="1"/>
          </p:cNvSpPr>
          <p:nvPr>
            <p:ph type="ftr" sz="quarter" idx="11"/>
          </p:nvPr>
        </p:nvSpPr>
        <p:spPr>
          <a:xfrm>
            <a:off x="3982453" y="5924639"/>
            <a:ext cx="5989279" cy="365125"/>
          </a:xfrm>
        </p:spPr>
        <p:txBody>
          <a:bodyPr/>
          <a:lstStyle>
            <a:lvl1pPr>
              <a:defRPr>
                <a:solidFill>
                  <a:schemeClr val="bg1"/>
                </a:solidFill>
              </a:defRPr>
            </a:lvl1pPr>
          </a:lstStyle>
          <a:p>
            <a:endParaRPr lang="pt-BR" dirty="0"/>
          </a:p>
        </p:txBody>
      </p:sp>
      <p:sp>
        <p:nvSpPr>
          <p:cNvPr id="6" name="Espaço Reservado para Número de Slide 5">
            <a:extLst>
              <a:ext uri="{FF2B5EF4-FFF2-40B4-BE49-F238E27FC236}">
                <a16:creationId xmlns:a16="http://schemas.microsoft.com/office/drawing/2014/main" id="{DAB69BE5-9ED2-499D-A461-BC7071BBE524}"/>
              </a:ext>
            </a:extLst>
          </p:cNvPr>
          <p:cNvSpPr>
            <a:spLocks noGrp="1"/>
          </p:cNvSpPr>
          <p:nvPr>
            <p:ph type="sldNum" sz="quarter" idx="12"/>
          </p:nvPr>
        </p:nvSpPr>
        <p:spPr>
          <a:xfrm>
            <a:off x="10307060" y="5924640"/>
            <a:ext cx="829692" cy="365125"/>
          </a:xfrm>
        </p:spPr>
        <p:txBody>
          <a:bodyPr/>
          <a:lstStyle>
            <a:lvl1pPr>
              <a:defRPr>
                <a:solidFill>
                  <a:schemeClr val="bg1"/>
                </a:solidFill>
              </a:defRPr>
            </a:lvl1pPr>
          </a:lstStyle>
          <a:p>
            <a:fld id="{46016F14-41C8-42A0-A751-72D01404B6D7}" type="slidenum">
              <a:rPr lang="pt-BR" smtClean="0"/>
              <a:pPr/>
              <a:t>‹nº›</a:t>
            </a:fld>
            <a:endParaRPr lang="pt-BR" dirty="0"/>
          </a:p>
        </p:txBody>
      </p:sp>
      <p:pic>
        <p:nvPicPr>
          <p:cNvPr id="9" name="Imagem 8">
            <a:extLst>
              <a:ext uri="{FF2B5EF4-FFF2-40B4-BE49-F238E27FC236}">
                <a16:creationId xmlns:a16="http://schemas.microsoft.com/office/drawing/2014/main" id="{EFF6D245-76FA-41BF-92E0-75557C201A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Tree>
    <p:extLst>
      <p:ext uri="{BB962C8B-B14F-4D97-AF65-F5344CB8AC3E}">
        <p14:creationId xmlns:p14="http://schemas.microsoft.com/office/powerpoint/2010/main" val="1027367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 e Mais Espaço">
    <p:spTree>
      <p:nvGrpSpPr>
        <p:cNvPr id="1" name=""/>
        <p:cNvGrpSpPr/>
        <p:nvPr/>
      </p:nvGrpSpPr>
      <p:grpSpPr>
        <a:xfrm>
          <a:off x="0" y="0"/>
          <a:ext cx="0" cy="0"/>
          <a:chOff x="0" y="0"/>
          <a:chExt cx="0" cy="0"/>
        </a:xfrm>
      </p:grpSpPr>
      <p:pic>
        <p:nvPicPr>
          <p:cNvPr id="6" name="Imagem 5" descr="Tela de computador com texto preto sobre fundo escuro&#10;&#10;Descrição gerada automaticamente com confiança média">
            <a:extLst>
              <a:ext uri="{FF2B5EF4-FFF2-40B4-BE49-F238E27FC236}">
                <a16:creationId xmlns:a16="http://schemas.microsoft.com/office/drawing/2014/main" id="{D650A5DA-CBC5-4A17-BDD6-EBE1DDAAF7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1"/>
          </a:xfrm>
          <a:prstGeom prst="rect">
            <a:avLst/>
          </a:prstGeom>
        </p:spPr>
      </p:pic>
      <p:sp>
        <p:nvSpPr>
          <p:cNvPr id="2" name="Título 1">
            <a:extLst>
              <a:ext uri="{FF2B5EF4-FFF2-40B4-BE49-F238E27FC236}">
                <a16:creationId xmlns:a16="http://schemas.microsoft.com/office/drawing/2014/main" id="{20DBB1C4-3E84-4211-9AC5-82AD210D138C}"/>
              </a:ext>
            </a:extLst>
          </p:cNvPr>
          <p:cNvSpPr>
            <a:spLocks noGrp="1"/>
          </p:cNvSpPr>
          <p:nvPr>
            <p:ph type="title" hasCustomPrompt="1"/>
          </p:nvPr>
        </p:nvSpPr>
        <p:spPr/>
        <p:txBody>
          <a:bodyPr/>
          <a:lstStyle>
            <a:lvl1pPr algn="ctr">
              <a:defRPr/>
            </a:lvl1pPr>
          </a:lstStyle>
          <a:p>
            <a:r>
              <a:rPr lang="pt-BR" dirty="0"/>
              <a:t>CLIQUE PARA EDITAR O TÍTULO MESTRE</a:t>
            </a:r>
          </a:p>
        </p:txBody>
      </p:sp>
      <p:sp>
        <p:nvSpPr>
          <p:cNvPr id="3" name="Espaço Reservado para Data 2">
            <a:extLst>
              <a:ext uri="{FF2B5EF4-FFF2-40B4-BE49-F238E27FC236}">
                <a16:creationId xmlns:a16="http://schemas.microsoft.com/office/drawing/2014/main" id="{C99E7852-A458-4FA9-84E7-B5740A11A935}"/>
              </a:ext>
            </a:extLst>
          </p:cNvPr>
          <p:cNvSpPr>
            <a:spLocks noGrp="1"/>
          </p:cNvSpPr>
          <p:nvPr>
            <p:ph type="dt" sz="half" idx="10"/>
          </p:nvPr>
        </p:nvSpPr>
        <p:spPr/>
        <p:txBody>
          <a:bodyPr/>
          <a:lstStyle/>
          <a:p>
            <a:fld id="{14D8BB3C-6B53-46BD-A4F0-0757B46599C3}" type="datetimeFigureOut">
              <a:rPr lang="pt-BR" smtClean="0"/>
              <a:t>25/03/2025</a:t>
            </a:fld>
            <a:endParaRPr lang="pt-BR"/>
          </a:p>
        </p:txBody>
      </p:sp>
      <p:sp>
        <p:nvSpPr>
          <p:cNvPr id="4" name="Espaço Reservado para Rodapé 3">
            <a:extLst>
              <a:ext uri="{FF2B5EF4-FFF2-40B4-BE49-F238E27FC236}">
                <a16:creationId xmlns:a16="http://schemas.microsoft.com/office/drawing/2014/main" id="{D3B1C282-3269-448A-8FE7-0E4AC610B50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22E26CDE-E8A8-4B72-95B7-66623629C9AF}"/>
              </a:ext>
            </a:extLst>
          </p:cNvPr>
          <p:cNvSpPr>
            <a:spLocks noGrp="1"/>
          </p:cNvSpPr>
          <p:nvPr>
            <p:ph type="sldNum" sz="quarter" idx="12"/>
          </p:nvPr>
        </p:nvSpPr>
        <p:spPr/>
        <p:txBody>
          <a:bodyPr/>
          <a:lstStyle/>
          <a:p>
            <a:fld id="{46016F14-41C8-42A0-A751-72D01404B6D7}" type="slidenum">
              <a:rPr lang="pt-BR" smtClean="0"/>
              <a:t>‹nº›</a:t>
            </a:fld>
            <a:endParaRPr lang="pt-BR"/>
          </a:p>
        </p:txBody>
      </p:sp>
      <p:pic>
        <p:nvPicPr>
          <p:cNvPr id="7" name="Imagem 6">
            <a:extLst>
              <a:ext uri="{FF2B5EF4-FFF2-40B4-BE49-F238E27FC236}">
                <a16:creationId xmlns:a16="http://schemas.microsoft.com/office/drawing/2014/main" id="{2D4A7DCA-D76F-447F-BC5C-37B38660BABD}"/>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
        <p:nvSpPr>
          <p:cNvPr id="9" name="Espaço Reservado para Conteúdo 8">
            <a:extLst>
              <a:ext uri="{FF2B5EF4-FFF2-40B4-BE49-F238E27FC236}">
                <a16:creationId xmlns:a16="http://schemas.microsoft.com/office/drawing/2014/main" id="{6BD76F00-ACA6-404B-A55A-9A2EF5B7BC84}"/>
              </a:ext>
            </a:extLst>
          </p:cNvPr>
          <p:cNvSpPr>
            <a:spLocks noGrp="1"/>
          </p:cNvSpPr>
          <p:nvPr>
            <p:ph sz="quarter" idx="13"/>
          </p:nvPr>
        </p:nvSpPr>
        <p:spPr>
          <a:xfrm>
            <a:off x="838200" y="1894758"/>
            <a:ext cx="10515600" cy="379635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Tree>
    <p:extLst>
      <p:ext uri="{BB962C8B-B14F-4D97-AF65-F5344CB8AC3E}">
        <p14:creationId xmlns:p14="http://schemas.microsoft.com/office/powerpoint/2010/main" val="4018025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pic>
        <p:nvPicPr>
          <p:cNvPr id="6" name="Imagem 5" descr="Tela de computador com texto preto sobre fundo escuro&#10;&#10;Descrição gerada automaticamente com confiança média">
            <a:extLst>
              <a:ext uri="{FF2B5EF4-FFF2-40B4-BE49-F238E27FC236}">
                <a16:creationId xmlns:a16="http://schemas.microsoft.com/office/drawing/2014/main" id="{01D837B4-9215-43AA-A7DA-A27AC17E92F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1"/>
          </a:xfrm>
          <a:prstGeom prst="rect">
            <a:avLst/>
          </a:prstGeom>
        </p:spPr>
      </p:pic>
      <p:sp>
        <p:nvSpPr>
          <p:cNvPr id="2" name="Espaço Reservado para Data 1">
            <a:extLst>
              <a:ext uri="{FF2B5EF4-FFF2-40B4-BE49-F238E27FC236}">
                <a16:creationId xmlns:a16="http://schemas.microsoft.com/office/drawing/2014/main" id="{231110AF-7EA7-48B2-8AEF-6C48636DD640}"/>
              </a:ext>
            </a:extLst>
          </p:cNvPr>
          <p:cNvSpPr>
            <a:spLocks noGrp="1"/>
          </p:cNvSpPr>
          <p:nvPr>
            <p:ph type="dt" sz="half" idx="10"/>
          </p:nvPr>
        </p:nvSpPr>
        <p:spPr/>
        <p:txBody>
          <a:bodyPr/>
          <a:lstStyle/>
          <a:p>
            <a:fld id="{14D8BB3C-6B53-46BD-A4F0-0757B46599C3}" type="datetimeFigureOut">
              <a:rPr lang="pt-BR" smtClean="0"/>
              <a:t>25/03/2025</a:t>
            </a:fld>
            <a:endParaRPr lang="pt-BR"/>
          </a:p>
        </p:txBody>
      </p:sp>
      <p:sp>
        <p:nvSpPr>
          <p:cNvPr id="3" name="Espaço Reservado para Rodapé 2">
            <a:extLst>
              <a:ext uri="{FF2B5EF4-FFF2-40B4-BE49-F238E27FC236}">
                <a16:creationId xmlns:a16="http://schemas.microsoft.com/office/drawing/2014/main" id="{91438FAC-4893-4625-9039-FE3A63683678}"/>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1169DAC9-0730-4CD0-A32B-23AEA78F2DE2}"/>
              </a:ext>
            </a:extLst>
          </p:cNvPr>
          <p:cNvSpPr>
            <a:spLocks noGrp="1"/>
          </p:cNvSpPr>
          <p:nvPr>
            <p:ph type="sldNum" sz="quarter" idx="12"/>
          </p:nvPr>
        </p:nvSpPr>
        <p:spPr/>
        <p:txBody>
          <a:bodyPr/>
          <a:lstStyle/>
          <a:p>
            <a:fld id="{46016F14-41C8-42A0-A751-72D01404B6D7}" type="slidenum">
              <a:rPr lang="pt-BR" smtClean="0"/>
              <a:t>‹nº›</a:t>
            </a:fld>
            <a:endParaRPr lang="pt-BR"/>
          </a:p>
        </p:txBody>
      </p:sp>
      <p:pic>
        <p:nvPicPr>
          <p:cNvPr id="7" name="Imagem 6">
            <a:extLst>
              <a:ext uri="{FF2B5EF4-FFF2-40B4-BE49-F238E27FC236}">
                <a16:creationId xmlns:a16="http://schemas.microsoft.com/office/drawing/2014/main" id="{77963B50-A512-44A7-896A-F368BA44347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1353800" y="6024588"/>
            <a:ext cx="252985" cy="265177"/>
          </a:xfrm>
          <a:prstGeom prst="rect">
            <a:avLst/>
          </a:prstGeom>
        </p:spPr>
      </p:pic>
    </p:spTree>
    <p:extLst>
      <p:ext uri="{BB962C8B-B14F-4D97-AF65-F5344CB8AC3E}">
        <p14:creationId xmlns:p14="http://schemas.microsoft.com/office/powerpoint/2010/main" val="1551284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C2235EBF-FFA7-423B-81C1-214740CFC709}"/>
              </a:ext>
            </a:extLst>
          </p:cNvPr>
          <p:cNvSpPr>
            <a:spLocks noGrp="1"/>
          </p:cNvSpPr>
          <p:nvPr>
            <p:ph type="title"/>
          </p:nvPr>
        </p:nvSpPr>
        <p:spPr>
          <a:xfrm>
            <a:off x="838200" y="568235"/>
            <a:ext cx="10515600" cy="1122453"/>
          </a:xfrm>
          <a:prstGeom prst="rect">
            <a:avLst/>
          </a:prstGeom>
        </p:spPr>
        <p:txBody>
          <a:bodyPr vert="horz" lIns="91440" tIns="45720" rIns="91440" bIns="45720" rtlCol="0" anchor="ctr">
            <a:noAutofit/>
          </a:bodyPr>
          <a:lstStyle/>
          <a:p>
            <a:r>
              <a:rPr lang="pt-BR" dirty="0"/>
              <a:t>CLIQUE PARA EDITAR O TÍTULO MESTRE</a:t>
            </a:r>
          </a:p>
        </p:txBody>
      </p:sp>
      <p:sp>
        <p:nvSpPr>
          <p:cNvPr id="3" name="Espaço Reservado para Texto 2">
            <a:extLst>
              <a:ext uri="{FF2B5EF4-FFF2-40B4-BE49-F238E27FC236}">
                <a16:creationId xmlns:a16="http://schemas.microsoft.com/office/drawing/2014/main" id="{8E6D118E-2E06-4109-843A-6FCF4EC67E9F}"/>
              </a:ext>
            </a:extLst>
          </p:cNvPr>
          <p:cNvSpPr>
            <a:spLocks noGrp="1"/>
          </p:cNvSpPr>
          <p:nvPr>
            <p:ph type="body" idx="1"/>
          </p:nvPr>
        </p:nvSpPr>
        <p:spPr>
          <a:xfrm>
            <a:off x="838200" y="1825625"/>
            <a:ext cx="10515600" cy="3895905"/>
          </a:xfrm>
          <a:prstGeom prst="rect">
            <a:avLst/>
          </a:prstGeom>
        </p:spPr>
        <p:txBody>
          <a:bodyPr vert="horz" lIns="91440" tIns="45720" rIns="91440" bIns="45720" rtlCol="0">
            <a:normAutofit/>
          </a:bodyPr>
          <a:lstStyle/>
          <a:p>
            <a:pPr lvl="0"/>
            <a:r>
              <a:rPr lang="pt-BR" dirty="0"/>
              <a:t>Clique para editar os estilos de texto Mestres</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4" name="Espaço Reservado para Data 3">
            <a:extLst>
              <a:ext uri="{FF2B5EF4-FFF2-40B4-BE49-F238E27FC236}">
                <a16:creationId xmlns:a16="http://schemas.microsoft.com/office/drawing/2014/main" id="{DFACD35E-55A0-4327-B9C0-A80C08D0369F}"/>
              </a:ext>
            </a:extLst>
          </p:cNvPr>
          <p:cNvSpPr>
            <a:spLocks noGrp="1"/>
          </p:cNvSpPr>
          <p:nvPr>
            <p:ph type="dt" sz="half" idx="2"/>
          </p:nvPr>
        </p:nvSpPr>
        <p:spPr>
          <a:xfrm>
            <a:off x="838200" y="5924640"/>
            <a:ext cx="2283823"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D8BB3C-6B53-46BD-A4F0-0757B46599C3}" type="datetimeFigureOut">
              <a:rPr lang="pt-BR" smtClean="0"/>
              <a:t>25/03/2025</a:t>
            </a:fld>
            <a:endParaRPr lang="pt-BR" dirty="0"/>
          </a:p>
        </p:txBody>
      </p:sp>
      <p:sp>
        <p:nvSpPr>
          <p:cNvPr id="5" name="Espaço Reservado para Rodapé 4">
            <a:extLst>
              <a:ext uri="{FF2B5EF4-FFF2-40B4-BE49-F238E27FC236}">
                <a16:creationId xmlns:a16="http://schemas.microsoft.com/office/drawing/2014/main" id="{42563E96-409C-438A-AB85-4BC35FC121D0}"/>
              </a:ext>
            </a:extLst>
          </p:cNvPr>
          <p:cNvSpPr>
            <a:spLocks noGrp="1"/>
          </p:cNvSpPr>
          <p:nvPr>
            <p:ph type="ftr" sz="quarter" idx="3"/>
          </p:nvPr>
        </p:nvSpPr>
        <p:spPr>
          <a:xfrm>
            <a:off x="3533504" y="5924640"/>
            <a:ext cx="466997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Espaço Reservado para Número de Slide 5">
            <a:extLst>
              <a:ext uri="{FF2B5EF4-FFF2-40B4-BE49-F238E27FC236}">
                <a16:creationId xmlns:a16="http://schemas.microsoft.com/office/drawing/2014/main" id="{B1B51195-407B-456F-8362-F3471BA84CEE}"/>
              </a:ext>
            </a:extLst>
          </p:cNvPr>
          <p:cNvSpPr>
            <a:spLocks noGrp="1"/>
          </p:cNvSpPr>
          <p:nvPr>
            <p:ph type="sldNum" sz="quarter" idx="4"/>
          </p:nvPr>
        </p:nvSpPr>
        <p:spPr>
          <a:xfrm>
            <a:off x="8610600" y="5924640"/>
            <a:ext cx="2283823"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016F14-41C8-42A0-A751-72D01404B6D7}" type="slidenum">
              <a:rPr lang="pt-BR" smtClean="0"/>
              <a:t>‹nº›</a:t>
            </a:fld>
            <a:endParaRPr lang="pt-BR"/>
          </a:p>
        </p:txBody>
      </p:sp>
      <p:sp>
        <p:nvSpPr>
          <p:cNvPr id="7" name="Retângulo 6">
            <a:extLst>
              <a:ext uri="{FF2B5EF4-FFF2-40B4-BE49-F238E27FC236}">
                <a16:creationId xmlns:a16="http://schemas.microsoft.com/office/drawing/2014/main" id="{B679DD90-3649-495B-825A-3D584B517F64}"/>
              </a:ext>
            </a:extLst>
          </p:cNvPr>
          <p:cNvSpPr/>
          <p:nvPr userDrawn="1"/>
        </p:nvSpPr>
        <p:spPr>
          <a:xfrm>
            <a:off x="426720" y="365125"/>
            <a:ext cx="11338560" cy="612775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bg2">
                  <a:lumMod val="90000"/>
                </a:schemeClr>
              </a:solidFill>
            </a:endParaRPr>
          </a:p>
        </p:txBody>
      </p:sp>
    </p:spTree>
    <p:extLst>
      <p:ext uri="{BB962C8B-B14F-4D97-AF65-F5344CB8AC3E}">
        <p14:creationId xmlns:p14="http://schemas.microsoft.com/office/powerpoint/2010/main" val="961683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8" r:id="rId3"/>
    <p:sldLayoutId id="2147483663" r:id="rId4"/>
    <p:sldLayoutId id="2147483659" r:id="rId5"/>
    <p:sldLayoutId id="2147483660" r:id="rId6"/>
    <p:sldLayoutId id="2147483661" r:id="rId7"/>
    <p:sldLayoutId id="2147483662" r:id="rId8"/>
    <p:sldLayoutId id="2147483654" r:id="rId9"/>
    <p:sldLayoutId id="2147483655" r:id="rId10"/>
  </p:sldLayoutIdLst>
  <p:txStyles>
    <p:titleStyle>
      <a:lvl1pPr algn="l" defTabSz="914400" rtl="0" eaLnBrk="1" latinLnBrk="0" hangingPunct="1">
        <a:lnSpc>
          <a:spcPct val="90000"/>
        </a:lnSpc>
        <a:spcBef>
          <a:spcPct val="0"/>
        </a:spcBef>
        <a:buNone/>
        <a:defRPr sz="3600" b="1"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9.xml"/><Relationship Id="rId1" Type="http://schemas.openxmlformats.org/officeDocument/2006/relationships/video" Target="https://www.youtube.com/embed/ruN_LR60ZfQ?feature=oembe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Banksy | Tudo Sobre | G1">
            <a:extLst>
              <a:ext uri="{FF2B5EF4-FFF2-40B4-BE49-F238E27FC236}">
                <a16:creationId xmlns:a16="http://schemas.microsoft.com/office/drawing/2014/main" id="{B3175088-2016-4D2E-9740-AB2AA9F023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3753" y="446973"/>
            <a:ext cx="10824882" cy="5964053"/>
          </a:xfrm>
          <a:prstGeom prst="rect">
            <a:avLst/>
          </a:prstGeom>
          <a:noFill/>
          <a:extLst>
            <a:ext uri="{909E8E84-426E-40DD-AFC4-6F175D3DCCD1}">
              <a14:hiddenFill xmlns:a14="http://schemas.microsoft.com/office/drawing/2010/main">
                <a:solidFill>
                  <a:srgbClr val="FFFFFF"/>
                </a:solidFill>
              </a14:hiddenFill>
            </a:ext>
          </a:extLst>
        </p:spPr>
      </p:pic>
      <p:sp>
        <p:nvSpPr>
          <p:cNvPr id="2" name="Fluxograma: Fita Perfurada 1">
            <a:extLst>
              <a:ext uri="{FF2B5EF4-FFF2-40B4-BE49-F238E27FC236}">
                <a16:creationId xmlns:a16="http://schemas.microsoft.com/office/drawing/2014/main" id="{970C5A98-5AA2-4905-995F-D4482826E8A5}"/>
              </a:ext>
            </a:extLst>
          </p:cNvPr>
          <p:cNvSpPr/>
          <p:nvPr/>
        </p:nvSpPr>
        <p:spPr>
          <a:xfrm>
            <a:off x="5056093" y="748687"/>
            <a:ext cx="5405718" cy="1994513"/>
          </a:xfrm>
          <a:prstGeom prst="flowChartPunchedTap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pt-BR"/>
          </a:p>
        </p:txBody>
      </p:sp>
      <p:sp>
        <p:nvSpPr>
          <p:cNvPr id="3" name="CaixaDeTexto 2">
            <a:extLst>
              <a:ext uri="{FF2B5EF4-FFF2-40B4-BE49-F238E27FC236}">
                <a16:creationId xmlns:a16="http://schemas.microsoft.com/office/drawing/2014/main" id="{326A4DCF-5AFD-4DA3-8344-7FF1EA19AC6F}"/>
              </a:ext>
            </a:extLst>
          </p:cNvPr>
          <p:cNvSpPr txBox="1"/>
          <p:nvPr/>
        </p:nvSpPr>
        <p:spPr>
          <a:xfrm>
            <a:off x="5311587" y="1270308"/>
            <a:ext cx="4894729" cy="1200329"/>
          </a:xfrm>
          <a:prstGeom prst="rect">
            <a:avLst/>
          </a:prstGeom>
          <a:noFill/>
        </p:spPr>
        <p:txBody>
          <a:bodyPr wrap="square" rtlCol="0">
            <a:spAutoFit/>
          </a:bodyPr>
          <a:lstStyle/>
          <a:p>
            <a:pPr algn="ctr"/>
            <a:r>
              <a:rPr lang="pt-BR" sz="4000" b="1" dirty="0">
                <a:solidFill>
                  <a:schemeClr val="accent1"/>
                </a:solidFill>
                <a:latin typeface="+mj-lt"/>
                <a:ea typeface="+mj-ea"/>
                <a:cs typeface="+mj-cs"/>
              </a:rPr>
              <a:t>Ética e Saber Fazer</a:t>
            </a:r>
          </a:p>
          <a:p>
            <a:r>
              <a:rPr lang="pt-BR" sz="3200" dirty="0"/>
              <a:t>Semana 5</a:t>
            </a:r>
          </a:p>
        </p:txBody>
      </p:sp>
    </p:spTree>
    <p:extLst>
      <p:ext uri="{BB962C8B-B14F-4D97-AF65-F5344CB8AC3E}">
        <p14:creationId xmlns:p14="http://schemas.microsoft.com/office/powerpoint/2010/main" val="115342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76C56D-B3DF-4620-80DA-1F2925AE3500}"/>
              </a:ext>
            </a:extLst>
          </p:cNvPr>
          <p:cNvSpPr>
            <a:spLocks noGrp="1"/>
          </p:cNvSpPr>
          <p:nvPr>
            <p:ph type="title"/>
          </p:nvPr>
        </p:nvSpPr>
        <p:spPr/>
        <p:txBody>
          <a:bodyPr/>
          <a:lstStyle/>
          <a:p>
            <a:r>
              <a:rPr lang="pt-BR" dirty="0"/>
              <a:t>Recapitulando</a:t>
            </a:r>
          </a:p>
        </p:txBody>
      </p:sp>
      <p:sp>
        <p:nvSpPr>
          <p:cNvPr id="3" name="Espaço Reservado para Conteúdo 2">
            <a:extLst>
              <a:ext uri="{FF2B5EF4-FFF2-40B4-BE49-F238E27FC236}">
                <a16:creationId xmlns:a16="http://schemas.microsoft.com/office/drawing/2014/main" id="{466F315D-F419-42CA-9B50-2C9319393BB2}"/>
              </a:ext>
            </a:extLst>
          </p:cNvPr>
          <p:cNvSpPr>
            <a:spLocks noGrp="1"/>
          </p:cNvSpPr>
          <p:nvPr>
            <p:ph sz="quarter" idx="13"/>
          </p:nvPr>
        </p:nvSpPr>
        <p:spPr/>
        <p:txBody>
          <a:bodyPr>
            <a:normAutofit fontScale="85000" lnSpcReduction="20000"/>
          </a:bodyPr>
          <a:lstStyle/>
          <a:p>
            <a:r>
              <a:rPr lang="pt-BR" dirty="0"/>
              <a:t>Pensamento Complexo: Parte da crítica ao modelo cartesiano reducionista - </a:t>
            </a:r>
            <a:r>
              <a:rPr lang="pt-BR" sz="2800" dirty="0"/>
              <a:t>O ser humano é um ser </a:t>
            </a:r>
            <a:r>
              <a:rPr lang="pt-BR" sz="2800" b="1" dirty="0"/>
              <a:t>multidimensional</a:t>
            </a:r>
            <a:r>
              <a:rPr lang="pt-BR" sz="2800" dirty="0"/>
              <a:t>: cada pessoa é um </a:t>
            </a:r>
            <a:r>
              <a:rPr lang="pt-BR" sz="2800" b="1" dirty="0"/>
              <a:t>universo de possibilidades </a:t>
            </a:r>
            <a:r>
              <a:rPr lang="pt-BR" sz="2800" dirty="0"/>
              <a:t>– é sempre possível desenvolver outras habilidades.</a:t>
            </a:r>
          </a:p>
          <a:p>
            <a:r>
              <a:rPr lang="pt-BR" dirty="0"/>
              <a:t>Visão Sistêmica: </a:t>
            </a:r>
            <a:r>
              <a:rPr lang="pt-BR" sz="2800" dirty="0"/>
              <a:t>o conhecimento se dá pela </a:t>
            </a:r>
            <a:r>
              <a:rPr lang="pt-BR" sz="2800" b="1" dirty="0"/>
              <a:t>visão do todo </a:t>
            </a:r>
            <a:r>
              <a:rPr lang="pt-BR" sz="2800" dirty="0"/>
              <a:t>(holista), de </a:t>
            </a:r>
            <a:r>
              <a:rPr lang="pt-BR" sz="2800" b="1" dirty="0"/>
              <a:t>redes</a:t>
            </a:r>
            <a:r>
              <a:rPr lang="pt-BR" sz="2800" dirty="0"/>
              <a:t>, de </a:t>
            </a:r>
            <a:r>
              <a:rPr lang="pt-BR" sz="2800" b="1" dirty="0"/>
              <a:t>interligação</a:t>
            </a:r>
            <a:r>
              <a:rPr lang="pt-BR" sz="2800" dirty="0"/>
              <a:t>. Visão não antropocêntrica.</a:t>
            </a:r>
          </a:p>
          <a:p>
            <a:r>
              <a:rPr lang="pt-BR" dirty="0"/>
              <a:t>Cultura e Etnocentrismo: </a:t>
            </a:r>
            <a:r>
              <a:rPr lang="pt-BR" dirty="0">
                <a:solidFill>
                  <a:srgbClr val="000000"/>
                </a:solidFill>
              </a:rPr>
              <a:t>M</a:t>
            </a:r>
            <a:r>
              <a:rPr lang="pt-BR" sz="2800" b="0" i="0" u="none" strike="noStrike" baseline="0" dirty="0">
                <a:solidFill>
                  <a:srgbClr val="000000"/>
                </a:solidFill>
              </a:rPr>
              <a:t>odelos deterministas e redutores, em que as pessoas e os grupos ajuízam os outros a partir de suas representações, não dão conta das </a:t>
            </a:r>
            <a:r>
              <a:rPr lang="pt-BR" sz="2800" b="1" i="0" u="none" strike="noStrike" baseline="0" dirty="0">
                <a:solidFill>
                  <a:srgbClr val="000000"/>
                </a:solidFill>
              </a:rPr>
              <a:t>possibilidades e da complexidade da vida</a:t>
            </a:r>
            <a:r>
              <a:rPr lang="pt-BR" sz="2800" b="0" i="0" u="none" strike="noStrike" baseline="0" dirty="0">
                <a:solidFill>
                  <a:srgbClr val="000000"/>
                </a:solidFill>
              </a:rPr>
              <a:t>.</a:t>
            </a:r>
          </a:p>
          <a:p>
            <a:r>
              <a:rPr lang="pt-BR" sz="2800" dirty="0"/>
              <a:t>Filosofia da Diferença: reconhecimento do outro.</a:t>
            </a:r>
          </a:p>
          <a:p>
            <a:r>
              <a:rPr lang="pt-BR" dirty="0"/>
              <a:t>Viver a vida como uma obra de arte: Para viver, e viver bem, é preciso desenvolver uma técnica, uma </a:t>
            </a:r>
            <a:r>
              <a:rPr lang="pt-BR" b="1" dirty="0"/>
              <a:t>arte da existência</a:t>
            </a:r>
            <a:r>
              <a:rPr lang="pt-BR" dirty="0"/>
              <a:t>, uma </a:t>
            </a:r>
            <a:r>
              <a:rPr lang="pt-BR" b="1" dirty="0"/>
              <a:t>arte da vida.</a:t>
            </a:r>
            <a:endParaRPr lang="pt-BR" sz="2800" dirty="0"/>
          </a:p>
          <a:p>
            <a:endParaRPr lang="pt-BR" dirty="0"/>
          </a:p>
        </p:txBody>
      </p:sp>
    </p:spTree>
    <p:extLst>
      <p:ext uri="{BB962C8B-B14F-4D97-AF65-F5344CB8AC3E}">
        <p14:creationId xmlns:p14="http://schemas.microsoft.com/office/powerpoint/2010/main" val="220899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5200C6D9-7669-4A8C-84FD-DA0D8D186DF5}"/>
              </a:ext>
            </a:extLst>
          </p:cNvPr>
          <p:cNvSpPr>
            <a:spLocks noGrp="1"/>
          </p:cNvSpPr>
          <p:nvPr>
            <p:ph idx="1"/>
          </p:nvPr>
        </p:nvSpPr>
        <p:spPr/>
        <p:txBody>
          <a:bodyPr/>
          <a:lstStyle/>
          <a:p>
            <a:r>
              <a:rPr lang="pt-BR" dirty="0"/>
              <a:t>Estamos tratando desde o início do bimestre sobre Cultura, Ética e Diferença.</a:t>
            </a:r>
          </a:p>
          <a:p>
            <a:r>
              <a:rPr lang="pt-BR" dirty="0"/>
              <a:t>Mas, o que é ética? </a:t>
            </a:r>
            <a:r>
              <a:rPr lang="pt-BR" dirty="0">
                <a:solidFill>
                  <a:schemeClr val="tx1"/>
                </a:solidFill>
              </a:rPr>
              <a:t>Por que dar importância à reflexão ética em relação ao desenvolvimento pessoal e social?</a:t>
            </a:r>
          </a:p>
          <a:p>
            <a:r>
              <a:rPr lang="pt-BR" dirty="0"/>
              <a:t>O que nos faz sermos seres morais ou éticos? </a:t>
            </a:r>
          </a:p>
        </p:txBody>
      </p:sp>
    </p:spTree>
    <p:extLst>
      <p:ext uri="{BB962C8B-B14F-4D97-AF65-F5344CB8AC3E}">
        <p14:creationId xmlns:p14="http://schemas.microsoft.com/office/powerpoint/2010/main" val="154873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C988D6-5177-4CCA-BDC9-FF44DA416CF3}"/>
              </a:ext>
            </a:extLst>
          </p:cNvPr>
          <p:cNvSpPr>
            <a:spLocks noGrp="1"/>
          </p:cNvSpPr>
          <p:nvPr>
            <p:ph type="title"/>
          </p:nvPr>
        </p:nvSpPr>
        <p:spPr/>
        <p:txBody>
          <a:bodyPr/>
          <a:lstStyle/>
          <a:p>
            <a:r>
              <a:rPr lang="pt-BR" dirty="0"/>
              <a:t>Panorama</a:t>
            </a:r>
          </a:p>
        </p:txBody>
      </p:sp>
      <p:sp>
        <p:nvSpPr>
          <p:cNvPr id="3" name="Espaço Reservado para Conteúdo 2">
            <a:extLst>
              <a:ext uri="{FF2B5EF4-FFF2-40B4-BE49-F238E27FC236}">
                <a16:creationId xmlns:a16="http://schemas.microsoft.com/office/drawing/2014/main" id="{1E84B578-46A1-443D-820A-5438D9262960}"/>
              </a:ext>
            </a:extLst>
          </p:cNvPr>
          <p:cNvSpPr>
            <a:spLocks noGrp="1"/>
          </p:cNvSpPr>
          <p:nvPr>
            <p:ph sz="quarter" idx="13"/>
          </p:nvPr>
        </p:nvSpPr>
        <p:spPr/>
        <p:txBody>
          <a:bodyPr/>
          <a:lstStyle/>
          <a:p>
            <a:pPr marL="342900" indent="-342900">
              <a:buFont typeface="Arial" panose="020B0604020202020204" pitchFamily="34" charset="0"/>
              <a:buChar char="•"/>
            </a:pPr>
            <a:r>
              <a:rPr lang="pt-BR" dirty="0">
                <a:solidFill>
                  <a:schemeClr val="tx1"/>
                </a:solidFill>
              </a:rPr>
              <a:t>Na sociedade do consumo, tudo se transforma em mercadoria, as relações entram como mais um produto de consumo.</a:t>
            </a:r>
          </a:p>
          <a:p>
            <a:pPr marL="342900" indent="-342900">
              <a:buFont typeface="Arial" panose="020B0604020202020204" pitchFamily="34" charset="0"/>
              <a:buChar char="•"/>
            </a:pPr>
            <a:r>
              <a:rPr lang="pt-BR" dirty="0">
                <a:solidFill>
                  <a:schemeClr val="tx1"/>
                </a:solidFill>
              </a:rPr>
              <a:t>Enfraquecimento da responsabilidade: se não encontro meu idêntico (si mesmo), troco de mercadoria (e/ou invalido).</a:t>
            </a:r>
          </a:p>
          <a:p>
            <a:r>
              <a:rPr lang="pt-BR" dirty="0"/>
              <a:t>Ocorre o enfraquecimento da responsabilidade e do comprometimento com a construção de um projeto com o outro. </a:t>
            </a:r>
          </a:p>
        </p:txBody>
      </p:sp>
    </p:spTree>
    <p:extLst>
      <p:ext uri="{BB962C8B-B14F-4D97-AF65-F5344CB8AC3E}">
        <p14:creationId xmlns:p14="http://schemas.microsoft.com/office/powerpoint/2010/main" val="1773365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E63786-30E5-469E-A43A-BB85FB805C54}"/>
              </a:ext>
            </a:extLst>
          </p:cNvPr>
          <p:cNvSpPr>
            <a:spLocks noGrp="1"/>
          </p:cNvSpPr>
          <p:nvPr>
            <p:ph type="title"/>
          </p:nvPr>
        </p:nvSpPr>
        <p:spPr/>
        <p:txBody>
          <a:bodyPr/>
          <a:lstStyle/>
          <a:p>
            <a:r>
              <a:rPr lang="pt-BR" dirty="0"/>
              <a:t>Por outro lado...</a:t>
            </a:r>
          </a:p>
        </p:txBody>
      </p:sp>
      <p:sp>
        <p:nvSpPr>
          <p:cNvPr id="3" name="Espaço Reservado para Conteúdo 2">
            <a:extLst>
              <a:ext uri="{FF2B5EF4-FFF2-40B4-BE49-F238E27FC236}">
                <a16:creationId xmlns:a16="http://schemas.microsoft.com/office/drawing/2014/main" id="{3401E8B7-2AD9-4953-8CCF-8081B7A9065F}"/>
              </a:ext>
            </a:extLst>
          </p:cNvPr>
          <p:cNvSpPr>
            <a:spLocks noGrp="1"/>
          </p:cNvSpPr>
          <p:nvPr>
            <p:ph sz="quarter" idx="13"/>
          </p:nvPr>
        </p:nvSpPr>
        <p:spPr/>
        <p:txBody>
          <a:bodyPr>
            <a:normAutofit lnSpcReduction="10000"/>
          </a:bodyPr>
          <a:lstStyle/>
          <a:p>
            <a:r>
              <a:rPr lang="pt-BR" dirty="0"/>
              <a:t>Se clama por ética nos negócios, nos relacionamentos, na educação...</a:t>
            </a:r>
          </a:p>
          <a:p>
            <a:r>
              <a:rPr lang="pt-BR" dirty="0"/>
              <a:t>Buscamos </a:t>
            </a:r>
            <a:r>
              <a:rPr lang="pt-BR" b="1" dirty="0"/>
              <a:t>receitas prontas </a:t>
            </a:r>
            <a:r>
              <a:rPr lang="pt-BR" dirty="0"/>
              <a:t>em livros de pensamento positivo: trabalhar menos por obrigação e mais no que gostamos, multiplicar o lazer, a vida é para ser bem vivida, compramos pacotes prontos de lazer e de prazer...</a:t>
            </a:r>
          </a:p>
          <a:p>
            <a:r>
              <a:rPr lang="pt-BR" dirty="0"/>
              <a:t>Mas a reflexão crítica sobre </a:t>
            </a:r>
            <a:r>
              <a:rPr lang="pt-BR" b="1" dirty="0"/>
              <a:t>o que faz bem</a:t>
            </a:r>
            <a:r>
              <a:rPr lang="pt-BR" dirty="0"/>
              <a:t>, </a:t>
            </a:r>
            <a:r>
              <a:rPr lang="pt-BR" b="1" dirty="0"/>
              <a:t>como saber viver</a:t>
            </a:r>
            <a:r>
              <a:rPr lang="pt-BR" dirty="0"/>
              <a:t>, que prazer o ser humano pode experimentar numa relação positiva consigo, com o outro e com o planeta, merece mais cuidado. </a:t>
            </a:r>
          </a:p>
          <a:p>
            <a:endParaRPr lang="pt-BR" dirty="0"/>
          </a:p>
          <a:p>
            <a:endParaRPr lang="pt-BR" dirty="0"/>
          </a:p>
        </p:txBody>
      </p:sp>
    </p:spTree>
    <p:extLst>
      <p:ext uri="{BB962C8B-B14F-4D97-AF65-F5344CB8AC3E}">
        <p14:creationId xmlns:p14="http://schemas.microsoft.com/office/powerpoint/2010/main" val="720094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Qual a diferença entre ética e moral? - netmundi.org">
            <a:extLst>
              <a:ext uri="{FF2B5EF4-FFF2-40B4-BE49-F238E27FC236}">
                <a16:creationId xmlns:a16="http://schemas.microsoft.com/office/drawing/2014/main" id="{675B138C-B4A9-4348-A290-FE59F7A49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58" y="441793"/>
            <a:ext cx="9681883" cy="4276165"/>
          </a:xfrm>
          <a:prstGeom prst="rect">
            <a:avLst/>
          </a:prstGeom>
          <a:noFill/>
          <a:extLst>
            <a:ext uri="{909E8E84-426E-40DD-AFC4-6F175D3DCCD1}">
              <a14:hiddenFill xmlns:a14="http://schemas.microsoft.com/office/drawing/2010/main">
                <a:solidFill>
                  <a:srgbClr val="FFFFFF"/>
                </a:solidFill>
              </a14:hiddenFill>
            </a:ext>
          </a:extLst>
        </p:spPr>
      </p:pic>
      <p:sp>
        <p:nvSpPr>
          <p:cNvPr id="2" name="CaixaDeTexto 1">
            <a:extLst>
              <a:ext uri="{FF2B5EF4-FFF2-40B4-BE49-F238E27FC236}">
                <a16:creationId xmlns:a16="http://schemas.microsoft.com/office/drawing/2014/main" id="{9D3C41AB-DD5D-4399-AE8E-E53FCA6E2FAD}"/>
              </a:ext>
            </a:extLst>
          </p:cNvPr>
          <p:cNvSpPr txBox="1"/>
          <p:nvPr/>
        </p:nvSpPr>
        <p:spPr>
          <a:xfrm>
            <a:off x="1963271" y="4717958"/>
            <a:ext cx="8511988" cy="1569660"/>
          </a:xfrm>
          <a:prstGeom prst="rect">
            <a:avLst/>
          </a:prstGeom>
          <a:noFill/>
        </p:spPr>
        <p:txBody>
          <a:bodyPr wrap="square" rtlCol="0">
            <a:spAutoFit/>
          </a:bodyPr>
          <a:lstStyle/>
          <a:p>
            <a:pPr algn="ctr"/>
            <a:r>
              <a:rPr lang="pt-BR" sz="4800" b="1" dirty="0">
                <a:solidFill>
                  <a:schemeClr val="accent1"/>
                </a:solidFill>
                <a:latin typeface="+mj-lt"/>
                <a:ea typeface="+mj-ea"/>
                <a:cs typeface="+mj-cs"/>
              </a:rPr>
              <a:t>Definição dos Conceitos: Ética X Moral</a:t>
            </a:r>
          </a:p>
        </p:txBody>
      </p:sp>
    </p:spTree>
    <p:extLst>
      <p:ext uri="{BB962C8B-B14F-4D97-AF65-F5344CB8AC3E}">
        <p14:creationId xmlns:p14="http://schemas.microsoft.com/office/powerpoint/2010/main" val="2249966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E7CCF232-77E5-41DD-B569-955785EE49D6}"/>
              </a:ext>
            </a:extLst>
          </p:cNvPr>
          <p:cNvSpPr>
            <a:spLocks noGrp="1"/>
          </p:cNvSpPr>
          <p:nvPr>
            <p:ph sz="quarter" idx="13"/>
          </p:nvPr>
        </p:nvSpPr>
        <p:spPr>
          <a:xfrm>
            <a:off x="838200" y="1008530"/>
            <a:ext cx="10515600" cy="4682586"/>
          </a:xfrm>
        </p:spPr>
        <p:txBody>
          <a:bodyPr>
            <a:normAutofit/>
          </a:bodyPr>
          <a:lstStyle/>
          <a:p>
            <a:pPr algn="l"/>
            <a:r>
              <a:rPr lang="pt-BR" sz="2600" dirty="0"/>
              <a:t>Ética: procede do grego </a:t>
            </a:r>
            <a:r>
              <a:rPr lang="pt-BR" sz="2600" i="1" dirty="0" err="1"/>
              <a:t>ethos</a:t>
            </a:r>
            <a:r>
              <a:rPr lang="pt-BR" sz="2600" i="1" dirty="0"/>
              <a:t> =</a:t>
            </a:r>
            <a:r>
              <a:rPr lang="pt-BR" sz="2600" dirty="0"/>
              <a:t> morada, lugar em que vivemos. </a:t>
            </a:r>
          </a:p>
          <a:p>
            <a:pPr algn="l"/>
            <a:r>
              <a:rPr lang="pt-BR" sz="2600" dirty="0"/>
              <a:t>Posteriormente passou a significar “caráter”, modo de ser que uma pessoa ou um grupo vai adquirindo ao longo da vida.</a:t>
            </a:r>
          </a:p>
          <a:p>
            <a:pPr algn="l"/>
            <a:r>
              <a:rPr lang="pt-BR" sz="2600" dirty="0"/>
              <a:t>Moral: procede do latim </a:t>
            </a:r>
            <a:r>
              <a:rPr lang="pt-BR" sz="2600" i="1" dirty="0" err="1"/>
              <a:t>mos</a:t>
            </a:r>
            <a:r>
              <a:rPr lang="pt-BR" sz="2600" dirty="0"/>
              <a:t>, </a:t>
            </a:r>
            <a:r>
              <a:rPr lang="pt-BR" sz="2600" i="1" dirty="0" err="1"/>
              <a:t>moris</a:t>
            </a:r>
            <a:r>
              <a:rPr lang="pt-BR" sz="2600" i="1" dirty="0"/>
              <a:t> =</a:t>
            </a:r>
            <a:r>
              <a:rPr lang="pt-BR" sz="2600" dirty="0"/>
              <a:t> costume. </a:t>
            </a:r>
          </a:p>
          <a:p>
            <a:r>
              <a:rPr lang="pt-BR" sz="2600" dirty="0"/>
              <a:t>Posteriormente passou também a significar “caráter” ou “modo de ser”. </a:t>
            </a:r>
          </a:p>
          <a:p>
            <a:pPr algn="l"/>
            <a:r>
              <a:rPr lang="pt-BR" sz="2600" dirty="0"/>
              <a:t>Os termos Ética e Moral etimologicamente tem um significado quase idêntico = tudo aquilo que se refere ao modo de ser ou caráter adquirido como resultado de por em prática alguns costumes ou hábitos considerados bons.</a:t>
            </a:r>
          </a:p>
        </p:txBody>
      </p:sp>
    </p:spTree>
    <p:extLst>
      <p:ext uri="{BB962C8B-B14F-4D97-AF65-F5344CB8AC3E}">
        <p14:creationId xmlns:p14="http://schemas.microsoft.com/office/powerpoint/2010/main" val="2967349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8D0DB4-FABB-4C39-BCBF-9320896EF5E5}"/>
              </a:ext>
            </a:extLst>
          </p:cNvPr>
          <p:cNvSpPr>
            <a:spLocks noGrp="1"/>
          </p:cNvSpPr>
          <p:nvPr>
            <p:ph type="title"/>
          </p:nvPr>
        </p:nvSpPr>
        <p:spPr/>
        <p:txBody>
          <a:bodyPr/>
          <a:lstStyle/>
          <a:p>
            <a:r>
              <a:rPr lang="pt-BR" dirty="0"/>
              <a:t>O que é Moral?</a:t>
            </a:r>
          </a:p>
        </p:txBody>
      </p:sp>
      <p:sp>
        <p:nvSpPr>
          <p:cNvPr id="3" name="Espaço Reservado para Conteúdo 2">
            <a:extLst>
              <a:ext uri="{FF2B5EF4-FFF2-40B4-BE49-F238E27FC236}">
                <a16:creationId xmlns:a16="http://schemas.microsoft.com/office/drawing/2014/main" id="{6407D188-22B0-4A6A-A2AE-E239473FC900}"/>
              </a:ext>
            </a:extLst>
          </p:cNvPr>
          <p:cNvSpPr>
            <a:spLocks noGrp="1"/>
          </p:cNvSpPr>
          <p:nvPr>
            <p:ph sz="quarter" idx="13"/>
          </p:nvPr>
        </p:nvSpPr>
        <p:spPr>
          <a:xfrm>
            <a:off x="838200" y="1573306"/>
            <a:ext cx="10515600" cy="4397188"/>
          </a:xfrm>
        </p:spPr>
        <p:txBody>
          <a:bodyPr>
            <a:normAutofit fontScale="92500" lnSpcReduction="10000"/>
          </a:bodyPr>
          <a:lstStyle/>
          <a:p>
            <a:pPr marL="342900" indent="-342900">
              <a:buFont typeface="Arial" panose="020B0604020202020204" pitchFamily="34" charset="0"/>
              <a:buChar char="•"/>
            </a:pPr>
            <a:r>
              <a:rPr lang="pt-BR" b="1" dirty="0"/>
              <a:t>H</a:t>
            </a:r>
            <a:r>
              <a:rPr lang="pt-BR" b="1" dirty="0">
                <a:solidFill>
                  <a:schemeClr val="tx1"/>
                </a:solidFill>
              </a:rPr>
              <a:t>ábitos</a:t>
            </a:r>
            <a:r>
              <a:rPr lang="pt-BR" dirty="0">
                <a:solidFill>
                  <a:schemeClr val="tx1"/>
                </a:solidFill>
              </a:rPr>
              <a:t> adquiridos quase que automaticamente no grupo (familiar e social) em que nós nascemos, nos criamos e nos constituímos como seres humanos.</a:t>
            </a:r>
          </a:p>
          <a:p>
            <a:pPr marL="342900" indent="-342900">
              <a:buFont typeface="Arial" panose="020B0604020202020204" pitchFamily="34" charset="0"/>
              <a:buChar char="•"/>
            </a:pPr>
            <a:r>
              <a:rPr lang="pt-BR" dirty="0"/>
              <a:t>C</a:t>
            </a:r>
            <a:r>
              <a:rPr lang="pt-BR" dirty="0">
                <a:solidFill>
                  <a:schemeClr val="tx1"/>
                </a:solidFill>
              </a:rPr>
              <a:t>onjunto de </a:t>
            </a:r>
            <a:r>
              <a:rPr lang="pt-BR" b="1" dirty="0">
                <a:solidFill>
                  <a:schemeClr val="tx1"/>
                </a:solidFill>
              </a:rPr>
              <a:t>princípios</a:t>
            </a:r>
            <a:r>
              <a:rPr lang="pt-BR" dirty="0">
                <a:solidFill>
                  <a:schemeClr val="tx1"/>
                </a:solidFill>
              </a:rPr>
              <a:t>, </a:t>
            </a:r>
            <a:r>
              <a:rPr lang="pt-BR" b="1" dirty="0">
                <a:solidFill>
                  <a:schemeClr val="tx1"/>
                </a:solidFill>
              </a:rPr>
              <a:t>normas</a:t>
            </a:r>
            <a:r>
              <a:rPr lang="pt-BR" dirty="0">
                <a:solidFill>
                  <a:schemeClr val="tx1"/>
                </a:solidFill>
              </a:rPr>
              <a:t>, </a:t>
            </a:r>
            <a:r>
              <a:rPr lang="pt-BR" b="1" dirty="0">
                <a:solidFill>
                  <a:schemeClr val="tx1"/>
                </a:solidFill>
              </a:rPr>
              <a:t>preceitos</a:t>
            </a:r>
            <a:r>
              <a:rPr lang="pt-BR" dirty="0">
                <a:solidFill>
                  <a:schemeClr val="tx1"/>
                </a:solidFill>
              </a:rPr>
              <a:t>, </a:t>
            </a:r>
            <a:r>
              <a:rPr lang="pt-BR" b="1" dirty="0">
                <a:solidFill>
                  <a:schemeClr val="tx1"/>
                </a:solidFill>
              </a:rPr>
              <a:t>comandos</a:t>
            </a:r>
            <a:r>
              <a:rPr lang="pt-BR" dirty="0">
                <a:solidFill>
                  <a:schemeClr val="tx1"/>
                </a:solidFill>
              </a:rPr>
              <a:t>, </a:t>
            </a:r>
            <a:r>
              <a:rPr lang="pt-BR" b="1" dirty="0">
                <a:solidFill>
                  <a:schemeClr val="tx1"/>
                </a:solidFill>
              </a:rPr>
              <a:t>restrições</a:t>
            </a:r>
            <a:r>
              <a:rPr lang="pt-BR" dirty="0">
                <a:solidFill>
                  <a:schemeClr val="tx1"/>
                </a:solidFill>
              </a:rPr>
              <a:t>, </a:t>
            </a:r>
            <a:r>
              <a:rPr lang="pt-BR" b="1" dirty="0">
                <a:solidFill>
                  <a:schemeClr val="tx1"/>
                </a:solidFill>
              </a:rPr>
              <a:t>permissões</a:t>
            </a:r>
            <a:r>
              <a:rPr lang="pt-BR" dirty="0">
                <a:solidFill>
                  <a:schemeClr val="tx1"/>
                </a:solidFill>
              </a:rPr>
              <a:t> e </a:t>
            </a:r>
            <a:r>
              <a:rPr lang="pt-BR" b="1" dirty="0">
                <a:solidFill>
                  <a:schemeClr val="tx1"/>
                </a:solidFill>
              </a:rPr>
              <a:t>valores</a:t>
            </a:r>
            <a:r>
              <a:rPr lang="pt-BR" dirty="0">
                <a:solidFill>
                  <a:schemeClr val="tx1"/>
                </a:solidFill>
              </a:rPr>
              <a:t> que organizam a nossa sociedade.</a:t>
            </a:r>
          </a:p>
          <a:p>
            <a:pPr marL="342900" indent="-342900">
              <a:buFont typeface="Arial" panose="020B0604020202020204" pitchFamily="34" charset="0"/>
              <a:buChar char="•"/>
            </a:pPr>
            <a:r>
              <a:rPr lang="pt-BR" dirty="0"/>
              <a:t>C</a:t>
            </a:r>
            <a:r>
              <a:rPr lang="pt-BR" dirty="0">
                <a:solidFill>
                  <a:schemeClr val="tx1"/>
                </a:solidFill>
              </a:rPr>
              <a:t>onjunto de princípios, valores e normas de conduta que </a:t>
            </a:r>
            <a:r>
              <a:rPr lang="pt-BR" b="1" dirty="0">
                <a:solidFill>
                  <a:schemeClr val="tx1"/>
                </a:solidFill>
              </a:rPr>
              <a:t>cada geração transmite à geração seguinte </a:t>
            </a:r>
            <a:r>
              <a:rPr lang="pt-BR" dirty="0">
                <a:solidFill>
                  <a:schemeClr val="tx1"/>
                </a:solidFill>
              </a:rPr>
              <a:t>na confiança de que se trata de um bom legado cujas orientações dizem respeito sobre </a:t>
            </a:r>
            <a:r>
              <a:rPr lang="pt-BR" b="1" dirty="0">
                <a:solidFill>
                  <a:schemeClr val="tx1"/>
                </a:solidFill>
              </a:rPr>
              <a:t>o modo como se comportar</a:t>
            </a:r>
            <a:r>
              <a:rPr lang="pt-BR" dirty="0">
                <a:solidFill>
                  <a:schemeClr val="tx1"/>
                </a:solidFill>
              </a:rPr>
              <a:t> para viver uma </a:t>
            </a:r>
            <a:r>
              <a:rPr lang="pt-BR" b="1" dirty="0">
                <a:solidFill>
                  <a:schemeClr val="tx1"/>
                </a:solidFill>
              </a:rPr>
              <a:t>vida boa e justa</a:t>
            </a:r>
            <a:r>
              <a:rPr lang="pt-BR" b="1" dirty="0"/>
              <a:t>.</a:t>
            </a:r>
            <a:endParaRPr lang="pt-BR" dirty="0">
              <a:solidFill>
                <a:schemeClr val="tx1"/>
              </a:solidFill>
            </a:endParaRPr>
          </a:p>
          <a:p>
            <a:pPr marL="342900" indent="-342900">
              <a:buFont typeface="Arial" panose="020B0604020202020204" pitchFamily="34" charset="0"/>
              <a:buChar char="•"/>
            </a:pPr>
            <a:r>
              <a:rPr lang="pt-BR" dirty="0">
                <a:solidFill>
                  <a:schemeClr val="tx1"/>
                </a:solidFill>
              </a:rPr>
              <a:t>Ligada a um </a:t>
            </a:r>
            <a:r>
              <a:rPr lang="pt-BR" b="1" dirty="0">
                <a:solidFill>
                  <a:schemeClr val="tx1"/>
                </a:solidFill>
              </a:rPr>
              <a:t>determinado contexto </a:t>
            </a:r>
            <a:r>
              <a:rPr lang="pt-BR" dirty="0">
                <a:solidFill>
                  <a:schemeClr val="tx1"/>
                </a:solidFill>
              </a:rPr>
              <a:t>e em uma </a:t>
            </a:r>
            <a:r>
              <a:rPr lang="pt-BR" b="1" dirty="0">
                <a:solidFill>
                  <a:schemeClr val="tx1"/>
                </a:solidFill>
              </a:rPr>
              <a:t>determinada época histórica</a:t>
            </a:r>
            <a:r>
              <a:rPr lang="pt-BR" dirty="0">
                <a:solidFill>
                  <a:schemeClr val="tx1"/>
                </a:solidFill>
              </a:rPr>
              <a:t>.</a:t>
            </a:r>
          </a:p>
          <a:p>
            <a:endParaRPr lang="pt-BR" dirty="0"/>
          </a:p>
        </p:txBody>
      </p:sp>
    </p:spTree>
    <p:extLst>
      <p:ext uri="{BB962C8B-B14F-4D97-AF65-F5344CB8AC3E}">
        <p14:creationId xmlns:p14="http://schemas.microsoft.com/office/powerpoint/2010/main" val="204942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55D8A4-6EA0-4A95-8AC7-A8D64ABD7B49}"/>
              </a:ext>
            </a:extLst>
          </p:cNvPr>
          <p:cNvSpPr>
            <a:spLocks noGrp="1"/>
          </p:cNvSpPr>
          <p:nvPr>
            <p:ph type="title"/>
          </p:nvPr>
        </p:nvSpPr>
        <p:spPr/>
        <p:txBody>
          <a:bodyPr/>
          <a:lstStyle/>
          <a:p>
            <a:r>
              <a:rPr lang="pt-BR" dirty="0"/>
              <a:t>O que é Ética</a:t>
            </a:r>
          </a:p>
        </p:txBody>
      </p:sp>
      <p:sp>
        <p:nvSpPr>
          <p:cNvPr id="3" name="Espaço Reservado para Conteúdo 2">
            <a:extLst>
              <a:ext uri="{FF2B5EF4-FFF2-40B4-BE49-F238E27FC236}">
                <a16:creationId xmlns:a16="http://schemas.microsoft.com/office/drawing/2014/main" id="{AE8D557D-DEAA-40AB-83E5-91264AAA1464}"/>
              </a:ext>
            </a:extLst>
          </p:cNvPr>
          <p:cNvSpPr>
            <a:spLocks noGrp="1"/>
          </p:cNvSpPr>
          <p:nvPr>
            <p:ph sz="quarter" idx="13"/>
          </p:nvPr>
        </p:nvSpPr>
        <p:spPr>
          <a:xfrm>
            <a:off x="699247" y="1506072"/>
            <a:ext cx="10654553" cy="4666128"/>
          </a:xfrm>
        </p:spPr>
        <p:txBody>
          <a:bodyPr>
            <a:normAutofit fontScale="85000" lnSpcReduction="10000"/>
          </a:bodyPr>
          <a:lstStyle/>
          <a:p>
            <a:pPr marL="342900" indent="-342900">
              <a:buFont typeface="Arial" panose="020B0604020202020204" pitchFamily="34" charset="0"/>
              <a:buChar char="•"/>
            </a:pPr>
            <a:r>
              <a:rPr lang="pt-BR" dirty="0">
                <a:solidFill>
                  <a:schemeClr val="tx1"/>
                </a:solidFill>
              </a:rPr>
              <a:t>É um </a:t>
            </a:r>
            <a:r>
              <a:rPr lang="pt-BR" b="1" dirty="0">
                <a:solidFill>
                  <a:schemeClr val="tx1"/>
                </a:solidFill>
              </a:rPr>
              <a:t>ato reflexivo </a:t>
            </a:r>
            <a:r>
              <a:rPr lang="pt-BR" dirty="0">
                <a:solidFill>
                  <a:schemeClr val="tx1"/>
                </a:solidFill>
              </a:rPr>
              <a:t>sobre a moral até então constituída.</a:t>
            </a:r>
          </a:p>
          <a:p>
            <a:pPr marL="342900" indent="-342900">
              <a:buFont typeface="Arial" panose="020B0604020202020204" pitchFamily="34" charset="0"/>
              <a:buChar char="•"/>
            </a:pPr>
            <a:r>
              <a:rPr lang="pt-BR" dirty="0">
                <a:solidFill>
                  <a:schemeClr val="tx1"/>
                </a:solidFill>
              </a:rPr>
              <a:t>Uma reflexão que age sobre nossos hábitos, costumes e tradições, </a:t>
            </a:r>
            <a:r>
              <a:rPr lang="pt-BR" b="1" dirty="0">
                <a:solidFill>
                  <a:schemeClr val="tx1"/>
                </a:solidFill>
              </a:rPr>
              <a:t>colocando em questão </a:t>
            </a:r>
            <a:r>
              <a:rPr lang="pt-BR" dirty="0">
                <a:solidFill>
                  <a:schemeClr val="tx1"/>
                </a:solidFill>
              </a:rPr>
              <a:t>o valor dessas morais.</a:t>
            </a:r>
          </a:p>
          <a:p>
            <a:pPr marL="342900" indent="-342900">
              <a:buFont typeface="Arial" panose="020B0604020202020204" pitchFamily="34" charset="0"/>
              <a:buChar char="•"/>
            </a:pPr>
            <a:r>
              <a:rPr lang="pt-BR" dirty="0">
                <a:solidFill>
                  <a:schemeClr val="tx1"/>
                </a:solidFill>
              </a:rPr>
              <a:t>Quando tomamos distância e paramos para refletir (</a:t>
            </a:r>
            <a:r>
              <a:rPr lang="pt-BR" b="1" dirty="0">
                <a:solidFill>
                  <a:schemeClr val="tx1"/>
                </a:solidFill>
              </a:rPr>
              <a:t>sair de si</a:t>
            </a:r>
            <a:r>
              <a:rPr lang="pt-BR" dirty="0">
                <a:solidFill>
                  <a:schemeClr val="tx1"/>
                </a:solidFill>
              </a:rPr>
              <a:t>) sobre a moralidade instituída, colocando em questão o seu valor, emerge o campo da </a:t>
            </a:r>
            <a:r>
              <a:rPr lang="pt-BR" b="1" dirty="0">
                <a:solidFill>
                  <a:schemeClr val="tx1"/>
                </a:solidFill>
              </a:rPr>
              <a:t>ética que age sobre a moral reinventando-a</a:t>
            </a:r>
            <a:r>
              <a:rPr lang="pt-BR" dirty="0">
                <a:solidFill>
                  <a:schemeClr val="tx1"/>
                </a:solidFill>
              </a:rPr>
              <a:t>.</a:t>
            </a:r>
          </a:p>
          <a:p>
            <a:pPr marL="342900" indent="-342900">
              <a:buFont typeface="Arial" panose="020B0604020202020204" pitchFamily="34" charset="0"/>
              <a:buChar char="•"/>
            </a:pPr>
            <a:r>
              <a:rPr lang="pt-BR" dirty="0">
                <a:solidFill>
                  <a:schemeClr val="tx1"/>
                </a:solidFill>
              </a:rPr>
              <a:t>A ética age sobre a moralidade instituída com o intuito de melhorá-la, de qualificá-la, de </a:t>
            </a:r>
            <a:r>
              <a:rPr lang="pt-BR" b="1" dirty="0">
                <a:solidFill>
                  <a:schemeClr val="tx1"/>
                </a:solidFill>
              </a:rPr>
              <a:t>aperfeiçoar e dignificar as relações humanas</a:t>
            </a:r>
            <a:r>
              <a:rPr lang="pt-BR" b="1" dirty="0"/>
              <a:t>.</a:t>
            </a:r>
            <a:endParaRPr lang="pt-BR" dirty="0">
              <a:solidFill>
                <a:schemeClr val="tx1"/>
              </a:solidFill>
            </a:endParaRPr>
          </a:p>
          <a:p>
            <a:pPr marL="342900" indent="-342900">
              <a:buFont typeface="Arial" panose="020B0604020202020204" pitchFamily="34" charset="0"/>
              <a:buChar char="•"/>
            </a:pPr>
            <a:r>
              <a:rPr lang="pt-BR" dirty="0">
                <a:solidFill>
                  <a:schemeClr val="tx1"/>
                </a:solidFill>
              </a:rPr>
              <a:t>A ética não é condicionada pela história</a:t>
            </a:r>
            <a:r>
              <a:rPr lang="pt-BR" dirty="0"/>
              <a:t> (</a:t>
            </a:r>
            <a:r>
              <a:rPr lang="pt-BR" b="1" dirty="0">
                <a:solidFill>
                  <a:schemeClr val="tx1"/>
                </a:solidFill>
              </a:rPr>
              <a:t>a-histórica) </a:t>
            </a:r>
            <a:r>
              <a:rPr lang="pt-BR" dirty="0">
                <a:solidFill>
                  <a:schemeClr val="tx1"/>
                </a:solidFill>
              </a:rPr>
              <a:t>nem pelo contexto</a:t>
            </a:r>
            <a:r>
              <a:rPr lang="pt-BR" dirty="0"/>
              <a:t>.</a:t>
            </a:r>
            <a:endParaRPr lang="pt-BR" dirty="0">
              <a:solidFill>
                <a:schemeClr val="tx1"/>
              </a:solidFill>
            </a:endParaRPr>
          </a:p>
          <a:p>
            <a:pPr marL="342900" indent="-342900">
              <a:buFont typeface="Arial" panose="020B0604020202020204" pitchFamily="34" charset="0"/>
              <a:buChar char="•"/>
            </a:pPr>
            <a:r>
              <a:rPr lang="pt-BR" b="1" dirty="0">
                <a:solidFill>
                  <a:schemeClr val="tx1"/>
                </a:solidFill>
              </a:rPr>
              <a:t>Não é neutra</a:t>
            </a:r>
            <a:r>
              <a:rPr lang="pt-BR" dirty="0">
                <a:solidFill>
                  <a:schemeClr val="tx1"/>
                </a:solidFill>
              </a:rPr>
              <a:t>: por ser uma reflexão dos códigos estabelecidos, ela é um instrumento de </a:t>
            </a:r>
            <a:r>
              <a:rPr lang="pt-BR" b="1" dirty="0">
                <a:solidFill>
                  <a:schemeClr val="tx1"/>
                </a:solidFill>
              </a:rPr>
              <a:t>denúncia de códigos desumanos</a:t>
            </a:r>
            <a:r>
              <a:rPr lang="pt-BR" dirty="0">
                <a:solidFill>
                  <a:schemeClr val="tx1"/>
                </a:solidFill>
              </a:rPr>
              <a:t>, por exemplo.</a:t>
            </a:r>
          </a:p>
          <a:p>
            <a:pPr marL="342900" indent="-342900">
              <a:buFont typeface="Arial" panose="020B0604020202020204" pitchFamily="34" charset="0"/>
              <a:buChar char="•"/>
            </a:pPr>
            <a:r>
              <a:rPr lang="pt-BR" dirty="0"/>
              <a:t>Ao mesmo tempo, não pode recomendar uma única moral como correta.</a:t>
            </a:r>
            <a:endParaRPr lang="pt-BR" dirty="0">
              <a:solidFill>
                <a:schemeClr val="tx1"/>
              </a:solidFill>
            </a:endParaRPr>
          </a:p>
        </p:txBody>
      </p:sp>
    </p:spTree>
    <p:extLst>
      <p:ext uri="{BB962C8B-B14F-4D97-AF65-F5344CB8AC3E}">
        <p14:creationId xmlns:p14="http://schemas.microsoft.com/office/powerpoint/2010/main" val="1874358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1E13A2-8127-4A4B-86EF-05E738536AC7}"/>
              </a:ext>
            </a:extLst>
          </p:cNvPr>
          <p:cNvSpPr>
            <a:spLocks noGrp="1"/>
          </p:cNvSpPr>
          <p:nvPr>
            <p:ph type="title"/>
          </p:nvPr>
        </p:nvSpPr>
        <p:spPr/>
        <p:txBody>
          <a:bodyPr/>
          <a:lstStyle/>
          <a:p>
            <a:r>
              <a:rPr lang="pt-BR" dirty="0"/>
              <a:t>Função da Ética</a:t>
            </a:r>
          </a:p>
        </p:txBody>
      </p:sp>
      <p:sp>
        <p:nvSpPr>
          <p:cNvPr id="3" name="Espaço Reservado para Conteúdo 2">
            <a:extLst>
              <a:ext uri="{FF2B5EF4-FFF2-40B4-BE49-F238E27FC236}">
                <a16:creationId xmlns:a16="http://schemas.microsoft.com/office/drawing/2014/main" id="{E399DA06-8154-4FE3-97E6-789EB18BCA9B}"/>
              </a:ext>
            </a:extLst>
          </p:cNvPr>
          <p:cNvSpPr>
            <a:spLocks noGrp="1"/>
          </p:cNvSpPr>
          <p:nvPr>
            <p:ph sz="quarter" idx="13"/>
          </p:nvPr>
        </p:nvSpPr>
        <p:spPr/>
        <p:txBody>
          <a:bodyPr>
            <a:normAutofit fontScale="85000" lnSpcReduction="20000"/>
          </a:bodyPr>
          <a:lstStyle/>
          <a:p>
            <a:pPr marL="0" indent="0">
              <a:lnSpc>
                <a:spcPct val="107000"/>
              </a:lnSpc>
              <a:spcAft>
                <a:spcPts val="800"/>
              </a:spcAft>
              <a:buNone/>
            </a:pPr>
            <a:r>
              <a:rPr lang="pt-BR" sz="3100" dirty="0"/>
              <a:t>1) </a:t>
            </a:r>
            <a:r>
              <a:rPr lang="pt-BR" sz="3100" b="1" dirty="0"/>
              <a:t>Esclarecer</a:t>
            </a:r>
            <a:r>
              <a:rPr lang="pt-BR" sz="3100" dirty="0"/>
              <a:t> o que é a moral, quais são seus traços específicos.</a:t>
            </a:r>
          </a:p>
          <a:p>
            <a:pPr marL="0" indent="0">
              <a:lnSpc>
                <a:spcPct val="107000"/>
              </a:lnSpc>
              <a:spcAft>
                <a:spcPts val="800"/>
              </a:spcAft>
              <a:buNone/>
            </a:pPr>
            <a:r>
              <a:rPr lang="pt-BR" sz="3100" dirty="0"/>
              <a:t> 2) </a:t>
            </a:r>
            <a:r>
              <a:rPr lang="pt-BR" sz="3100" b="1" dirty="0"/>
              <a:t>Fundamentar</a:t>
            </a:r>
            <a:r>
              <a:rPr lang="pt-BR" sz="3100" dirty="0"/>
              <a:t> a moralidade, ou seja, procurar averiguar quais são as razões que conferem sentido ao esforço dos seres humanos de viver moralmente. </a:t>
            </a:r>
          </a:p>
          <a:p>
            <a:pPr marL="0" indent="0">
              <a:lnSpc>
                <a:spcPct val="107000"/>
              </a:lnSpc>
              <a:spcAft>
                <a:spcPts val="800"/>
              </a:spcAft>
              <a:buNone/>
            </a:pPr>
            <a:r>
              <a:rPr lang="pt-BR" sz="3100" dirty="0"/>
              <a:t>3) </a:t>
            </a:r>
            <a:r>
              <a:rPr lang="pt-BR" sz="3100" b="1" dirty="0"/>
              <a:t>Aplicar</a:t>
            </a:r>
            <a:r>
              <a:rPr lang="pt-BR" sz="3100" dirty="0"/>
              <a:t> aos diferentes âmbitos da vida social os resultados obtidos nas duas primeiras funções, de maneira que se adote nesses âmbitos sociais uma moral crítica (ou seja, racionalmente fundamentada), em vez de um código moral dogmaticamente imposto ou da ausência de referências morais.</a:t>
            </a:r>
          </a:p>
          <a:p>
            <a:endParaRPr lang="pt-BR" dirty="0"/>
          </a:p>
        </p:txBody>
      </p:sp>
    </p:spTree>
    <p:extLst>
      <p:ext uri="{BB962C8B-B14F-4D97-AF65-F5344CB8AC3E}">
        <p14:creationId xmlns:p14="http://schemas.microsoft.com/office/powerpoint/2010/main" val="1735336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7EA5AE-7F55-4F05-8F7A-7E274ECB9B1A}"/>
              </a:ext>
            </a:extLst>
          </p:cNvPr>
          <p:cNvSpPr>
            <a:spLocks noGrp="1"/>
          </p:cNvSpPr>
          <p:nvPr>
            <p:ph type="title"/>
          </p:nvPr>
        </p:nvSpPr>
        <p:spPr>
          <a:xfrm>
            <a:off x="699249" y="1246055"/>
            <a:ext cx="9080873" cy="1122453"/>
          </a:xfrm>
        </p:spPr>
        <p:txBody>
          <a:bodyPr/>
          <a:lstStyle/>
          <a:p>
            <a:r>
              <a:rPr lang="pt-BR" dirty="0"/>
              <a:t>Resumindo a diferenciação:</a:t>
            </a:r>
          </a:p>
        </p:txBody>
      </p:sp>
      <p:sp>
        <p:nvSpPr>
          <p:cNvPr id="3" name="Espaço Reservado para Conteúdo 2">
            <a:extLst>
              <a:ext uri="{FF2B5EF4-FFF2-40B4-BE49-F238E27FC236}">
                <a16:creationId xmlns:a16="http://schemas.microsoft.com/office/drawing/2014/main" id="{DACC8EA4-FF82-4A95-9A58-49425771892E}"/>
              </a:ext>
            </a:extLst>
          </p:cNvPr>
          <p:cNvSpPr>
            <a:spLocks noGrp="1"/>
          </p:cNvSpPr>
          <p:nvPr>
            <p:ph idx="1"/>
          </p:nvPr>
        </p:nvSpPr>
        <p:spPr>
          <a:xfrm>
            <a:off x="538523" y="2618509"/>
            <a:ext cx="9080874" cy="2673530"/>
          </a:xfrm>
        </p:spPr>
        <p:txBody>
          <a:bodyPr/>
          <a:lstStyle/>
          <a:p>
            <a:r>
              <a:rPr lang="pt-BR" dirty="0"/>
              <a:t>A pergunta básica da </a:t>
            </a:r>
            <a:r>
              <a:rPr lang="pt-BR" b="1" dirty="0"/>
              <a:t>moral</a:t>
            </a:r>
            <a:r>
              <a:rPr lang="pt-BR" dirty="0"/>
              <a:t>: O que </a:t>
            </a:r>
            <a:r>
              <a:rPr lang="pt-BR" b="1" dirty="0"/>
              <a:t>devemos</a:t>
            </a:r>
            <a:r>
              <a:rPr lang="pt-BR" dirty="0"/>
              <a:t> fazer?</a:t>
            </a:r>
          </a:p>
          <a:p>
            <a:r>
              <a:rPr lang="pt-BR" dirty="0"/>
              <a:t>A pergunta básica da </a:t>
            </a:r>
            <a:r>
              <a:rPr lang="pt-BR" b="1" dirty="0"/>
              <a:t>ética</a:t>
            </a:r>
            <a:r>
              <a:rPr lang="pt-BR" dirty="0"/>
              <a:t>: </a:t>
            </a:r>
            <a:r>
              <a:rPr lang="pt-BR" b="1" dirty="0"/>
              <a:t>Por que </a:t>
            </a:r>
            <a:r>
              <a:rPr lang="pt-BR" dirty="0"/>
              <a:t>devemos fazer? Que argumentos corroboram e sustentam o código moral que estamos aceitando como guia de conduta?</a:t>
            </a:r>
          </a:p>
        </p:txBody>
      </p:sp>
    </p:spTree>
    <p:extLst>
      <p:ext uri="{BB962C8B-B14F-4D97-AF65-F5344CB8AC3E}">
        <p14:creationId xmlns:p14="http://schemas.microsoft.com/office/powerpoint/2010/main" val="1650264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6726FC-A704-4254-BD4C-5BDB29B8A135}"/>
              </a:ext>
            </a:extLst>
          </p:cNvPr>
          <p:cNvSpPr>
            <a:spLocks noGrp="1"/>
          </p:cNvSpPr>
          <p:nvPr>
            <p:ph type="title"/>
          </p:nvPr>
        </p:nvSpPr>
        <p:spPr/>
        <p:txBody>
          <a:bodyPr/>
          <a:lstStyle/>
          <a:p>
            <a:r>
              <a:rPr lang="pt-BR" dirty="0"/>
              <a:t>Outros conceitos</a:t>
            </a:r>
          </a:p>
        </p:txBody>
      </p:sp>
      <p:sp>
        <p:nvSpPr>
          <p:cNvPr id="3" name="Espaço Reservado para Conteúdo 2">
            <a:extLst>
              <a:ext uri="{FF2B5EF4-FFF2-40B4-BE49-F238E27FC236}">
                <a16:creationId xmlns:a16="http://schemas.microsoft.com/office/drawing/2014/main" id="{C1178BBE-23BF-4828-8C3F-390BA5AFA766}"/>
              </a:ext>
            </a:extLst>
          </p:cNvPr>
          <p:cNvSpPr>
            <a:spLocks noGrp="1"/>
          </p:cNvSpPr>
          <p:nvPr>
            <p:ph sz="quarter" idx="13"/>
          </p:nvPr>
        </p:nvSpPr>
        <p:spPr/>
        <p:txBody>
          <a:bodyPr>
            <a:normAutofit fontScale="92500" lnSpcReduction="10000"/>
          </a:bodyPr>
          <a:lstStyle/>
          <a:p>
            <a:pPr marL="342900" indent="-342900">
              <a:buFont typeface="Arial" panose="020B0604020202020204" pitchFamily="34" charset="0"/>
              <a:buChar char="•"/>
            </a:pPr>
            <a:r>
              <a:rPr lang="pt-BR" sz="2800" b="1" dirty="0">
                <a:solidFill>
                  <a:schemeClr val="tx1"/>
                </a:solidFill>
              </a:rPr>
              <a:t>Imoral</a:t>
            </a:r>
            <a:r>
              <a:rPr lang="pt-BR" sz="2800" dirty="0">
                <a:solidFill>
                  <a:schemeClr val="tx1"/>
                </a:solidFill>
              </a:rPr>
              <a:t>: quem ou aquele que descumpre ou corrompe a moralidade até então instituída.</a:t>
            </a:r>
          </a:p>
          <a:p>
            <a:pPr marL="342900" indent="-342900">
              <a:buFont typeface="Arial" panose="020B0604020202020204" pitchFamily="34" charset="0"/>
              <a:buChar char="•"/>
            </a:pPr>
            <a:r>
              <a:rPr lang="pt-BR" sz="2800" b="1" dirty="0">
                <a:solidFill>
                  <a:schemeClr val="tx1"/>
                </a:solidFill>
              </a:rPr>
              <a:t>Amoral</a:t>
            </a:r>
            <a:r>
              <a:rPr lang="pt-BR" sz="2800" dirty="0">
                <a:solidFill>
                  <a:schemeClr val="tx1"/>
                </a:solidFill>
              </a:rPr>
              <a:t>: quem ou aquele que não tem ciência da moralidade instituída, como, por exemplo, um bebê, pessoa com defici</a:t>
            </a:r>
            <a:r>
              <a:rPr lang="pt-BR" dirty="0"/>
              <a:t>ência intelectual</a:t>
            </a:r>
            <a:r>
              <a:rPr lang="pt-BR" sz="2800" dirty="0">
                <a:solidFill>
                  <a:schemeClr val="tx1"/>
                </a:solidFill>
              </a:rPr>
              <a:t>, etc.</a:t>
            </a:r>
          </a:p>
          <a:p>
            <a:pPr marL="342900" indent="-342900">
              <a:buFont typeface="Arial" panose="020B0604020202020204" pitchFamily="34" charset="0"/>
              <a:buChar char="•"/>
            </a:pPr>
            <a:r>
              <a:rPr lang="pt-BR" sz="2800" b="1" dirty="0">
                <a:solidFill>
                  <a:schemeClr val="tx1"/>
                </a:solidFill>
              </a:rPr>
              <a:t>Antiética</a:t>
            </a:r>
            <a:r>
              <a:rPr lang="pt-BR" sz="2800" dirty="0">
                <a:solidFill>
                  <a:schemeClr val="tx1"/>
                </a:solidFill>
              </a:rPr>
              <a:t>: Atitude de indiferença diante de tudo aquilo que o circunda. Descaso, insensibilidade, desdém, apatia e falta de engajamento/envolvimento com a situação que o cerca. Naturalização de um genocídio ou de um massacre – aquele que vê a morte e a dor alheia com total descaso.</a:t>
            </a:r>
          </a:p>
          <a:p>
            <a:endParaRPr lang="pt-BR" dirty="0"/>
          </a:p>
        </p:txBody>
      </p:sp>
    </p:spTree>
    <p:extLst>
      <p:ext uri="{BB962C8B-B14F-4D97-AF65-F5344CB8AC3E}">
        <p14:creationId xmlns:p14="http://schemas.microsoft.com/office/powerpoint/2010/main" val="2867354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BD2631-CE5B-4CA1-A064-21D7C5B711A5}"/>
              </a:ext>
            </a:extLst>
          </p:cNvPr>
          <p:cNvSpPr>
            <a:spLocks noGrp="1"/>
          </p:cNvSpPr>
          <p:nvPr>
            <p:ph type="title"/>
          </p:nvPr>
        </p:nvSpPr>
        <p:spPr/>
        <p:txBody>
          <a:bodyPr/>
          <a:lstStyle/>
          <a:p>
            <a:r>
              <a:rPr lang="pt-BR" dirty="0"/>
              <a:t>Para entender a diferenciação</a:t>
            </a:r>
          </a:p>
        </p:txBody>
      </p:sp>
      <p:sp>
        <p:nvSpPr>
          <p:cNvPr id="3" name="Espaço Reservado para Conteúdo 2">
            <a:extLst>
              <a:ext uri="{FF2B5EF4-FFF2-40B4-BE49-F238E27FC236}">
                <a16:creationId xmlns:a16="http://schemas.microsoft.com/office/drawing/2014/main" id="{6F351466-D2B0-4B03-BE7C-A1321B6D96AB}"/>
              </a:ext>
            </a:extLst>
          </p:cNvPr>
          <p:cNvSpPr>
            <a:spLocks noGrp="1"/>
          </p:cNvSpPr>
          <p:nvPr>
            <p:ph sz="quarter" idx="13"/>
          </p:nvPr>
        </p:nvSpPr>
        <p:spPr>
          <a:xfrm>
            <a:off x="838200" y="1828800"/>
            <a:ext cx="5401235" cy="3902657"/>
          </a:xfrm>
        </p:spPr>
        <p:txBody>
          <a:bodyPr/>
          <a:lstStyle/>
          <a:p>
            <a:r>
              <a:rPr lang="pt-BR" dirty="0"/>
              <a:t>Rosa Parks</a:t>
            </a:r>
          </a:p>
          <a:p>
            <a:r>
              <a:rPr lang="pt-BR" dirty="0"/>
              <a:t>Segregação racial EUA</a:t>
            </a:r>
          </a:p>
          <a:p>
            <a:r>
              <a:rPr lang="pt-BR" dirty="0"/>
              <a:t>Sua atitude (ética) fez a sociedade repensar a moral instituída.</a:t>
            </a:r>
          </a:p>
        </p:txBody>
      </p:sp>
      <p:pic>
        <p:nvPicPr>
          <p:cNvPr id="1028" name="Picture 4" descr="Rosa Parks – Wikipédia, a enciclopédia livre">
            <a:extLst>
              <a:ext uri="{FF2B5EF4-FFF2-40B4-BE49-F238E27FC236}">
                <a16:creationId xmlns:a16="http://schemas.microsoft.com/office/drawing/2014/main" id="{64620A96-C1A2-4733-92D1-A182141A2E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8350" y="1452282"/>
            <a:ext cx="4117665" cy="4978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634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889A2C-E686-49C3-AD40-B099B480F724}"/>
              </a:ext>
            </a:extLst>
          </p:cNvPr>
          <p:cNvSpPr>
            <a:spLocks noGrp="1"/>
          </p:cNvSpPr>
          <p:nvPr>
            <p:ph type="title"/>
          </p:nvPr>
        </p:nvSpPr>
        <p:spPr/>
        <p:txBody>
          <a:bodyPr/>
          <a:lstStyle/>
          <a:p>
            <a:r>
              <a:rPr lang="pt-BR" dirty="0"/>
              <a:t>Fazer Ética</a:t>
            </a:r>
          </a:p>
        </p:txBody>
      </p:sp>
      <p:sp>
        <p:nvSpPr>
          <p:cNvPr id="3" name="Espaço Reservado para Conteúdo 2">
            <a:extLst>
              <a:ext uri="{FF2B5EF4-FFF2-40B4-BE49-F238E27FC236}">
                <a16:creationId xmlns:a16="http://schemas.microsoft.com/office/drawing/2014/main" id="{D9479A85-AF22-4970-8AFC-BDC81267000D}"/>
              </a:ext>
            </a:extLst>
          </p:cNvPr>
          <p:cNvSpPr>
            <a:spLocks noGrp="1"/>
          </p:cNvSpPr>
          <p:nvPr>
            <p:ph sz="quarter" idx="13"/>
          </p:nvPr>
        </p:nvSpPr>
        <p:spPr/>
        <p:txBody>
          <a:bodyPr>
            <a:normAutofit lnSpcReduction="10000"/>
          </a:bodyPr>
          <a:lstStyle/>
          <a:p>
            <a:r>
              <a:rPr lang="pt-BR" sz="2400" dirty="0"/>
              <a:t>As pessoas se desenvolvem eticamente na medida em que veem sentido no que fazem e sentem-se </a:t>
            </a:r>
            <a:r>
              <a:rPr lang="pt-BR" sz="2400" dirty="0" err="1"/>
              <a:t>co-autoras</a:t>
            </a:r>
            <a:r>
              <a:rPr lang="pt-BR" sz="2400" dirty="0"/>
              <a:t> nos processos. </a:t>
            </a:r>
          </a:p>
          <a:p>
            <a:r>
              <a:rPr lang="pt-BR" sz="2400" dirty="0"/>
              <a:t>Fazer Ética como a arte de desenvolver o pensamento, as percepções e as linguagens para Viver Bem. </a:t>
            </a:r>
          </a:p>
          <a:p>
            <a:r>
              <a:rPr lang="pt-BR" sz="2400" dirty="0">
                <a:solidFill>
                  <a:schemeClr val="tx1"/>
                </a:solidFill>
              </a:rPr>
              <a:t>É impossível pensar a ética sem </a:t>
            </a:r>
            <a:r>
              <a:rPr lang="pt-BR" sz="2400" b="1" dirty="0">
                <a:solidFill>
                  <a:schemeClr val="tx1"/>
                </a:solidFill>
              </a:rPr>
              <a:t>diálogo</a:t>
            </a:r>
            <a:r>
              <a:rPr lang="pt-BR" sz="2400" dirty="0">
                <a:solidFill>
                  <a:schemeClr val="tx1"/>
                </a:solidFill>
              </a:rPr>
              <a:t>: </a:t>
            </a:r>
            <a:r>
              <a:rPr lang="pt-BR" sz="2400" i="1" dirty="0" err="1">
                <a:solidFill>
                  <a:schemeClr val="tx1"/>
                </a:solidFill>
              </a:rPr>
              <a:t>ensinagem</a:t>
            </a:r>
            <a:r>
              <a:rPr lang="pt-BR" sz="2400" dirty="0">
                <a:solidFill>
                  <a:schemeClr val="tx1"/>
                </a:solidFill>
              </a:rPr>
              <a:t> e abertura</a:t>
            </a:r>
            <a:r>
              <a:rPr lang="pt-BR" sz="2400" dirty="0"/>
              <a:t>.</a:t>
            </a:r>
            <a:endParaRPr lang="pt-BR" sz="2400" dirty="0">
              <a:solidFill>
                <a:schemeClr val="tx1"/>
              </a:solidFill>
            </a:endParaRPr>
          </a:p>
          <a:p>
            <a:r>
              <a:rPr lang="pt-BR" sz="2400" b="1" dirty="0">
                <a:solidFill>
                  <a:schemeClr val="tx1"/>
                </a:solidFill>
              </a:rPr>
              <a:t>Passividade</a:t>
            </a:r>
            <a:r>
              <a:rPr lang="pt-BR" sz="2400" dirty="0">
                <a:solidFill>
                  <a:schemeClr val="tx1"/>
                </a:solidFill>
              </a:rPr>
              <a:t>: aquele que se deixa governar e arrastar por seus impulsos, inclinações e paixões, pelas circunstâncias, opiniões alheias, pelo medo e/ou vontade dos outros</a:t>
            </a:r>
            <a:r>
              <a:rPr lang="pt-BR" sz="2400" dirty="0"/>
              <a:t>.</a:t>
            </a:r>
            <a:endParaRPr lang="pt-BR" sz="2400" dirty="0">
              <a:solidFill>
                <a:schemeClr val="tx1"/>
              </a:solidFill>
            </a:endParaRPr>
          </a:p>
          <a:p>
            <a:r>
              <a:rPr lang="pt-BR" sz="2400" b="1" dirty="0">
                <a:solidFill>
                  <a:schemeClr val="tx1"/>
                </a:solidFill>
              </a:rPr>
              <a:t>Atividade</a:t>
            </a:r>
            <a:r>
              <a:rPr lang="pt-BR" sz="2400" dirty="0">
                <a:solidFill>
                  <a:schemeClr val="tx1"/>
                </a:solidFill>
              </a:rPr>
              <a:t>: aquele que controla interiormente seus impulsos, inclinações e paixões – é autônomo na relação com os outros.</a:t>
            </a:r>
          </a:p>
          <a:p>
            <a:endParaRPr lang="pt-BR" sz="2200" dirty="0"/>
          </a:p>
        </p:txBody>
      </p:sp>
    </p:spTree>
    <p:extLst>
      <p:ext uri="{BB962C8B-B14F-4D97-AF65-F5344CB8AC3E}">
        <p14:creationId xmlns:p14="http://schemas.microsoft.com/office/powerpoint/2010/main" val="2794248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984485-DD45-4324-B3EA-A78831ED9732}"/>
              </a:ext>
            </a:extLst>
          </p:cNvPr>
          <p:cNvSpPr>
            <a:spLocks noGrp="1"/>
          </p:cNvSpPr>
          <p:nvPr>
            <p:ph type="title"/>
          </p:nvPr>
        </p:nvSpPr>
        <p:spPr/>
        <p:txBody>
          <a:bodyPr/>
          <a:lstStyle/>
          <a:p>
            <a:r>
              <a:rPr lang="pt-BR" dirty="0"/>
              <a:t>Constituintes Éticos</a:t>
            </a:r>
          </a:p>
        </p:txBody>
      </p:sp>
      <p:sp>
        <p:nvSpPr>
          <p:cNvPr id="3" name="Espaço Reservado para Conteúdo 2">
            <a:extLst>
              <a:ext uri="{FF2B5EF4-FFF2-40B4-BE49-F238E27FC236}">
                <a16:creationId xmlns:a16="http://schemas.microsoft.com/office/drawing/2014/main" id="{B41317CF-0A69-474F-B50B-D5BFB8A81959}"/>
              </a:ext>
            </a:extLst>
          </p:cNvPr>
          <p:cNvSpPr>
            <a:spLocks noGrp="1"/>
          </p:cNvSpPr>
          <p:nvPr>
            <p:ph sz="quarter" idx="13"/>
          </p:nvPr>
        </p:nvSpPr>
        <p:spPr>
          <a:xfrm>
            <a:off x="838200" y="1559859"/>
            <a:ext cx="10515600" cy="4729906"/>
          </a:xfrm>
        </p:spPr>
        <p:txBody>
          <a:bodyPr>
            <a:normAutofit fontScale="25000" lnSpcReduction="20000"/>
          </a:bodyPr>
          <a:lstStyle/>
          <a:p>
            <a:pPr algn="l">
              <a:lnSpc>
                <a:spcPct val="120000"/>
              </a:lnSpc>
            </a:pPr>
            <a:r>
              <a:rPr lang="pt-BR" sz="9200" b="1" dirty="0">
                <a:solidFill>
                  <a:schemeClr val="tx1"/>
                </a:solidFill>
              </a:rPr>
              <a:t>Consciência de Si e dos Outros</a:t>
            </a:r>
            <a:r>
              <a:rPr lang="pt-BR" sz="9200" dirty="0">
                <a:solidFill>
                  <a:schemeClr val="tx1"/>
                </a:solidFill>
              </a:rPr>
              <a:t>: </a:t>
            </a:r>
            <a:r>
              <a:rPr lang="pt-BR" sz="9200" dirty="0"/>
              <a:t>ser capaz de reflexão e de reconhecer a existência dos outros como sujeitos éticos iguais a ele.</a:t>
            </a:r>
          </a:p>
          <a:p>
            <a:pPr algn="l">
              <a:lnSpc>
                <a:spcPct val="120000"/>
              </a:lnSpc>
            </a:pPr>
            <a:r>
              <a:rPr lang="pt-BR" sz="9200" b="1" dirty="0"/>
              <a:t>Liberdade</a:t>
            </a:r>
            <a:r>
              <a:rPr lang="pt-BR" sz="9200" dirty="0">
                <a:solidFill>
                  <a:schemeClr val="tx1"/>
                </a:solidFill>
              </a:rPr>
              <a:t>: não reduzir-se nem às suas representações e nem às forças exteriores</a:t>
            </a:r>
            <a:r>
              <a:rPr lang="pt-BR" sz="9200" dirty="0"/>
              <a:t>. Não é tanto o poder para escolher entre vários possíveis, mas o poder para </a:t>
            </a:r>
            <a:r>
              <a:rPr lang="pt-BR" sz="9200" b="1" dirty="0"/>
              <a:t>autodeterminar-se</a:t>
            </a:r>
            <a:r>
              <a:rPr lang="pt-BR" sz="9200" dirty="0"/>
              <a:t>, dando a si mesmo as regras de conduta.</a:t>
            </a:r>
          </a:p>
          <a:p>
            <a:pPr algn="l">
              <a:lnSpc>
                <a:spcPct val="120000"/>
              </a:lnSpc>
            </a:pPr>
            <a:r>
              <a:rPr lang="pt-BR" sz="9200" b="1" dirty="0">
                <a:solidFill>
                  <a:schemeClr val="tx1"/>
                </a:solidFill>
              </a:rPr>
              <a:t>Vontade</a:t>
            </a:r>
            <a:r>
              <a:rPr lang="pt-BR" sz="9200" dirty="0">
                <a:solidFill>
                  <a:schemeClr val="tx1"/>
                </a:solidFill>
              </a:rPr>
              <a:t>: </a:t>
            </a:r>
            <a:r>
              <a:rPr lang="pt-BR" sz="9200" dirty="0"/>
              <a:t>Capacidade para controlar e orientar desejos, impulsos, tendências, sentimentos (para que estejam em conformidade com a consciência) e capacidade para deliberar e decidir entre várias alternativas possíveis.</a:t>
            </a:r>
          </a:p>
          <a:p>
            <a:pPr algn="l">
              <a:lnSpc>
                <a:spcPct val="120000"/>
              </a:lnSpc>
            </a:pPr>
            <a:r>
              <a:rPr lang="pt-BR" sz="9200" b="1" dirty="0">
                <a:solidFill>
                  <a:schemeClr val="tx1"/>
                </a:solidFill>
              </a:rPr>
              <a:t>Responsabilidade</a:t>
            </a:r>
            <a:r>
              <a:rPr lang="pt-BR" sz="9200" dirty="0">
                <a:solidFill>
                  <a:schemeClr val="tx1"/>
                </a:solidFill>
              </a:rPr>
              <a:t>: não se limita à obediência cega às regras, mas reconhecer-se como autor da ação, </a:t>
            </a:r>
            <a:r>
              <a:rPr lang="pt-BR" sz="9200" dirty="0"/>
              <a:t>avaliar os efeitos e consequências dela sobre si e sobre os outros.</a:t>
            </a:r>
          </a:p>
          <a:p>
            <a:endParaRPr lang="pt-BR" dirty="0"/>
          </a:p>
        </p:txBody>
      </p:sp>
    </p:spTree>
    <p:extLst>
      <p:ext uri="{BB962C8B-B14F-4D97-AF65-F5344CB8AC3E}">
        <p14:creationId xmlns:p14="http://schemas.microsoft.com/office/powerpoint/2010/main" val="1784432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176753-F682-4E89-82D3-43A04D5FF3E6}"/>
              </a:ext>
            </a:extLst>
          </p:cNvPr>
          <p:cNvSpPr>
            <a:spLocks noGrp="1"/>
          </p:cNvSpPr>
          <p:nvPr>
            <p:ph type="title"/>
          </p:nvPr>
        </p:nvSpPr>
        <p:spPr/>
        <p:txBody>
          <a:bodyPr/>
          <a:lstStyle/>
          <a:p>
            <a:pPr algn="ctr"/>
            <a:r>
              <a:rPr lang="pt-BR" sz="4400" dirty="0"/>
              <a:t>Ética da Alteridade</a:t>
            </a:r>
          </a:p>
        </p:txBody>
      </p:sp>
      <p:pic>
        <p:nvPicPr>
          <p:cNvPr id="5122" name="Picture 2" descr="O Que é Alteridade? Os Abraços A Nós Mesmos Que Nos Salvam. 2 Vídeos E Um  Pouco De Texto. • Psicólogo Online E Psicóloga Online é Psico.Online |  Terapia Com Psico.Online">
            <a:extLst>
              <a:ext uri="{FF2B5EF4-FFF2-40B4-BE49-F238E27FC236}">
                <a16:creationId xmlns:a16="http://schemas.microsoft.com/office/drawing/2014/main" id="{4EB72913-50F2-4C73-86EA-520302527B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84218" y="2153336"/>
            <a:ext cx="6473315" cy="4095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624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E17841A0-9C3F-4E79-819B-0069FE6FFD73}"/>
              </a:ext>
            </a:extLst>
          </p:cNvPr>
          <p:cNvSpPr>
            <a:spLocks noGrp="1"/>
          </p:cNvSpPr>
          <p:nvPr>
            <p:ph type="title"/>
          </p:nvPr>
        </p:nvSpPr>
        <p:spPr/>
        <p:txBody>
          <a:bodyPr/>
          <a:lstStyle/>
          <a:p>
            <a:r>
              <a:rPr lang="pt-BR" dirty="0"/>
              <a:t>Definição</a:t>
            </a:r>
          </a:p>
        </p:txBody>
      </p:sp>
      <p:sp>
        <p:nvSpPr>
          <p:cNvPr id="7" name="Espaço Reservado para Conteúdo 6">
            <a:extLst>
              <a:ext uri="{FF2B5EF4-FFF2-40B4-BE49-F238E27FC236}">
                <a16:creationId xmlns:a16="http://schemas.microsoft.com/office/drawing/2014/main" id="{0CE05485-9680-4A0D-913F-462023C3FBA1}"/>
              </a:ext>
            </a:extLst>
          </p:cNvPr>
          <p:cNvSpPr>
            <a:spLocks noGrp="1"/>
          </p:cNvSpPr>
          <p:nvPr>
            <p:ph sz="quarter" idx="13"/>
          </p:nvPr>
        </p:nvSpPr>
        <p:spPr>
          <a:xfrm>
            <a:off x="838201" y="1894758"/>
            <a:ext cx="5369804" cy="3796357"/>
          </a:xfrm>
        </p:spPr>
        <p:txBody>
          <a:bodyPr>
            <a:normAutofit fontScale="92500"/>
          </a:bodyPr>
          <a:lstStyle/>
          <a:p>
            <a:r>
              <a:rPr lang="pt-BR" sz="3200" dirty="0"/>
              <a:t>Alteridade é a qualidade ou estado do que é </a:t>
            </a:r>
            <a:r>
              <a:rPr lang="pt-BR" sz="3200" b="1" dirty="0"/>
              <a:t>outro</a:t>
            </a:r>
            <a:r>
              <a:rPr lang="pt-BR" sz="3200" dirty="0"/>
              <a:t> ou do que é </a:t>
            </a:r>
            <a:r>
              <a:rPr lang="pt-BR" sz="3200" b="1" dirty="0"/>
              <a:t>diferente</a:t>
            </a:r>
            <a:r>
              <a:rPr lang="pt-BR" sz="3200" dirty="0"/>
              <a:t>. Está relacionada com a capacidade de </a:t>
            </a:r>
            <a:r>
              <a:rPr lang="pt-BR" sz="3200" b="1" dirty="0"/>
              <a:t>perceber a si mesmo </a:t>
            </a:r>
            <a:r>
              <a:rPr lang="pt-BR" sz="3200" dirty="0"/>
              <a:t>ou o próprio grupo social, </a:t>
            </a:r>
            <a:r>
              <a:rPr lang="pt-BR" sz="3200" b="1" dirty="0"/>
              <a:t>não como o padrão</a:t>
            </a:r>
            <a:r>
              <a:rPr lang="pt-BR" sz="3200" dirty="0"/>
              <a:t>, mas também como o </a:t>
            </a:r>
            <a:r>
              <a:rPr lang="pt-BR" sz="3200" b="1" dirty="0"/>
              <a:t>outro</a:t>
            </a:r>
            <a:r>
              <a:rPr lang="pt-BR" sz="3200" dirty="0"/>
              <a:t>.</a:t>
            </a:r>
          </a:p>
        </p:txBody>
      </p:sp>
      <p:pic>
        <p:nvPicPr>
          <p:cNvPr id="4" name="Picture 2" descr="Alteridade (O que é, Conceito e Definição) - Significados">
            <a:extLst>
              <a:ext uri="{FF2B5EF4-FFF2-40B4-BE49-F238E27FC236}">
                <a16:creationId xmlns:a16="http://schemas.microsoft.com/office/drawing/2014/main" id="{32B5DE14-0964-4B07-A4F3-DA7C0DDF5E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3565" y="2023896"/>
            <a:ext cx="5369803" cy="35380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136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22E2AC-3E2A-44F4-A725-AFFF77979158}"/>
              </a:ext>
            </a:extLst>
          </p:cNvPr>
          <p:cNvSpPr>
            <a:spLocks noGrp="1"/>
          </p:cNvSpPr>
          <p:nvPr>
            <p:ph type="title"/>
          </p:nvPr>
        </p:nvSpPr>
        <p:spPr/>
        <p:txBody>
          <a:bodyPr/>
          <a:lstStyle/>
          <a:p>
            <a:r>
              <a:rPr lang="pt-BR" dirty="0"/>
              <a:t>O outro</a:t>
            </a:r>
          </a:p>
        </p:txBody>
      </p:sp>
      <p:sp>
        <p:nvSpPr>
          <p:cNvPr id="3" name="Espaço Reservado para Conteúdo 2">
            <a:extLst>
              <a:ext uri="{FF2B5EF4-FFF2-40B4-BE49-F238E27FC236}">
                <a16:creationId xmlns:a16="http://schemas.microsoft.com/office/drawing/2014/main" id="{5096E6FC-86F4-438E-A7B6-ED7F587328D7}"/>
              </a:ext>
            </a:extLst>
          </p:cNvPr>
          <p:cNvSpPr>
            <a:spLocks noGrp="1"/>
          </p:cNvSpPr>
          <p:nvPr>
            <p:ph sz="quarter" idx="13"/>
          </p:nvPr>
        </p:nvSpPr>
        <p:spPr/>
        <p:txBody>
          <a:bodyPr/>
          <a:lstStyle/>
          <a:p>
            <a:r>
              <a:rPr lang="pt-BR" sz="2600" b="1" dirty="0"/>
              <a:t>Reduzir</a:t>
            </a:r>
            <a:r>
              <a:rPr lang="pt-BR" sz="2600" dirty="0"/>
              <a:t> o outro à nossa representação, ao nosso juízo, são práticas de morte. </a:t>
            </a:r>
          </a:p>
          <a:p>
            <a:r>
              <a:rPr lang="pt-BR" sz="2600" b="1" dirty="0"/>
              <a:t>Aprisionar</a:t>
            </a:r>
            <a:r>
              <a:rPr lang="pt-BR" sz="2600" dirty="0"/>
              <a:t> o outro em nossa razão é ignorar que o outro e seu mistério nos ultrapassam, desafiando a ultrapassagem do ego que personalizamos a partir de identificações.</a:t>
            </a:r>
          </a:p>
          <a:p>
            <a:r>
              <a:rPr lang="pt-BR" sz="2600" dirty="0"/>
              <a:t>O outro não é a outra metade que nos falta, mas é o outro tempo que nos </a:t>
            </a:r>
            <a:r>
              <a:rPr lang="pt-BR" sz="2600" b="1" dirty="0"/>
              <a:t>atravessa</a:t>
            </a:r>
            <a:r>
              <a:rPr lang="pt-BR" sz="2600" dirty="0"/>
              <a:t> e provoca o deslocamento de nossa geografia para um espaço de possibilidades.</a:t>
            </a:r>
          </a:p>
          <a:p>
            <a:endParaRPr lang="pt-BR" dirty="0"/>
          </a:p>
        </p:txBody>
      </p:sp>
    </p:spTree>
    <p:extLst>
      <p:ext uri="{BB962C8B-B14F-4D97-AF65-F5344CB8AC3E}">
        <p14:creationId xmlns:p14="http://schemas.microsoft.com/office/powerpoint/2010/main" val="1527011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571CB6-34FD-426C-B9D4-78DE15115D19}"/>
              </a:ext>
            </a:extLst>
          </p:cNvPr>
          <p:cNvSpPr>
            <a:spLocks noGrp="1"/>
          </p:cNvSpPr>
          <p:nvPr>
            <p:ph type="title"/>
          </p:nvPr>
        </p:nvSpPr>
        <p:spPr/>
        <p:txBody>
          <a:bodyPr/>
          <a:lstStyle/>
          <a:p>
            <a:r>
              <a:rPr lang="pt-BR" dirty="0"/>
              <a:t>Alteridade</a:t>
            </a:r>
          </a:p>
        </p:txBody>
      </p:sp>
      <p:sp>
        <p:nvSpPr>
          <p:cNvPr id="3" name="Espaço Reservado para Conteúdo 2">
            <a:extLst>
              <a:ext uri="{FF2B5EF4-FFF2-40B4-BE49-F238E27FC236}">
                <a16:creationId xmlns:a16="http://schemas.microsoft.com/office/drawing/2014/main" id="{4122F1F1-ECC9-4AC7-A433-59039355F8B5}"/>
              </a:ext>
            </a:extLst>
          </p:cNvPr>
          <p:cNvSpPr>
            <a:spLocks noGrp="1"/>
          </p:cNvSpPr>
          <p:nvPr>
            <p:ph sz="quarter" idx="13"/>
          </p:nvPr>
        </p:nvSpPr>
        <p:spPr>
          <a:xfrm>
            <a:off x="838200" y="1894758"/>
            <a:ext cx="10515600" cy="4156418"/>
          </a:xfrm>
        </p:spPr>
        <p:txBody>
          <a:bodyPr>
            <a:normAutofit/>
          </a:bodyPr>
          <a:lstStyle/>
          <a:p>
            <a:r>
              <a:rPr lang="pt-BR" sz="2600" dirty="0"/>
              <a:t>Alter, o outro, o </a:t>
            </a:r>
            <a:r>
              <a:rPr lang="pt-BR" sz="2600" dirty="0" err="1"/>
              <a:t>outramento</a:t>
            </a:r>
            <a:r>
              <a:rPr lang="pt-BR" sz="2600" dirty="0"/>
              <a:t> = </a:t>
            </a:r>
            <a:r>
              <a:rPr lang="pt-BR" sz="2600" b="1" dirty="0"/>
              <a:t>acolher a complexidade da vida </a:t>
            </a:r>
            <a:r>
              <a:rPr lang="pt-BR" sz="2600" dirty="0"/>
              <a:t>e de todos os seres vivos e, de forma especial, os outros humanos, assim como o outro presente em cada um de nós e suas possibilidades. </a:t>
            </a:r>
          </a:p>
          <a:p>
            <a:r>
              <a:rPr lang="pt-BR" sz="2600" b="1" dirty="0"/>
              <a:t>Multiplicar-se</a:t>
            </a:r>
            <a:r>
              <a:rPr lang="pt-BR" sz="2600" dirty="0"/>
              <a:t> na relação com um universo de possibilidades que a vida, a linguagem e o pensamento nos possibilitam.</a:t>
            </a:r>
          </a:p>
          <a:p>
            <a:r>
              <a:rPr lang="pt-BR" sz="2600" dirty="0"/>
              <a:t>A </a:t>
            </a:r>
            <a:r>
              <a:rPr lang="pt-BR" sz="2600" b="1" dirty="0"/>
              <a:t>ética da complexidade e da alteridade </a:t>
            </a:r>
            <a:r>
              <a:rPr lang="pt-BR" sz="2600" dirty="0"/>
              <a:t>nos desafia a pensar que a responsabilidade de nossas ações não está somente ligada a um fato imediato e próximo, mas a uma rede complexa de possibilidades que se estendem.</a:t>
            </a:r>
          </a:p>
          <a:p>
            <a:endParaRPr lang="pt-BR" sz="2600" dirty="0"/>
          </a:p>
          <a:p>
            <a:endParaRPr lang="pt-BR" dirty="0"/>
          </a:p>
        </p:txBody>
      </p:sp>
    </p:spTree>
    <p:extLst>
      <p:ext uri="{BB962C8B-B14F-4D97-AF65-F5344CB8AC3E}">
        <p14:creationId xmlns:p14="http://schemas.microsoft.com/office/powerpoint/2010/main" val="3032243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E1F13C-839D-4923-9BBD-4F2A92ED689A}"/>
              </a:ext>
            </a:extLst>
          </p:cNvPr>
          <p:cNvSpPr>
            <a:spLocks noGrp="1"/>
          </p:cNvSpPr>
          <p:nvPr>
            <p:ph type="title"/>
          </p:nvPr>
        </p:nvSpPr>
        <p:spPr/>
        <p:txBody>
          <a:bodyPr/>
          <a:lstStyle/>
          <a:p>
            <a:r>
              <a:rPr lang="pt-BR" dirty="0"/>
              <a:t>Ética e Indiferença</a:t>
            </a:r>
          </a:p>
        </p:txBody>
      </p:sp>
      <p:sp>
        <p:nvSpPr>
          <p:cNvPr id="3" name="Espaço Reservado para Conteúdo 2">
            <a:extLst>
              <a:ext uri="{FF2B5EF4-FFF2-40B4-BE49-F238E27FC236}">
                <a16:creationId xmlns:a16="http://schemas.microsoft.com/office/drawing/2014/main" id="{C1BFD845-A888-4352-9284-F1C87609AF3E}"/>
              </a:ext>
            </a:extLst>
          </p:cNvPr>
          <p:cNvSpPr>
            <a:spLocks noGrp="1"/>
          </p:cNvSpPr>
          <p:nvPr>
            <p:ph sz="quarter" idx="13"/>
          </p:nvPr>
        </p:nvSpPr>
        <p:spPr/>
        <p:txBody>
          <a:bodyPr/>
          <a:lstStyle/>
          <a:p>
            <a:r>
              <a:rPr lang="pt-BR" dirty="0"/>
              <a:t>A verdadeira ética é uma atitude, um estado de atenção para com a vida.</a:t>
            </a:r>
          </a:p>
          <a:p>
            <a:r>
              <a:rPr lang="pt-BR" dirty="0"/>
              <a:t>Se não há atitude, há estagnação, não há vontade de mudar as coisas. Há indiferença, há desqualificação e aniquilamento do outro e a consequente banalização do mal.</a:t>
            </a:r>
          </a:p>
          <a:p>
            <a:r>
              <a:rPr lang="pt-BR" dirty="0"/>
              <a:t>A gente se acostuma com a indiferença, com a violência, com a corrupção...</a:t>
            </a:r>
          </a:p>
        </p:txBody>
      </p:sp>
    </p:spTree>
    <p:extLst>
      <p:ext uri="{BB962C8B-B14F-4D97-AF65-F5344CB8AC3E}">
        <p14:creationId xmlns:p14="http://schemas.microsoft.com/office/powerpoint/2010/main" val="2248035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6186C5-DF7A-47DC-9461-E0F3E8E8B36D}"/>
              </a:ext>
            </a:extLst>
          </p:cNvPr>
          <p:cNvSpPr>
            <a:spLocks noGrp="1"/>
          </p:cNvSpPr>
          <p:nvPr>
            <p:ph type="title"/>
          </p:nvPr>
        </p:nvSpPr>
        <p:spPr/>
        <p:txBody>
          <a:bodyPr/>
          <a:lstStyle/>
          <a:p>
            <a:r>
              <a:rPr lang="pt-BR" dirty="0"/>
              <a:t>A gente se acostuma - Marina Colasanti</a:t>
            </a:r>
          </a:p>
        </p:txBody>
      </p:sp>
      <p:pic>
        <p:nvPicPr>
          <p:cNvPr id="4" name="Mídia Online 3" title="A gente se acostuma...">
            <a:hlinkClick r:id="" action="ppaction://media"/>
            <a:extLst>
              <a:ext uri="{FF2B5EF4-FFF2-40B4-BE49-F238E27FC236}">
                <a16:creationId xmlns:a16="http://schemas.microsoft.com/office/drawing/2014/main" id="{FEE9EC9E-41DC-4443-B402-87643D4EC48A}"/>
              </a:ext>
            </a:extLst>
          </p:cNvPr>
          <p:cNvPicPr>
            <a:picLocks noGrp="1" noRot="1" noChangeAspect="1"/>
          </p:cNvPicPr>
          <p:nvPr>
            <p:ph sz="quarter" idx="13"/>
            <a:videoFile r:link="rId1"/>
          </p:nvPr>
        </p:nvPicPr>
        <p:blipFill>
          <a:blip r:embed="rId3"/>
          <a:stretch>
            <a:fillRect/>
          </a:stretch>
        </p:blipFill>
        <p:spPr>
          <a:xfrm>
            <a:off x="3565525" y="1690688"/>
            <a:ext cx="5060950" cy="4599077"/>
          </a:xfrm>
          <a:prstGeom prst="rect">
            <a:avLst/>
          </a:prstGeom>
        </p:spPr>
      </p:pic>
    </p:spTree>
    <p:extLst>
      <p:ext uri="{BB962C8B-B14F-4D97-AF65-F5344CB8AC3E}">
        <p14:creationId xmlns:p14="http://schemas.microsoft.com/office/powerpoint/2010/main" val="65410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05FCA0-265B-40F3-9297-4D556D79BB8B}"/>
              </a:ext>
            </a:extLst>
          </p:cNvPr>
          <p:cNvSpPr>
            <a:spLocks noGrp="1"/>
          </p:cNvSpPr>
          <p:nvPr>
            <p:ph type="title"/>
          </p:nvPr>
        </p:nvSpPr>
        <p:spPr/>
        <p:txBody>
          <a:bodyPr/>
          <a:lstStyle/>
          <a:p>
            <a:r>
              <a:rPr lang="pt-BR" dirty="0"/>
              <a:t>Resumindo</a:t>
            </a:r>
          </a:p>
        </p:txBody>
      </p:sp>
      <p:sp>
        <p:nvSpPr>
          <p:cNvPr id="3" name="Espaço Reservado para Conteúdo 2">
            <a:extLst>
              <a:ext uri="{FF2B5EF4-FFF2-40B4-BE49-F238E27FC236}">
                <a16:creationId xmlns:a16="http://schemas.microsoft.com/office/drawing/2014/main" id="{54C935B0-7AC8-4547-91AB-2AC66DE2AAE1}"/>
              </a:ext>
            </a:extLst>
          </p:cNvPr>
          <p:cNvSpPr>
            <a:spLocks noGrp="1"/>
          </p:cNvSpPr>
          <p:nvPr>
            <p:ph sz="quarter" idx="13"/>
          </p:nvPr>
        </p:nvSpPr>
        <p:spPr>
          <a:xfrm>
            <a:off x="838200" y="1452282"/>
            <a:ext cx="10515600" cy="4706471"/>
          </a:xfrm>
        </p:spPr>
        <p:txBody>
          <a:bodyPr>
            <a:normAutofit fontScale="85000" lnSpcReduction="20000"/>
          </a:bodyPr>
          <a:lstStyle/>
          <a:p>
            <a:pPr>
              <a:lnSpc>
                <a:spcPct val="120000"/>
              </a:lnSpc>
            </a:pPr>
            <a:r>
              <a:rPr lang="pt-BR" dirty="0"/>
              <a:t>Nos constituímos socialmente dentro da lógica neoliberal mercadológica que institui nosso modo de ser, nosso </a:t>
            </a:r>
            <a:r>
              <a:rPr lang="pt-BR" dirty="0" err="1"/>
              <a:t>ethos</a:t>
            </a:r>
            <a:r>
              <a:rPr lang="pt-BR" dirty="0"/>
              <a:t>, dentro dos </a:t>
            </a:r>
            <a:r>
              <a:rPr lang="pt-BR" b="1" dirty="0"/>
              <a:t>moldes culturais etnocêntricos, individualista e de aniquilamento do outro</a:t>
            </a:r>
            <a:r>
              <a:rPr lang="pt-BR" dirty="0"/>
              <a:t>. </a:t>
            </a:r>
          </a:p>
          <a:p>
            <a:pPr>
              <a:lnSpc>
                <a:spcPct val="120000"/>
              </a:lnSpc>
            </a:pPr>
            <a:r>
              <a:rPr lang="pt-BR" dirty="0"/>
              <a:t>Seguimos </a:t>
            </a:r>
            <a:r>
              <a:rPr lang="pt-BR" b="1" dirty="0"/>
              <a:t>presos a moralismos</a:t>
            </a:r>
            <a:r>
              <a:rPr lang="pt-BR" dirty="0"/>
              <a:t>, a códigos morais que julgam e </a:t>
            </a:r>
            <a:r>
              <a:rPr lang="pt-BR" b="1" dirty="0"/>
              <a:t>reduzem</a:t>
            </a:r>
            <a:r>
              <a:rPr lang="pt-BR" dirty="0"/>
              <a:t> o outro, a diversidade, o diferente ao si mesmo.</a:t>
            </a:r>
          </a:p>
          <a:p>
            <a:pPr>
              <a:lnSpc>
                <a:spcPct val="120000"/>
              </a:lnSpc>
            </a:pPr>
            <a:r>
              <a:rPr lang="pt-BR" dirty="0"/>
              <a:t>Esquecemos que a </a:t>
            </a:r>
            <a:r>
              <a:rPr lang="pt-BR" b="1" dirty="0"/>
              <a:t>verdadeira ética </a:t>
            </a:r>
            <a:r>
              <a:rPr lang="pt-BR" dirty="0"/>
              <a:t>é aquela que, a partir da </a:t>
            </a:r>
            <a:r>
              <a:rPr lang="pt-BR" b="1" dirty="0"/>
              <a:t>reflexão</a:t>
            </a:r>
            <a:r>
              <a:rPr lang="pt-BR" dirty="0"/>
              <a:t> e da </a:t>
            </a:r>
            <a:r>
              <a:rPr lang="pt-BR" b="1" dirty="0"/>
              <a:t>abertura</a:t>
            </a:r>
            <a:r>
              <a:rPr lang="pt-BR" dirty="0"/>
              <a:t> à complexidade da vida não apenas tolera, mas se </a:t>
            </a:r>
            <a:r>
              <a:rPr lang="pt-BR" b="1" dirty="0"/>
              <a:t>solidariza</a:t>
            </a:r>
            <a:r>
              <a:rPr lang="pt-BR" dirty="0"/>
              <a:t> com a </a:t>
            </a:r>
            <a:r>
              <a:rPr lang="pt-BR" b="1" dirty="0"/>
              <a:t>alteridade</a:t>
            </a:r>
            <a:r>
              <a:rPr lang="pt-BR" dirty="0"/>
              <a:t>. Não apenas respeita, mas se abre para a diferença.</a:t>
            </a:r>
          </a:p>
          <a:p>
            <a:pPr>
              <a:lnSpc>
                <a:spcPct val="120000"/>
              </a:lnSpc>
            </a:pPr>
            <a:r>
              <a:rPr lang="pt-BR" dirty="0"/>
              <a:t>Ética diz respeito a uma </a:t>
            </a:r>
            <a:r>
              <a:rPr lang="pt-BR" b="1" dirty="0"/>
              <a:t>ação reflexiva </a:t>
            </a:r>
            <a:r>
              <a:rPr lang="pt-BR" dirty="0"/>
              <a:t>diante dos códigos morais instituídos. E como tal, esse </a:t>
            </a:r>
            <a:r>
              <a:rPr lang="pt-BR" b="1" dirty="0"/>
              <a:t>fazer ético </a:t>
            </a:r>
            <a:r>
              <a:rPr lang="pt-BR" dirty="0"/>
              <a:t>está necessariamente relacionado à alteridade, à abertura para as possibilidades de existência.</a:t>
            </a:r>
          </a:p>
          <a:p>
            <a:endParaRPr lang="pt-BR" dirty="0"/>
          </a:p>
        </p:txBody>
      </p:sp>
    </p:spTree>
    <p:extLst>
      <p:ext uri="{BB962C8B-B14F-4D97-AF65-F5344CB8AC3E}">
        <p14:creationId xmlns:p14="http://schemas.microsoft.com/office/powerpoint/2010/main" val="3590679889"/>
      </p:ext>
    </p:extLst>
  </p:cSld>
  <p:clrMapOvr>
    <a:masterClrMapping/>
  </p:clrMapOvr>
</p:sld>
</file>

<file path=ppt/theme/theme1.xml><?xml version="1.0" encoding="utf-8"?>
<a:theme xmlns:a="http://schemas.openxmlformats.org/drawingml/2006/main" name="Tema do Office">
  <a:themeElements>
    <a:clrScheme name="Personalizada 2">
      <a:dk1>
        <a:sysClr val="windowText" lastClr="000000"/>
      </a:dk1>
      <a:lt1>
        <a:srgbClr val="F9F9F5"/>
      </a:lt1>
      <a:dk2>
        <a:srgbClr val="8363A7"/>
      </a:dk2>
      <a:lt2>
        <a:srgbClr val="E7E6E6"/>
      </a:lt2>
      <a:accent1>
        <a:srgbClr val="5889AB"/>
      </a:accent1>
      <a:accent2>
        <a:srgbClr val="2AB2AE"/>
      </a:accent2>
      <a:accent3>
        <a:srgbClr val="A5A5A5"/>
      </a:accent3>
      <a:accent4>
        <a:srgbClr val="ED7D31"/>
      </a:accent4>
      <a:accent5>
        <a:srgbClr val="36B088"/>
      </a:accent5>
      <a:accent6>
        <a:srgbClr val="42AF60"/>
      </a:accent6>
      <a:hlink>
        <a:srgbClr val="FFC000"/>
      </a:hlink>
      <a:folHlink>
        <a:srgbClr val="C490AA"/>
      </a:folHlink>
    </a:clrScheme>
    <a:fontScheme name="Graduacao">
      <a:majorFont>
        <a:latin typeface="Gill Sans MT"/>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manho xmlns="b3c82ae9-dfb5-4276-ba80-5d7c7465f520" xsi:nil="true"/>
    <_Flow_SignoffStatus xmlns="b3c82ae9-dfb5-4276-ba80-5d7c7465f520" xsi:nil="true"/>
    <lcf76f155ced4ddcb4097134ff3c332f xmlns="b3c82ae9-dfb5-4276-ba80-5d7c7465f520">
      <Terms xmlns="http://schemas.microsoft.com/office/infopath/2007/PartnerControls"/>
    </lcf76f155ced4ddcb4097134ff3c332f>
    <TaxCatchAll xmlns="33f618e5-2d6d-4cbe-87e3-8cbcb41a16af"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6B360A73E357F2438BB83FE89C825B47" ma:contentTypeVersion="20" ma:contentTypeDescription="Crie um novo documento." ma:contentTypeScope="" ma:versionID="30ccdf8b79f9487c21c849f8cbec1bf4">
  <xsd:schema xmlns:xsd="http://www.w3.org/2001/XMLSchema" xmlns:xs="http://www.w3.org/2001/XMLSchema" xmlns:p="http://schemas.microsoft.com/office/2006/metadata/properties" xmlns:ns2="b3c82ae9-dfb5-4276-ba80-5d7c7465f520" xmlns:ns3="33f618e5-2d6d-4cbe-87e3-8cbcb41a16af" targetNamespace="http://schemas.microsoft.com/office/2006/metadata/properties" ma:root="true" ma:fieldsID="519e15a55727cdc293f57a605e75df58" ns2:_="" ns3:_="">
    <xsd:import namespace="b3c82ae9-dfb5-4276-ba80-5d7c7465f520"/>
    <xsd:import namespace="33f618e5-2d6d-4cbe-87e3-8cbcb41a16af"/>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Tamanho" minOccurs="0"/>
                <xsd:element ref="ns2:_Flow_SignoffStatu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3c82ae9-dfb5-4276-ba80-5d7c7465f5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DateTaken" ma:index="11" nillable="true" ma:displayName="MediaServiceDateTaken" ma:hidden="true" ma:internalName="MediaServiceDateTaken"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Tamanho" ma:index="19" nillable="true" ma:displayName="Tamanho" ma:format="Dropdown" ma:internalName="Tamanho" ma:percentage="FALSE">
      <xsd:simpleType>
        <xsd:restriction base="dms:Number"/>
      </xsd:simpleType>
    </xsd:element>
    <xsd:element name="_Flow_SignoffStatus" ma:index="20" nillable="true" ma:displayName="Status de liberação" ma:internalName="Status_x0020_de_x0020_libera_x00e7__x00e3_o">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Marcações de imagem" ma:readOnly="false" ma:fieldId="{5cf76f15-5ced-4ddc-b409-7134ff3c332f}" ma:taxonomyMulti="true" ma:sspId="aac08c5c-6fe0-4712-b828-e958a9361e2e"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3f618e5-2d6d-4cbe-87e3-8cbcb41a16af" elementFormDefault="qualified">
    <xsd:import namespace="http://schemas.microsoft.com/office/2006/documentManagement/types"/>
    <xsd:import namespace="http://schemas.microsoft.com/office/infopath/2007/PartnerControls"/>
    <xsd:element name="SharedWithUsers" ma:index="13"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Detalhes de Compartilhado Com" ma:internalName="SharedWithDetails" ma:readOnly="true">
      <xsd:simpleType>
        <xsd:restriction base="dms:Note">
          <xsd:maxLength value="255"/>
        </xsd:restriction>
      </xsd:simpleType>
    </xsd:element>
    <xsd:element name="TaxCatchAll" ma:index="24" nillable="true" ma:displayName="Taxonomy Catch All Column" ma:hidden="true" ma:list="{0473b68e-2571-491e-aa69-cde0e725b1df}" ma:internalName="TaxCatchAll" ma:showField="CatchAllData" ma:web="33f618e5-2d6d-4cbe-87e3-8cbcb41a16a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052074-0390-4F2F-B6F8-E381E8F614C4}">
  <ds:schemaRefs>
    <ds:schemaRef ds:uri="http://schemas.microsoft.com/office/2006/metadata/properties"/>
    <ds:schemaRef ds:uri="http://schemas.microsoft.com/office/infopath/2007/PartnerControls"/>
    <ds:schemaRef ds:uri="b3c82ae9-dfb5-4276-ba80-5d7c7465f520"/>
    <ds:schemaRef ds:uri="33f618e5-2d6d-4cbe-87e3-8cbcb41a16af"/>
  </ds:schemaRefs>
</ds:datastoreItem>
</file>

<file path=customXml/itemProps2.xml><?xml version="1.0" encoding="utf-8"?>
<ds:datastoreItem xmlns:ds="http://schemas.openxmlformats.org/officeDocument/2006/customXml" ds:itemID="{6D896914-8177-4CDB-9F95-7E1639BAEB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3c82ae9-dfb5-4276-ba80-5d7c7465f520"/>
    <ds:schemaRef ds:uri="33f618e5-2d6d-4cbe-87e3-8cbcb41a16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4BB1D50-17B0-4E4A-98C6-F1178DEEEEE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1171</TotalTime>
  <Words>1639</Words>
  <Application>Microsoft Office PowerPoint</Application>
  <PresentationFormat>Widescreen</PresentationFormat>
  <Paragraphs>85</Paragraphs>
  <Slides>22</Slides>
  <Notes>0</Notes>
  <HiddenSlides>0</HiddenSlides>
  <MMClips>1</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22</vt:i4>
      </vt:variant>
    </vt:vector>
  </HeadingPairs>
  <TitlesOfParts>
    <vt:vector size="27" baseType="lpstr">
      <vt:lpstr>Arial</vt:lpstr>
      <vt:lpstr>Calibri</vt:lpstr>
      <vt:lpstr>Gill Sans MT</vt:lpstr>
      <vt:lpstr>Trebuchet MS</vt:lpstr>
      <vt:lpstr>Tema do Office</vt:lpstr>
      <vt:lpstr>Apresentação do PowerPoint</vt:lpstr>
      <vt:lpstr>Recapitulando</vt:lpstr>
      <vt:lpstr>Apresentação do PowerPoint</vt:lpstr>
      <vt:lpstr>Panorama</vt:lpstr>
      <vt:lpstr>Por outro lado...</vt:lpstr>
      <vt:lpstr>Apresentação do PowerPoint</vt:lpstr>
      <vt:lpstr>Apresentação do PowerPoint</vt:lpstr>
      <vt:lpstr>O que é Moral?</vt:lpstr>
      <vt:lpstr>O que é Ética</vt:lpstr>
      <vt:lpstr>Função da Ética</vt:lpstr>
      <vt:lpstr>Resumindo a diferenciação:</vt:lpstr>
      <vt:lpstr>Outros conceitos</vt:lpstr>
      <vt:lpstr>Para entender a diferenciação</vt:lpstr>
      <vt:lpstr>Fazer Ética</vt:lpstr>
      <vt:lpstr>Constituintes Éticos</vt:lpstr>
      <vt:lpstr>Ética da Alteridade</vt:lpstr>
      <vt:lpstr>Definição</vt:lpstr>
      <vt:lpstr>O outro</vt:lpstr>
      <vt:lpstr>Alteridade</vt:lpstr>
      <vt:lpstr>Ética e Indiferença</vt:lpstr>
      <vt:lpstr>A gente se acostuma - Marina Colasanti</vt:lpstr>
      <vt:lpstr>Resumindo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Raul Fontoura</dc:creator>
  <cp:lastModifiedBy>Adelaide Bersch Boff</cp:lastModifiedBy>
  <cp:revision>24</cp:revision>
  <dcterms:created xsi:type="dcterms:W3CDTF">2021-07-28T20:18:47Z</dcterms:created>
  <dcterms:modified xsi:type="dcterms:W3CDTF">2025-03-25T11:53:01Z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0x0101006B360A73E357F2438BB83FE89C825B47</vt:lpwstr>
  </property>
  <property fmtid="{D5CDD505-2E9C-101B-9397-08002B2CF9AE}" pid="3" name="MediaServiceImageTags">
    <vt:lpwstr/>
  </property>
</Properties>
</file>