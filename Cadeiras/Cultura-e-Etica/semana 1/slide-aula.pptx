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sldIdLst>
    <p:sldId id="256" r:id="rId5"/>
    <p:sldId id="257" r:id="rId6"/>
    <p:sldId id="258" r:id="rId7"/>
    <p:sldId id="260" r:id="rId8"/>
    <p:sldId id="274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15" autoAdjust="0"/>
    <p:restoredTop sz="54492" autoAdjust="0"/>
  </p:normalViewPr>
  <p:slideViewPr>
    <p:cSldViewPr snapToGrid="0">
      <p:cViewPr varScale="1">
        <p:scale>
          <a:sx n="69" d="100"/>
          <a:sy n="69" d="100"/>
        </p:scale>
        <p:origin x="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88F408-5B01-4A36-8A56-A4B6AB98DA1E}" type="datetimeFigureOut">
              <a:rPr lang="pt-BR" smtClean="0"/>
              <a:t>05/03/2024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8E4ADB-4F6C-4A14-A232-7FEC664481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5986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8E4ADB-4F6C-4A14-A232-7FEC664481FC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4839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Uma imagem contendo Texto&#10;&#10;Descrição gerada automaticamente">
            <a:extLst>
              <a:ext uri="{FF2B5EF4-FFF2-40B4-BE49-F238E27FC236}">
                <a16:creationId xmlns:a16="http://schemas.microsoft.com/office/drawing/2014/main" id="{A6899666-3415-4A1C-8C02-D785AD2F09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1886" y="-1823339"/>
            <a:ext cx="7523828" cy="868133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EBCAA61-B0CA-451F-B78A-0669DB9EF7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041400"/>
            <a:ext cx="6645442" cy="2387600"/>
          </a:xfrm>
        </p:spPr>
        <p:txBody>
          <a:bodyPr anchor="b">
            <a:normAutofit/>
          </a:bodyPr>
          <a:lstStyle>
            <a:lvl1pPr algn="l">
              <a:defRPr sz="5400" b="1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5378E7-73A5-45D1-8BA4-2A1E0411C6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21074"/>
            <a:ext cx="6645442" cy="2145799"/>
          </a:xfrm>
        </p:spPr>
        <p:txBody>
          <a:bodyPr>
            <a:normAutofit/>
          </a:bodyPr>
          <a:lstStyle>
            <a:lvl1pPr marL="0" indent="0" algn="l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04A13F-A601-4EB3-9212-9DDE59E33C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5924640"/>
            <a:ext cx="1483895" cy="365125"/>
          </a:xfrm>
        </p:spPr>
        <p:txBody>
          <a:bodyPr/>
          <a:lstStyle/>
          <a:p>
            <a:fld id="{14D8BB3C-6B53-46BD-A4F0-0757B46599C3}" type="datetimeFigureOut">
              <a:rPr lang="pt-BR" smtClean="0"/>
              <a:t>05/03/2024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DBE6AE-1A6A-49CF-88A3-A5956709A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10853" y="5924640"/>
            <a:ext cx="4872789" cy="365125"/>
          </a:xfrm>
        </p:spPr>
        <p:txBody>
          <a:bodyPr/>
          <a:lstStyle>
            <a:lvl1pPr algn="l">
              <a:defRPr/>
            </a:lvl1pPr>
          </a:lstStyle>
          <a:p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C269AF2-D220-4898-8C9F-A6A31405E8B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3800" y="6024588"/>
            <a:ext cx="252985" cy="26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178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 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Uma imagem contendo Texto&#10;&#10;Descrição gerada automaticamente">
            <a:extLst>
              <a:ext uri="{FF2B5EF4-FFF2-40B4-BE49-F238E27FC236}">
                <a16:creationId xmlns:a16="http://schemas.microsoft.com/office/drawing/2014/main" id="{42F49737-511D-46FF-A179-6D29E589BB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7123" y="-1823339"/>
            <a:ext cx="7523828" cy="868133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973F174-0461-45A7-8F99-0019B1D8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571" y="608746"/>
            <a:ext cx="7423074" cy="1122453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F39EC3-EAB6-41B1-AF6D-1FF09E90B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3245" y="1934308"/>
            <a:ext cx="7423075" cy="3787222"/>
          </a:xfr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899C2A-8D75-473A-9DFD-EC391EC955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83244" y="5924640"/>
            <a:ext cx="1195719" cy="365125"/>
          </a:xfrm>
        </p:spPr>
        <p:txBody>
          <a:bodyPr/>
          <a:lstStyle/>
          <a:p>
            <a:fld id="{14D8BB3C-6B53-46BD-A4F0-0757B46599C3}" type="datetimeFigureOut">
              <a:rPr lang="pt-BR" smtClean="0"/>
              <a:t>05/03/2024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5B9AF1-5F2D-4615-83D4-CA141F55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14290" y="5924639"/>
            <a:ext cx="4360984" cy="365125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B69BE5-9ED2-499D-A461-BC7071BB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5924640"/>
            <a:ext cx="1195720" cy="365125"/>
          </a:xfrm>
        </p:spPr>
        <p:txBody>
          <a:bodyPr/>
          <a:lstStyle/>
          <a:p>
            <a:fld id="{46016F14-41C8-42A0-A751-72D01404B6D7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E42BBD6-580A-4671-ABD8-62907802A5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>
            <a:off x="-12600044" y="-168812"/>
            <a:ext cx="14870813" cy="868134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FF6D245-76FA-41BF-92E0-75557C201A4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3800" y="6024588"/>
            <a:ext cx="252985" cy="26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044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 Centr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42F49737-511D-46FF-A179-6D29E589BB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27124" y="-1823339"/>
            <a:ext cx="7523826" cy="868133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973F174-0461-45A7-8F99-0019B1D8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571" y="608746"/>
            <a:ext cx="7423074" cy="1122453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F39EC3-EAB6-41B1-AF6D-1FF09E90B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3245" y="1934308"/>
            <a:ext cx="7423075" cy="3787222"/>
          </a:xfr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899C2A-8D75-473A-9DFD-EC391EC955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83244" y="5924640"/>
            <a:ext cx="1195719" cy="365125"/>
          </a:xfrm>
        </p:spPr>
        <p:txBody>
          <a:bodyPr/>
          <a:lstStyle/>
          <a:p>
            <a:fld id="{14D8BB3C-6B53-46BD-A4F0-0757B46599C3}" type="datetimeFigureOut">
              <a:rPr lang="pt-BR" smtClean="0"/>
              <a:t>05/03/2024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5B9AF1-5F2D-4615-83D4-CA141F55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14290" y="5924639"/>
            <a:ext cx="4360984" cy="365125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B69BE5-9ED2-499D-A461-BC7071BB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5924640"/>
            <a:ext cx="1195720" cy="365125"/>
          </a:xfrm>
        </p:spPr>
        <p:txBody>
          <a:bodyPr/>
          <a:lstStyle/>
          <a:p>
            <a:fld id="{46016F14-41C8-42A0-A751-72D01404B6D7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E42BBD6-580A-4671-ABD8-62907802A5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57542" y="-1823339"/>
            <a:ext cx="7523827" cy="868134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FF6D245-76FA-41BF-92E0-75557C201A4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3800" y="6024588"/>
            <a:ext cx="252985" cy="26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947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 Central (Escur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42F49737-511D-46FF-A179-6D29E589BB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471684" y="-1316436"/>
            <a:ext cx="15135367" cy="883578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973F174-0461-45A7-8F99-0019B1D8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571" y="608746"/>
            <a:ext cx="7423074" cy="112245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F39EC3-EAB6-41B1-AF6D-1FF09E90B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3245" y="1934308"/>
            <a:ext cx="7423075" cy="3787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899C2A-8D75-473A-9DFD-EC391EC955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83244" y="5924640"/>
            <a:ext cx="119571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4D8BB3C-6B53-46BD-A4F0-0757B46599C3}" type="datetimeFigureOut">
              <a:rPr lang="pt-BR" smtClean="0"/>
              <a:pPr/>
              <a:t>05/03/2024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5B9AF1-5F2D-4615-83D4-CA141F55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14290" y="5924639"/>
            <a:ext cx="436098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B69BE5-9ED2-499D-A461-BC7071BB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5924640"/>
            <a:ext cx="119572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6016F14-41C8-42A0-A751-72D01404B6D7}" type="slidenum">
              <a:rPr lang="pt-BR" smtClean="0"/>
              <a:pPr/>
              <a:t>‹nº›</a:t>
            </a:fld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FF6D245-76FA-41BF-92E0-75557C201A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3800" y="6024588"/>
            <a:ext cx="252985" cy="26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171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 Esqu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42F49737-511D-46FF-A179-6D29E589BB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27124" y="-1195540"/>
            <a:ext cx="7523826" cy="868133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973F174-0461-45A7-8F99-0019B1D8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248" y="608746"/>
            <a:ext cx="9080873" cy="1122453"/>
          </a:xfrm>
        </p:spPr>
        <p:txBody>
          <a:bodyPr/>
          <a:lstStyle>
            <a:lvl1pPr algn="l">
              <a:defRPr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F39EC3-EAB6-41B1-AF6D-1FF09E90B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923" y="1934308"/>
            <a:ext cx="9080874" cy="3787222"/>
          </a:xfr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899C2A-8D75-473A-9DFD-EC391EC955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0922" y="5924640"/>
            <a:ext cx="1195719" cy="365125"/>
          </a:xfrm>
        </p:spPr>
        <p:txBody>
          <a:bodyPr/>
          <a:lstStyle/>
          <a:p>
            <a:fld id="{14D8BB3C-6B53-46BD-A4F0-0757B46599C3}" type="datetimeFigureOut">
              <a:rPr lang="pt-BR" smtClean="0"/>
              <a:t>05/03/2024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5B9AF1-5F2D-4615-83D4-CA141F55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1968" y="5924639"/>
            <a:ext cx="6007632" cy="365125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B69BE5-9ED2-499D-A461-BC7071BB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9655" y="5924640"/>
            <a:ext cx="1195720" cy="365125"/>
          </a:xfrm>
        </p:spPr>
        <p:txBody>
          <a:bodyPr/>
          <a:lstStyle/>
          <a:p>
            <a:fld id="{46016F14-41C8-42A0-A751-72D01404B6D7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FF6D245-76FA-41BF-92E0-75557C201A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3800" y="6024588"/>
            <a:ext cx="252985" cy="26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624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 Dire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73F174-0461-45A7-8F99-0019B1D8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2768" y="608746"/>
            <a:ext cx="8999620" cy="1122453"/>
          </a:xfrm>
        </p:spPr>
        <p:txBody>
          <a:bodyPr/>
          <a:lstStyle>
            <a:lvl1pPr algn="l">
              <a:defRPr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F39EC3-EAB6-41B1-AF6D-1FF09E90B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4442" y="1934308"/>
            <a:ext cx="8999621" cy="3787222"/>
          </a:xfr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899C2A-8D75-473A-9DFD-EC391EC955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55430" y="5924640"/>
            <a:ext cx="1195719" cy="365125"/>
          </a:xfrm>
        </p:spPr>
        <p:txBody>
          <a:bodyPr/>
          <a:lstStyle/>
          <a:p>
            <a:fld id="{14D8BB3C-6B53-46BD-A4F0-0757B46599C3}" type="datetimeFigureOut">
              <a:rPr lang="pt-BR" smtClean="0"/>
              <a:t>05/03/2024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5B9AF1-5F2D-4615-83D4-CA141F55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82453" y="5924639"/>
            <a:ext cx="5989279" cy="365125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B69BE5-9ED2-499D-A461-BC7071BB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07060" y="5924640"/>
            <a:ext cx="829692" cy="365125"/>
          </a:xfrm>
        </p:spPr>
        <p:txBody>
          <a:bodyPr/>
          <a:lstStyle/>
          <a:p>
            <a:fld id="{46016F14-41C8-42A0-A751-72D01404B6D7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E42BBD6-580A-4671-ABD8-62907802A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>
            <a:off x="-12600044" y="-1829175"/>
            <a:ext cx="14870813" cy="868134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FF6D245-76FA-41BF-92E0-75557C201A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3800" y="6024588"/>
            <a:ext cx="252985" cy="26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932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 Esquerda (Escur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4764281E-E4F0-4767-B322-1566CD1088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921364" y="-928047"/>
            <a:ext cx="19517566" cy="1139403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973F174-0461-45A7-8F99-0019B1D8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248" y="608746"/>
            <a:ext cx="9080873" cy="112245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F39EC3-EAB6-41B1-AF6D-1FF09E90B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923" y="1934308"/>
            <a:ext cx="9080874" cy="3787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899C2A-8D75-473A-9DFD-EC391EC955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0922" y="5924640"/>
            <a:ext cx="119571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4D8BB3C-6B53-46BD-A4F0-0757B46599C3}" type="datetimeFigureOut">
              <a:rPr lang="pt-BR" smtClean="0"/>
              <a:pPr/>
              <a:t>05/03/2024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5B9AF1-5F2D-4615-83D4-CA141F55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1968" y="5924639"/>
            <a:ext cx="600763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B69BE5-9ED2-499D-A461-BC7071BB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9655" y="5924640"/>
            <a:ext cx="119572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6016F14-41C8-42A0-A751-72D01404B6D7}" type="slidenum">
              <a:rPr lang="pt-BR" smtClean="0"/>
              <a:pPr/>
              <a:t>‹nº›</a:t>
            </a:fld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FF6D245-76FA-41BF-92E0-75557C201A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3800" y="6024588"/>
            <a:ext cx="252985" cy="26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828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 Direita (Escur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CD341943-BAF0-4955-9CB4-EC99A30320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791368" y="-3468383"/>
            <a:ext cx="19851186" cy="1158880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973F174-0461-45A7-8F99-0019B1D8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2768" y="608746"/>
            <a:ext cx="8999620" cy="112245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F39EC3-EAB6-41B1-AF6D-1FF09E90B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4442" y="1934308"/>
            <a:ext cx="8999621" cy="3787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899C2A-8D75-473A-9DFD-EC391EC955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55430" y="5924640"/>
            <a:ext cx="119571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4D8BB3C-6B53-46BD-A4F0-0757B46599C3}" type="datetimeFigureOut">
              <a:rPr lang="pt-BR" smtClean="0"/>
              <a:pPr/>
              <a:t>05/03/2024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5B9AF1-5F2D-4615-83D4-CA141F55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82453" y="5924639"/>
            <a:ext cx="598927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B69BE5-9ED2-499D-A461-BC7071BB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07060" y="5924640"/>
            <a:ext cx="82969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6016F14-41C8-42A0-A751-72D01404B6D7}" type="slidenum">
              <a:rPr lang="pt-BR" smtClean="0"/>
              <a:pPr/>
              <a:t>‹nº›</a:t>
            </a:fld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FF6D245-76FA-41BF-92E0-75557C201A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3800" y="6024588"/>
            <a:ext cx="252985" cy="26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367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Mais Espaç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Tela de computador com texto preto sobre fundo escuro&#10;&#10;Descrição gerada automaticamente com confiança média">
            <a:extLst>
              <a:ext uri="{FF2B5EF4-FFF2-40B4-BE49-F238E27FC236}">
                <a16:creationId xmlns:a16="http://schemas.microsoft.com/office/drawing/2014/main" id="{D650A5DA-CBC5-4A17-BDD6-EBE1DDAAF7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0DBB1C4-3E84-4211-9AC5-82AD210D13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99E7852-A458-4FA9-84E7-B5740A11A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8BB3C-6B53-46BD-A4F0-0757B46599C3}" type="datetimeFigureOut">
              <a:rPr lang="pt-BR" smtClean="0"/>
              <a:t>05/03/2024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3B1C282-3269-448A-8FE7-0E4AC610B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2E26CDE-E8A8-4B72-95B7-66623629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6F14-41C8-42A0-A751-72D01404B6D7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D4A7DCA-D76F-447F-BC5C-37B38660BAB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3800" y="6024588"/>
            <a:ext cx="252985" cy="265177"/>
          </a:xfrm>
          <a:prstGeom prst="rect">
            <a:avLst/>
          </a:prstGeom>
        </p:spPr>
      </p:pic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6BD76F00-ACA6-404B-A55A-9A2EF5B7BC8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94758"/>
            <a:ext cx="10515600" cy="37963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018025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Tela de computador com texto preto sobre fundo escuro&#10;&#10;Descrição gerada automaticamente com confiança média">
            <a:extLst>
              <a:ext uri="{FF2B5EF4-FFF2-40B4-BE49-F238E27FC236}">
                <a16:creationId xmlns:a16="http://schemas.microsoft.com/office/drawing/2014/main" id="{01D837B4-9215-43AA-A7DA-A27AC17E92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31110AF-7EA7-48B2-8AEF-6C48636DD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8BB3C-6B53-46BD-A4F0-0757B46599C3}" type="datetimeFigureOut">
              <a:rPr lang="pt-BR" smtClean="0"/>
              <a:t>05/03/2024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1438FAC-4893-4625-9039-FE3A63683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69DAC9-0730-4CD0-A32B-23AEA78F2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16F14-41C8-42A0-A751-72D01404B6D7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7963B50-A512-44A7-896A-F368BA44347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3800" y="6024588"/>
            <a:ext cx="252985" cy="26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284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2235EBF-FFA7-423B-81C1-214740CFC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8235"/>
            <a:ext cx="10515600" cy="11224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E6D118E-2E06-4109-843A-6FCF4EC67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8959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ACD35E-55A0-4327-B9C0-A80C08D036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5924640"/>
            <a:ext cx="22838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8BB3C-6B53-46BD-A4F0-0757B46599C3}" type="datetimeFigureOut">
              <a:rPr lang="pt-BR" smtClean="0"/>
              <a:t>05/03/2024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563E96-409C-438A-AB85-4BC35FC121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33504" y="5924640"/>
            <a:ext cx="46699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B51195-407B-456F-8362-F3471BA84C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5924640"/>
            <a:ext cx="22838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16F14-41C8-42A0-A751-72D01404B6D7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679DD90-3649-495B-825A-3D584B517F64}"/>
              </a:ext>
            </a:extLst>
          </p:cNvPr>
          <p:cNvSpPr/>
          <p:nvPr userDrawn="1"/>
        </p:nvSpPr>
        <p:spPr>
          <a:xfrm>
            <a:off x="426720" y="365125"/>
            <a:ext cx="11338560" cy="612775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1683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8" r:id="rId3"/>
    <p:sldLayoutId id="2147483663" r:id="rId4"/>
    <p:sldLayoutId id="2147483659" r:id="rId5"/>
    <p:sldLayoutId id="2147483660" r:id="rId6"/>
    <p:sldLayoutId id="2147483661" r:id="rId7"/>
    <p:sldLayoutId id="2147483662" r:id="rId8"/>
    <p:sldLayoutId id="2147483654" r:id="rId9"/>
    <p:sldLayoutId id="2147483655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F43888-539F-470B-BE71-0601EECD6E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Cultura, Ética e Diferença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ED729E-6986-47D8-84AC-A452374C0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061012"/>
            <a:ext cx="6645442" cy="1605861"/>
          </a:xfrm>
        </p:spPr>
        <p:txBody>
          <a:bodyPr>
            <a:normAutofit/>
          </a:bodyPr>
          <a:lstStyle/>
          <a:p>
            <a:r>
              <a:rPr lang="pt-BR" dirty="0"/>
              <a:t>Semana 1 – Formação Integral</a:t>
            </a:r>
          </a:p>
        </p:txBody>
      </p:sp>
    </p:spTree>
    <p:extLst>
      <p:ext uri="{BB962C8B-B14F-4D97-AF65-F5344CB8AC3E}">
        <p14:creationId xmlns:p14="http://schemas.microsoft.com/office/powerpoint/2010/main" val="2843010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C25CC-8629-45A0-8433-2034CECE5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Edgar Morin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BC1F06-2EB1-4BDC-97D2-2B80008D2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922" y="1731199"/>
            <a:ext cx="4282859" cy="3990331"/>
          </a:xfrm>
        </p:spPr>
        <p:txBody>
          <a:bodyPr/>
          <a:lstStyle/>
          <a:p>
            <a:r>
              <a:rPr lang="pt-BR" dirty="0"/>
              <a:t>Pensador Francês, nascido em 1921 e ainda na ativa.</a:t>
            </a:r>
          </a:p>
          <a:p>
            <a:r>
              <a:rPr lang="pt-BR" dirty="0"/>
              <a:t>Pensador de muitas frentes – filosofia, sociologia, pedagogia.</a:t>
            </a:r>
          </a:p>
          <a:p>
            <a:r>
              <a:rPr lang="pt-BR" dirty="0"/>
              <a:t>Pensamento Complexo e transdisciplinaridade.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E99B097-F875-440D-88F6-3EE20E144A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455" y="1731199"/>
            <a:ext cx="5277244" cy="378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89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F0C1F7-1A4F-42FB-A37F-61C87BECA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Pensamento Complexo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B88D74-AD81-426F-A968-C24309769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Complexo </a:t>
            </a:r>
            <a:r>
              <a:rPr lang="pt-BR" sz="4200" b="1" dirty="0">
                <a:solidFill>
                  <a:srgbClr val="202124"/>
                </a:solidFill>
                <a:latin typeface="Google Sans"/>
              </a:rPr>
              <a:t>≠ </a:t>
            </a:r>
            <a:r>
              <a:rPr lang="pt-BR" dirty="0"/>
              <a:t>Difícil</a:t>
            </a:r>
          </a:p>
          <a:p>
            <a:r>
              <a:rPr lang="pt-BR" dirty="0"/>
              <a:t>Conceito de Complexo: “aquilo que se tece em </a:t>
            </a:r>
            <a:r>
              <a:rPr lang="pt-BR" b="1" dirty="0"/>
              <a:t>conjunto</a:t>
            </a:r>
            <a:r>
              <a:rPr lang="pt-BR" dirty="0"/>
              <a:t>”.</a:t>
            </a:r>
          </a:p>
          <a:p>
            <a:r>
              <a:rPr lang="pt-BR" dirty="0"/>
              <a:t>Tudo está </a:t>
            </a:r>
            <a:r>
              <a:rPr lang="pt-BR" b="1" dirty="0"/>
              <a:t>interligado</a:t>
            </a:r>
            <a:r>
              <a:rPr lang="pt-BR" dirty="0"/>
              <a:t>, conectado, em relação, em comunicação. </a:t>
            </a:r>
          </a:p>
          <a:p>
            <a:r>
              <a:rPr lang="pt-BR" dirty="0"/>
              <a:t>Proposta: Um novo paradigma científico/ nova epistemologia</a:t>
            </a:r>
            <a:endParaRPr lang="pt-BR" sz="1800" b="1" dirty="0">
              <a:solidFill>
                <a:srgbClr val="666666"/>
              </a:solidFill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743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874649-0287-4919-93BB-94807F5C7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Novo paradigma científico</a:t>
            </a:r>
          </a:p>
        </p:txBody>
      </p:sp>
      <p:graphicFrame>
        <p:nvGraphicFramePr>
          <p:cNvPr id="8" name="Tabela 8">
            <a:extLst>
              <a:ext uri="{FF2B5EF4-FFF2-40B4-BE49-F238E27FC236}">
                <a16:creationId xmlns:a16="http://schemas.microsoft.com/office/drawing/2014/main" id="{0CF60F7F-739B-4F3E-824E-505F6A2F991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919955980"/>
              </p:ext>
            </p:extLst>
          </p:nvPr>
        </p:nvGraphicFramePr>
        <p:xfrm>
          <a:off x="838200" y="1895475"/>
          <a:ext cx="10515600" cy="303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77733780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189932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Racionalidade Linear - Cartesiana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Racionalidade Complexa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242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Ordem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Caos/acaso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21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Máquina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Sistema/Criação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7828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Leis imutáveis – Determinismo</a:t>
                      </a:r>
                    </a:p>
                    <a:p>
                      <a:r>
                        <a:rPr lang="pt-BR" dirty="0"/>
                        <a:t>(Eugenia)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Aleatoriedade da vida – Acaso</a:t>
                      </a:r>
                    </a:p>
                    <a:p>
                      <a:r>
                        <a:rPr lang="pt-BR" dirty="0"/>
                        <a:t>(Ser humano é fruto do meio também)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57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Separabilidade/Especialização (Texto Oswaldinho)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Visão do Todo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1869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/>
                        <a:t>Pensamento por causa e consequência</a:t>
                      </a:r>
                      <a:endParaRPr lang="pt-BR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Comporta dentro do seu pensamento a aleatoriedade, o acaso.</a:t>
                      </a:r>
                      <a:endParaRPr lang="pt-BR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1949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2665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2AF8EA-6E5B-41D8-B81D-779979982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Novo paradigma científico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FDA4C3-1985-4228-80C3-A7FB9D9EFCA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690688"/>
            <a:ext cx="10515600" cy="4000427"/>
          </a:xfrm>
        </p:spPr>
        <p:txBody>
          <a:bodyPr>
            <a:normAutofit fontScale="85000" lnSpcReduction="10000"/>
          </a:bodyPr>
          <a:lstStyle/>
          <a:p>
            <a:r>
              <a:rPr lang="pt-BR" dirty="0"/>
              <a:t>Contrapondo ao modelo cartesiano (análise das parte para entender o todo), propõem que as partes e o todo são complementares e interdependentes.</a:t>
            </a:r>
          </a:p>
          <a:p>
            <a:r>
              <a:rPr lang="pt-BR" dirty="0">
                <a:solidFill>
                  <a:prstClr val="black"/>
                </a:solidFill>
                <a:latin typeface="Trebuchet MS"/>
              </a:rPr>
              <a:t>Pascal: o todo está nas partes, assim como as partes compõem o todo.</a:t>
            </a:r>
            <a:endParaRPr lang="pt-BR" dirty="0"/>
          </a:p>
          <a:p>
            <a:r>
              <a:rPr lang="pt-BR" dirty="0"/>
              <a:t>Nova forma de entender o conhecimento/pensamento (nova epistemologia) não binária (Verdadeiro ou Falso, Certo ou Errado) mas que perceba o contraditório e o antagônico como integrantes do pensamento.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dirty="0">
                <a:solidFill>
                  <a:prstClr val="black"/>
                </a:solidFill>
                <a:latin typeface="Trebuchet MS"/>
              </a:rPr>
              <a:t>Princípio</a:t>
            </a: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 de </a:t>
            </a:r>
            <a:r>
              <a:rPr kumimoji="0" lang="pt-B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incerteza</a:t>
            </a: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 e incompletude da realidade; </a:t>
            </a:r>
          </a:p>
          <a:p>
            <a:pPr>
              <a:defRPr/>
            </a:pPr>
            <a:r>
              <a:rPr kumimoji="0" lang="pt-BR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R</a:t>
            </a:r>
            <a:r>
              <a:rPr lang="pt-BR" dirty="0" err="1"/>
              <a:t>acionalidade</a:t>
            </a:r>
            <a:r>
              <a:rPr lang="pt-BR" dirty="0"/>
              <a:t> dialógica: se organiza através do </a:t>
            </a:r>
            <a:r>
              <a:rPr lang="pt-BR" b="1" dirty="0"/>
              <a:t>diálogo</a:t>
            </a:r>
            <a:r>
              <a:rPr lang="pt-BR" dirty="0"/>
              <a:t> das diferentes formas de saber, das diferentes formas de conhecimento.</a:t>
            </a:r>
            <a:endParaRPr kumimoji="0" lang="pt-B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964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EBF6F2-F251-4D09-AC31-F04647938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Ou seja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83E1D3-C175-418F-A597-EAE985D76CC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pt-BR" dirty="0">
                <a:solidFill>
                  <a:prstClr val="black"/>
                </a:solidFill>
                <a:latin typeface="Trebuchet MS"/>
              </a:rPr>
              <a:t>A vida humana </a:t>
            </a:r>
            <a:r>
              <a:rPr lang="pt-BR" b="1" dirty="0">
                <a:solidFill>
                  <a:prstClr val="black"/>
                </a:solidFill>
                <a:latin typeface="Trebuchet MS"/>
              </a:rPr>
              <a:t>escapa ao determinismo</a:t>
            </a:r>
            <a:r>
              <a:rPr lang="pt-BR" dirty="0">
                <a:solidFill>
                  <a:prstClr val="black"/>
                </a:solidFill>
                <a:latin typeface="Trebuchet MS"/>
              </a:rPr>
              <a:t>.</a:t>
            </a:r>
          </a:p>
          <a:p>
            <a:pPr algn="l"/>
            <a:r>
              <a:rPr lang="pt-BR" dirty="0">
                <a:solidFill>
                  <a:prstClr val="black"/>
                </a:solidFill>
                <a:latin typeface="Trebuchet MS"/>
              </a:rPr>
              <a:t>A complexidade nos dá a liberdade, pois nos livra do determinismo. Somos nós que construímos nosso próprio destino a partir de </a:t>
            </a:r>
            <a:r>
              <a:rPr lang="pt-BR" b="1" dirty="0">
                <a:solidFill>
                  <a:prstClr val="black"/>
                </a:solidFill>
                <a:latin typeface="Trebuchet MS"/>
              </a:rPr>
              <a:t>nossas escolhas</a:t>
            </a:r>
            <a:r>
              <a:rPr lang="pt-BR" dirty="0">
                <a:solidFill>
                  <a:prstClr val="black"/>
                </a:solidFill>
                <a:latin typeface="Trebuchet MS"/>
              </a:rPr>
              <a:t>, sejam elas conscientes ou não.</a:t>
            </a:r>
          </a:p>
          <a:p>
            <a:pPr algn="l"/>
            <a:r>
              <a:rPr lang="pt-BR" dirty="0">
                <a:solidFill>
                  <a:prstClr val="black"/>
                </a:solidFill>
                <a:latin typeface="Trebuchet MS"/>
              </a:rPr>
              <a:t>Somos um composto de determinismo e contingência (acaso)</a:t>
            </a:r>
          </a:p>
          <a:p>
            <a:pPr algn="l"/>
            <a:r>
              <a:rPr lang="pt-BR" dirty="0">
                <a:solidFill>
                  <a:prstClr val="black"/>
                </a:solidFill>
                <a:latin typeface="Trebuchet MS"/>
              </a:rPr>
              <a:t>“Cada vida é tecida dessa forma, sempre com um fio de </a:t>
            </a:r>
            <a:r>
              <a:rPr lang="pt-BR" b="1" dirty="0">
                <a:solidFill>
                  <a:prstClr val="black"/>
                </a:solidFill>
                <a:latin typeface="Trebuchet MS"/>
              </a:rPr>
              <a:t>acaso</a:t>
            </a:r>
            <a:r>
              <a:rPr lang="pt-BR" dirty="0">
                <a:solidFill>
                  <a:prstClr val="black"/>
                </a:solidFill>
                <a:latin typeface="Trebuchet MS"/>
              </a:rPr>
              <a:t> misturado com o fio da </a:t>
            </a:r>
            <a:r>
              <a:rPr lang="pt-BR" b="1" dirty="0">
                <a:solidFill>
                  <a:prstClr val="black"/>
                </a:solidFill>
                <a:latin typeface="Trebuchet MS"/>
              </a:rPr>
              <a:t>necessidade</a:t>
            </a:r>
            <a:r>
              <a:rPr lang="pt-BR" dirty="0">
                <a:solidFill>
                  <a:prstClr val="black"/>
                </a:solidFill>
                <a:latin typeface="Trebuchet MS"/>
              </a:rPr>
              <a:t>. Sendo assim, não são fórmulas matemáticas que vão dizer-nos o que é uma vida humana, não são aspectos exteriores sociológicos que a vão encerrar no seu determinismo.”</a:t>
            </a:r>
          </a:p>
          <a:p>
            <a:pPr marL="0" indent="0" algn="l">
              <a:buNone/>
            </a:pPr>
            <a:endParaRPr lang="pt-BR" dirty="0">
              <a:solidFill>
                <a:prstClr val="black"/>
              </a:solidFill>
              <a:latin typeface="Trebuchet MS"/>
            </a:endParaRPr>
          </a:p>
          <a:p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  <a:p>
            <a:pPr algn="l"/>
            <a:endParaRPr lang="pt-BR" sz="1800" b="0" i="0" u="none" strike="noStrike" baseline="0" dirty="0"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264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84DC90-8CA4-4B86-8FC6-DD924FFC0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Complexidade Humana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A30D0E-25C0-468A-81D3-CD8DCE08447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pt-BR" dirty="0">
                <a:solidFill>
                  <a:prstClr val="black"/>
                </a:solidFill>
              </a:rPr>
              <a:t>O ser humano é um </a:t>
            </a:r>
            <a:r>
              <a:rPr lang="pt-BR" b="1" dirty="0">
                <a:solidFill>
                  <a:prstClr val="black"/>
                </a:solidFill>
              </a:rPr>
              <a:t>todo complexo </a:t>
            </a:r>
            <a:r>
              <a:rPr lang="pt-BR" dirty="0">
                <a:solidFill>
                  <a:prstClr val="black"/>
                </a:solidFill>
              </a:rPr>
              <a:t>– Não pode ser analisado em suas partes;</a:t>
            </a:r>
          </a:p>
          <a:p>
            <a:r>
              <a:rPr lang="pt-BR" dirty="0">
                <a:solidFill>
                  <a:prstClr val="black"/>
                </a:solidFill>
              </a:rPr>
              <a:t>Não é uma máquina – é um </a:t>
            </a:r>
            <a:r>
              <a:rPr lang="pt-BR" b="1" dirty="0">
                <a:solidFill>
                  <a:prstClr val="black"/>
                </a:solidFill>
              </a:rPr>
              <a:t>sistema</a:t>
            </a:r>
            <a:r>
              <a:rPr lang="pt-BR" dirty="0">
                <a:solidFill>
                  <a:prstClr val="black"/>
                </a:solidFill>
              </a:rPr>
              <a:t>;</a:t>
            </a:r>
          </a:p>
          <a:p>
            <a:r>
              <a:rPr lang="pt-BR" dirty="0">
                <a:solidFill>
                  <a:prstClr val="black"/>
                </a:solidFill>
              </a:rPr>
              <a:t>Formação integral: ser racional, empírico e técnico; ser simbólico, mitológico e mágico.</a:t>
            </a:r>
          </a:p>
          <a:p>
            <a:r>
              <a:rPr lang="pt-BR" dirty="0">
                <a:solidFill>
                  <a:prstClr val="black"/>
                </a:solidFill>
              </a:rPr>
              <a:t>“Cada ser é um cosmos”.</a:t>
            </a:r>
          </a:p>
          <a:p>
            <a:r>
              <a:rPr lang="pt-BR" dirty="0">
                <a:solidFill>
                  <a:prstClr val="black"/>
                </a:solidFill>
              </a:rPr>
              <a:t>Não há necessidade de homogeneizar a humanidade.</a:t>
            </a:r>
          </a:p>
          <a:p>
            <a:r>
              <a:rPr lang="pt-BR" dirty="0">
                <a:solidFill>
                  <a:prstClr val="black"/>
                </a:solidFill>
              </a:rPr>
              <a:t>Devemos encontrar nosso próprio passo.</a:t>
            </a:r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66670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E37A48-EC3A-4805-81BE-4A19DC19F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Homo </a:t>
            </a:r>
            <a:r>
              <a:rPr lang="pt-BR" dirty="0" err="1"/>
              <a:t>Complexus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62F5A8-B9CC-416A-9B2B-0D211EF38BB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>
                <a:solidFill>
                  <a:prstClr val="black"/>
                </a:solidFill>
              </a:rPr>
              <a:t>A partir de seu lugar de especialização, possa encontrar espaços de </a:t>
            </a:r>
            <a:r>
              <a:rPr lang="pt-BR" b="1" dirty="0">
                <a:solidFill>
                  <a:prstClr val="black"/>
                </a:solidFill>
              </a:rPr>
              <a:t>abertura e diálogo </a:t>
            </a:r>
            <a:r>
              <a:rPr lang="pt-BR" dirty="0">
                <a:solidFill>
                  <a:prstClr val="black"/>
                </a:solidFill>
              </a:rPr>
              <a:t>com o outro, com a </a:t>
            </a:r>
            <a:r>
              <a:rPr lang="pt-BR" b="1" dirty="0">
                <a:solidFill>
                  <a:prstClr val="black"/>
                </a:solidFill>
              </a:rPr>
              <a:t>diferença</a:t>
            </a:r>
            <a:r>
              <a:rPr lang="pt-BR" dirty="0">
                <a:solidFill>
                  <a:prstClr val="black"/>
                </a:solidFill>
              </a:rPr>
              <a:t>, em busca de um </a:t>
            </a:r>
            <a:r>
              <a:rPr lang="pt-BR" b="1" dirty="0">
                <a:solidFill>
                  <a:prstClr val="black"/>
                </a:solidFill>
              </a:rPr>
              <a:t>comum</a:t>
            </a:r>
            <a:r>
              <a:rPr lang="pt-BR" dirty="0">
                <a:solidFill>
                  <a:prstClr val="black"/>
                </a:solidFill>
              </a:rPr>
              <a:t> – de uma Terra Pátria.</a:t>
            </a:r>
          </a:p>
          <a:p>
            <a:r>
              <a:rPr lang="pt-BR" dirty="0">
                <a:solidFill>
                  <a:prstClr val="black"/>
                </a:solidFill>
              </a:rPr>
              <a:t>Defende uma racionalidade </a:t>
            </a:r>
            <a:r>
              <a:rPr lang="pt-BR" b="1" dirty="0">
                <a:solidFill>
                  <a:prstClr val="black"/>
                </a:solidFill>
              </a:rPr>
              <a:t>aberta e a autocrítica permanente </a:t>
            </a:r>
            <a:r>
              <a:rPr lang="pt-BR" dirty="0">
                <a:solidFill>
                  <a:prstClr val="black"/>
                </a:solidFill>
              </a:rPr>
              <a:t>do sujeito; </a:t>
            </a:r>
          </a:p>
          <a:p>
            <a:r>
              <a:rPr lang="pt-BR" dirty="0">
                <a:solidFill>
                  <a:prstClr val="black"/>
                </a:solidFill>
              </a:rPr>
              <a:t>Foge das respostas fáceis e prontas;</a:t>
            </a:r>
          </a:p>
          <a:p>
            <a:r>
              <a:rPr lang="pt-BR" dirty="0">
                <a:solidFill>
                  <a:prstClr val="black"/>
                </a:solidFill>
              </a:rPr>
              <a:t>Busca abrir o </a:t>
            </a:r>
            <a:r>
              <a:rPr lang="pt-BR" b="1" dirty="0">
                <a:solidFill>
                  <a:prstClr val="black"/>
                </a:solidFill>
              </a:rPr>
              <a:t>diálogo entre os conhecimentos</a:t>
            </a:r>
            <a:r>
              <a:rPr lang="pt-BR" dirty="0">
                <a:solidFill>
                  <a:prstClr val="black"/>
                </a:solidFill>
              </a:rPr>
              <a:t>.</a:t>
            </a:r>
          </a:p>
          <a:p>
            <a:endParaRPr lang="pt-BR" dirty="0">
              <a:solidFill>
                <a:prstClr val="black"/>
              </a:solidFill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76186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A82D90-585D-450C-9DD4-058AC1807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Ser humano integral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968013-EB66-48C6-834C-2785E9A8963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pt-BR" sz="2800" dirty="0"/>
              <a:t>O ser humano é um ser </a:t>
            </a:r>
            <a:r>
              <a:rPr lang="pt-BR" sz="2800" b="1" dirty="0"/>
              <a:t>multidimensional</a:t>
            </a:r>
            <a:r>
              <a:rPr lang="pt-BR" sz="2800" dirty="0"/>
              <a:t>: cada pessoa é um </a:t>
            </a:r>
            <a:r>
              <a:rPr lang="pt-BR" sz="2800" b="1" dirty="0"/>
              <a:t>universo de possibilidades </a:t>
            </a:r>
            <a:r>
              <a:rPr lang="pt-BR" sz="2800" dirty="0"/>
              <a:t>– é sempre possível desenvolver outras habilidades.</a:t>
            </a:r>
          </a:p>
          <a:p>
            <a:r>
              <a:rPr lang="pt-BR" dirty="0"/>
              <a:t>Diferentemente de uma máquina (IA, por exemplo), ele tem a capacidade de </a:t>
            </a:r>
            <a:r>
              <a:rPr lang="pt-BR" b="1" dirty="0"/>
              <a:t>criação</a:t>
            </a:r>
            <a:r>
              <a:rPr lang="pt-BR" dirty="0"/>
              <a:t> e </a:t>
            </a:r>
            <a:r>
              <a:rPr lang="pt-BR" b="1" dirty="0"/>
              <a:t>invenção</a:t>
            </a:r>
            <a:r>
              <a:rPr lang="pt-BR" dirty="0"/>
              <a:t> de novos modos de ser, novas formas de vida, novas habilidades.</a:t>
            </a:r>
          </a:p>
          <a:p>
            <a:r>
              <a:rPr lang="pt-BR" dirty="0"/>
              <a:t>Além de conhecer, o ser humano é capaz de </a:t>
            </a:r>
            <a:r>
              <a:rPr lang="pt-BR" b="1" dirty="0"/>
              <a:t>criar, inventar</a:t>
            </a:r>
            <a:r>
              <a:rPr lang="pt-BR" dirty="0"/>
              <a:t>.</a:t>
            </a:r>
          </a:p>
          <a:p>
            <a:r>
              <a:rPr lang="pt-BR" dirty="0"/>
              <a:t>É nesse ponto de criação que está a </a:t>
            </a:r>
            <a:r>
              <a:rPr lang="pt-BR" b="1" dirty="0"/>
              <a:t>complexidade</a:t>
            </a:r>
            <a:r>
              <a:rPr lang="pt-BR" dirty="0"/>
              <a:t> e a </a:t>
            </a:r>
            <a:r>
              <a:rPr lang="pt-BR" b="1" dirty="0"/>
              <a:t>liberdade</a:t>
            </a:r>
            <a:r>
              <a:rPr lang="pt-BR" dirty="0"/>
              <a:t>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2132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D70611-D399-42E5-9964-FA3780B61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Resgate de Espinosa (adendo)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4F823F-42F5-4D6B-BF00-A2E1584D987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3 gêneros de conhecimento:</a:t>
            </a:r>
          </a:p>
          <a:p>
            <a:r>
              <a:rPr lang="pt-BR" dirty="0"/>
              <a:t>1º gênero: Consciência – Ser humano consciente de si – É o resultado daquilo que vem de fora. É o ser humano da servidão (responde àquilo que vem de fora).</a:t>
            </a:r>
          </a:p>
          <a:p>
            <a:r>
              <a:rPr lang="pt-BR" dirty="0"/>
              <a:t>2º gênero: Razão – Conhecer a realidade, conhecer o que existe.</a:t>
            </a:r>
          </a:p>
          <a:p>
            <a:r>
              <a:rPr lang="pt-BR" dirty="0"/>
              <a:t>3º gênero: Criação – Além de conhecer pelo uso da razão, cria, inventa, produz novos modos de ser. É aqui que está a liberdade humana.</a:t>
            </a:r>
          </a:p>
        </p:txBody>
      </p:sp>
    </p:spTree>
    <p:extLst>
      <p:ext uri="{BB962C8B-B14F-4D97-AF65-F5344CB8AC3E}">
        <p14:creationId xmlns:p14="http://schemas.microsoft.com/office/powerpoint/2010/main" val="1689800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86DE14-3ED8-4DC3-8339-AE184EE68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Formação Integral</a:t>
            </a:r>
            <a:br>
              <a:rPr lang="pt-BR" dirty="0"/>
            </a:br>
            <a:r>
              <a:rPr lang="pt-BR" dirty="0"/>
              <a:t>Educação Transdisciplinar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5F8952-DBBD-44E1-9609-8CEBEBEE57B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300" dirty="0"/>
              <a:t>Um modelo de educação transdisciplinar só pode ser possível para uma pedagogia que considere </a:t>
            </a:r>
            <a:r>
              <a:rPr lang="pt-BR" sz="3300" b="1" dirty="0"/>
              <a:t>todas as dimensões humanas</a:t>
            </a:r>
            <a:r>
              <a:rPr lang="pt-BR" sz="3300" dirty="0"/>
              <a:t> – raciocínio, respeito, afeto, crescimento, convivência, interação, vinculo, acolhimento, potencialidade, cotidiano, contexto,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300" dirty="0"/>
              <a:t>Aprender não apenas com a inteligência, mas também com o corpo e os sentimentos;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300" dirty="0"/>
              <a:t>Revolução da inteligência: </a:t>
            </a:r>
            <a:r>
              <a:rPr lang="pt-BR" sz="3300" b="1" dirty="0"/>
              <a:t>equilíbrio</a:t>
            </a:r>
            <a:r>
              <a:rPr lang="pt-BR" sz="3300" dirty="0"/>
              <a:t> entre inteligência analítica e inteligência emocional.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73343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1F6F9C-1E5B-46C5-A3F9-18FCCE2C4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247" y="1315328"/>
            <a:ext cx="9080873" cy="1122453"/>
          </a:xfrm>
        </p:spPr>
        <p:txBody>
          <a:bodyPr/>
          <a:lstStyle/>
          <a:p>
            <a:r>
              <a:rPr lang="pt-BR" dirty="0"/>
              <a:t>Formação Integral</a:t>
            </a:r>
            <a:br>
              <a:rPr lang="pt-BR" dirty="0"/>
            </a:br>
            <a:r>
              <a:rPr lang="pt-BR" dirty="0"/>
              <a:t>Educação Transdisciplinar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849A33-6781-43B2-83D5-548727F35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923" y="2840182"/>
            <a:ext cx="9080874" cy="288134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/>
              <a:t>A aprendizagem não apenas em seu aspecto formal, mas, também, trazendo para dentro do seu bojo o lado lúdico do aprender!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800" dirty="0"/>
              <a:t>Não há uma receita pronta e milagrosa – </a:t>
            </a:r>
            <a:r>
              <a:rPr lang="pt-BR" sz="2800" b="1" dirty="0"/>
              <a:t>o caminho se faz caminhando</a:t>
            </a:r>
            <a:r>
              <a:rPr lang="pt-BR" sz="2800" dirty="0"/>
              <a:t> – não há uma cartografia prévia do que será conhecido.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62121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30FF06-478A-45C9-ABE7-824608D51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Relatório Delors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768E19-C646-439E-B6D0-EDDBC95EA01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438835"/>
            <a:ext cx="10515600" cy="4850929"/>
          </a:xfrm>
        </p:spPr>
        <p:txBody>
          <a:bodyPr>
            <a:normAutofit fontScale="92500" lnSpcReduction="20000"/>
          </a:bodyPr>
          <a:lstStyle/>
          <a:p>
            <a:r>
              <a:rPr lang="pt-BR" b="1" dirty="0"/>
              <a:t>Aprender a conhecer</a:t>
            </a:r>
            <a:r>
              <a:rPr lang="pt-BR" dirty="0"/>
              <a:t>: aprendizagem dos métodos que nos ajudam a distinguir o que é real do que é ilusório. </a:t>
            </a:r>
            <a:r>
              <a:rPr lang="pt-BR" u="sng" dirty="0"/>
              <a:t>Desenvolver o</a:t>
            </a:r>
            <a:r>
              <a:rPr lang="pt-BR" dirty="0"/>
              <a:t> </a:t>
            </a:r>
            <a:r>
              <a:rPr lang="pt-BR" u="sng" dirty="0"/>
              <a:t>questionamento, a reflexão crítica e propositiva </a:t>
            </a:r>
            <a:r>
              <a:rPr lang="pt-BR" dirty="0"/>
              <a:t>– cultivo do espírito científico.</a:t>
            </a:r>
          </a:p>
          <a:p>
            <a:r>
              <a:rPr lang="pt-BR" b="1" dirty="0"/>
              <a:t>Aprender a fazer</a:t>
            </a:r>
            <a:r>
              <a:rPr lang="pt-BR" dirty="0"/>
              <a:t>: aquisição de uma </a:t>
            </a:r>
            <a:r>
              <a:rPr lang="pt-BR" u="sng" dirty="0"/>
              <a:t>profissão</a:t>
            </a:r>
            <a:r>
              <a:rPr lang="pt-BR" dirty="0"/>
              <a:t> dotada de certa especialidade técnica. Porém, tal especialização deve </a:t>
            </a:r>
            <a:r>
              <a:rPr lang="pt-BR" dirty="0" err="1"/>
              <a:t>re-ligar</a:t>
            </a:r>
            <a:r>
              <a:rPr lang="pt-BR" dirty="0"/>
              <a:t> os fios que ligam as outras profissões – abordagem transdisciplinar que </a:t>
            </a:r>
            <a:r>
              <a:rPr lang="pt-BR" u="sng" dirty="0"/>
              <a:t>fomenta a criatividade</a:t>
            </a:r>
            <a:r>
              <a:rPr lang="pt-BR" dirty="0"/>
              <a:t>.</a:t>
            </a:r>
          </a:p>
          <a:p>
            <a:r>
              <a:rPr lang="pt-BR" b="1" dirty="0"/>
              <a:t>Aprender a viver em conjunto</a:t>
            </a:r>
            <a:r>
              <a:rPr lang="pt-BR" dirty="0"/>
              <a:t>: compreender as normas não como pressões externas. Mas, como </a:t>
            </a:r>
            <a:r>
              <a:rPr lang="pt-BR" u="sng" dirty="0"/>
              <a:t>possibilidade de conviver</a:t>
            </a:r>
            <a:r>
              <a:rPr lang="pt-BR" dirty="0"/>
              <a:t> e solidarizar-se com o outro – reconhecer-se a si mesmo na face do Outro.</a:t>
            </a:r>
          </a:p>
          <a:p>
            <a:r>
              <a:rPr lang="pt-BR" b="1" dirty="0"/>
              <a:t>Aprender a ser</a:t>
            </a:r>
            <a:r>
              <a:rPr lang="pt-BR" dirty="0"/>
              <a:t>: construção de uma relação transpessoal. Reconhecer que </a:t>
            </a:r>
            <a:r>
              <a:rPr lang="pt-BR" u="sng" dirty="0"/>
              <a:t>eu e o Outro construímos o mundo em conjunto </a:t>
            </a:r>
            <a:r>
              <a:rPr lang="pt-BR" dirty="0"/>
              <a:t>– educação integral do ser humano.</a:t>
            </a:r>
          </a:p>
        </p:txBody>
      </p:sp>
    </p:spTree>
    <p:extLst>
      <p:ext uri="{BB962C8B-B14F-4D97-AF65-F5344CB8AC3E}">
        <p14:creationId xmlns:p14="http://schemas.microsoft.com/office/powerpoint/2010/main" val="3745176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3A28EBA0-B9D3-4F81-8D19-5AC517F91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3600" y="761999"/>
            <a:ext cx="8451273" cy="5514109"/>
          </a:xfrm>
        </p:spPr>
        <p:txBody>
          <a:bodyPr>
            <a:normAutofit lnSpcReduction="10000"/>
          </a:bodyPr>
          <a:lstStyle/>
          <a:p>
            <a:pPr algn="l"/>
            <a:r>
              <a:rPr lang="pt-BR" dirty="0"/>
              <a:t>A mesma solução poderia ser experimentada nas empresas e em qualquer outra coletividade.</a:t>
            </a:r>
          </a:p>
          <a:p>
            <a:pPr algn="l"/>
            <a:r>
              <a:rPr lang="pt-BR" dirty="0"/>
              <a:t>“A penetração do pensamento complexo e transdisciplinar nas estruturas, nos programas e na irradiação da Universidade permitirá sua evolução em direção à sua missão um tanto quanto esquecida hoje em dia: </a:t>
            </a:r>
            <a:r>
              <a:rPr lang="pt-BR" b="1" dirty="0"/>
              <a:t>o estudo do universal</a:t>
            </a:r>
            <a:r>
              <a:rPr lang="pt-BR" dirty="0"/>
              <a:t>. Assim, a Universidade poderá transformar-se num local de aprendizagem da atitude transcultural, </a:t>
            </a:r>
            <a:r>
              <a:rPr lang="pt-BR" dirty="0" err="1"/>
              <a:t>transreligiosa</a:t>
            </a:r>
            <a:r>
              <a:rPr lang="pt-BR" dirty="0"/>
              <a:t>, </a:t>
            </a:r>
            <a:r>
              <a:rPr lang="pt-BR" dirty="0" err="1"/>
              <a:t>transpolítica</a:t>
            </a:r>
            <a:r>
              <a:rPr lang="pt-BR" dirty="0"/>
              <a:t> e transnacional, do </a:t>
            </a:r>
            <a:r>
              <a:rPr lang="pt-BR" b="1" dirty="0"/>
              <a:t>diálogo entre arte e ciência</a:t>
            </a:r>
            <a:r>
              <a:rPr lang="pt-BR" dirty="0"/>
              <a:t>, eixo da reunificação entre a cultura científica e a cultura artística. A Universidade renovada será o berço de </a:t>
            </a:r>
            <a:r>
              <a:rPr lang="pt-BR" b="1" dirty="0"/>
              <a:t>um novo tipo de humanismo</a:t>
            </a:r>
            <a:r>
              <a:rPr lang="pt-BR" dirty="0"/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1936831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11959B-FCFD-41AF-8BD9-033A8FE79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924" y="955110"/>
            <a:ext cx="9080873" cy="1122453"/>
          </a:xfrm>
        </p:spPr>
        <p:txBody>
          <a:bodyPr/>
          <a:lstStyle/>
          <a:p>
            <a:r>
              <a:rPr lang="pt-BR" dirty="0"/>
              <a:t>Metamorfose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1E7588-CB5B-4978-81DA-71A7039F1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922" y="2077563"/>
            <a:ext cx="9422895" cy="3643967"/>
          </a:xfrm>
        </p:spPr>
        <p:txBody>
          <a:bodyPr>
            <a:normAutofit/>
          </a:bodyPr>
          <a:lstStyle/>
          <a:p>
            <a:r>
              <a:rPr lang="pt-BR" dirty="0"/>
              <a:t>Exemplo da borboleta: transformação da lagarta / crisálida / borboleta. Destruição e autotransformação do sistema antigo para o nascimento do novo.</a:t>
            </a:r>
          </a:p>
          <a:p>
            <a:r>
              <a:rPr lang="pt-BR" dirty="0"/>
              <a:t>Fenômeno ambivalente: destruição/transformação</a:t>
            </a:r>
          </a:p>
          <a:p>
            <a:pPr marL="0" indent="0">
              <a:buNone/>
            </a:pPr>
            <a:r>
              <a:rPr lang="pt-BR" dirty="0"/>
              <a:t>                                       globalização/mundialização</a:t>
            </a:r>
          </a:p>
          <a:p>
            <a:pPr marL="0" indent="0">
              <a:buNone/>
            </a:pPr>
            <a:r>
              <a:rPr lang="pt-BR" dirty="0"/>
              <a:t>                                       crescimento/decrescimento</a:t>
            </a:r>
          </a:p>
          <a:p>
            <a:pPr marL="0" indent="0">
              <a:buNone/>
            </a:pPr>
            <a:r>
              <a:rPr lang="pt-BR" dirty="0"/>
              <a:t>                                       desenvolvimento/envolvimento</a:t>
            </a:r>
          </a:p>
        </p:txBody>
      </p:sp>
    </p:spTree>
    <p:extLst>
      <p:ext uri="{BB962C8B-B14F-4D97-AF65-F5344CB8AC3E}">
        <p14:creationId xmlns:p14="http://schemas.microsoft.com/office/powerpoint/2010/main" val="3749532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CD331A-19D4-4FF3-B260-05FDEABA8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 tartaruguinhas marinhas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149D2B-14AA-4A8E-8039-5DFB0C7BD68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81311"/>
            <a:ext cx="10515600" cy="394126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dirty="0"/>
              <a:t>É próprio da natureza humana desfazer figuras, deixar lugares e constituir outros, </a:t>
            </a:r>
            <a:r>
              <a:rPr lang="pt-BR" b="1" dirty="0"/>
              <a:t>produzir novos modos de ser</a:t>
            </a:r>
            <a:r>
              <a:rPr lang="pt-BR" dirty="0"/>
              <a:t>, habitar diferentes lugares.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dirty="0"/>
              <a:t>Duas visões: ou esperamos o rompimento ou provocamos o mesmo. </a:t>
            </a:r>
            <a:r>
              <a:rPr lang="pt-BR" b="1" dirty="0"/>
              <a:t>Quebrar é fazer uma escolha</a:t>
            </a:r>
            <a:r>
              <a:rPr lang="pt-BR" dirty="0"/>
              <a:t>. É o primeiro movimento de constituição do novo.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dirty="0"/>
              <a:t>A vida é para ser vivida, sua história deve ser trabalhada, </a:t>
            </a:r>
            <a:r>
              <a:rPr lang="pt-BR" b="1" dirty="0"/>
              <a:t>escolhida</a:t>
            </a:r>
            <a:r>
              <a:rPr lang="pt-BR" dirty="0"/>
              <a:t>, produzida dentro de um campo </a:t>
            </a:r>
            <a:r>
              <a:rPr lang="pt-BR" b="1" dirty="0"/>
              <a:t>ilimitado de potencialidade</a:t>
            </a:r>
            <a:r>
              <a:rPr lang="pt-BR" dirty="0"/>
              <a:t>. A vida é um movimento irreversível...jamais poderemos voltar ao que éramos.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dirty="0"/>
              <a:t>Não há certificado de garantia nem manual de instruções: as regras do caminhar são resultado da alquimia de forças vividas, forças que vêm de dentro e de fora.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pt-BR"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11820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59CDCB-D53F-49DF-B706-15183AF1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Resumindo a Semana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0BC4FE-5B32-4E8B-B844-3632C47F1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Pensamento complexo: visão do todo, das conexões entre as ciências; visão </a:t>
            </a:r>
            <a:r>
              <a:rPr lang="pt-BR"/>
              <a:t>de sistema </a:t>
            </a:r>
            <a:r>
              <a:rPr lang="pt-BR" dirty="0"/>
              <a:t>e não mecânica.</a:t>
            </a:r>
          </a:p>
          <a:p>
            <a:r>
              <a:rPr lang="pt-BR" dirty="0"/>
              <a:t>Complexidade humana: ser multidimensional, visão do ser humano como um todo integrado (razão e emoção, corpo e mente...).</a:t>
            </a:r>
          </a:p>
          <a:p>
            <a:r>
              <a:rPr lang="pt-BR" dirty="0"/>
              <a:t>Transdisciplinaridade: equilíbrio entre as ciências, diálogo entre os diferentes saberes.</a:t>
            </a:r>
          </a:p>
        </p:txBody>
      </p:sp>
    </p:spTree>
    <p:extLst>
      <p:ext uri="{BB962C8B-B14F-4D97-AF65-F5344CB8AC3E}">
        <p14:creationId xmlns:p14="http://schemas.microsoft.com/office/powerpoint/2010/main" val="2212526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03042D-696B-454C-874B-A74CF3D35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622" y="2867773"/>
            <a:ext cx="8999620" cy="1122453"/>
          </a:xfrm>
        </p:spPr>
        <p:txBody>
          <a:bodyPr/>
          <a:lstStyle/>
          <a:p>
            <a:r>
              <a:rPr lang="pt-BR" sz="8800" dirty="0"/>
              <a:t>Bons Estudos!</a:t>
            </a:r>
          </a:p>
        </p:txBody>
      </p:sp>
    </p:spTree>
    <p:extLst>
      <p:ext uri="{BB962C8B-B14F-4D97-AF65-F5344CB8AC3E}">
        <p14:creationId xmlns:p14="http://schemas.microsoft.com/office/powerpoint/2010/main" val="23238704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Personalizada 2">
      <a:dk1>
        <a:sysClr val="windowText" lastClr="000000"/>
      </a:dk1>
      <a:lt1>
        <a:srgbClr val="F9F9F5"/>
      </a:lt1>
      <a:dk2>
        <a:srgbClr val="8363A7"/>
      </a:dk2>
      <a:lt2>
        <a:srgbClr val="E7E6E6"/>
      </a:lt2>
      <a:accent1>
        <a:srgbClr val="5889AB"/>
      </a:accent1>
      <a:accent2>
        <a:srgbClr val="2AB2AE"/>
      </a:accent2>
      <a:accent3>
        <a:srgbClr val="A5A5A5"/>
      </a:accent3>
      <a:accent4>
        <a:srgbClr val="ED7D31"/>
      </a:accent4>
      <a:accent5>
        <a:srgbClr val="36B088"/>
      </a:accent5>
      <a:accent6>
        <a:srgbClr val="42AF60"/>
      </a:accent6>
      <a:hlink>
        <a:srgbClr val="FFC000"/>
      </a:hlink>
      <a:folHlink>
        <a:srgbClr val="C490AA"/>
      </a:folHlink>
    </a:clrScheme>
    <a:fontScheme name="Graduacao">
      <a:majorFont>
        <a:latin typeface="Gill Sans MT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B360A73E357F2438BB83FE89C825B47" ma:contentTypeVersion="20" ma:contentTypeDescription="Crie um novo documento." ma:contentTypeScope="" ma:versionID="30ccdf8b79f9487c21c849f8cbec1bf4">
  <xsd:schema xmlns:xsd="http://www.w3.org/2001/XMLSchema" xmlns:xs="http://www.w3.org/2001/XMLSchema" xmlns:p="http://schemas.microsoft.com/office/2006/metadata/properties" xmlns:ns2="b3c82ae9-dfb5-4276-ba80-5d7c7465f520" xmlns:ns3="33f618e5-2d6d-4cbe-87e3-8cbcb41a16af" targetNamespace="http://schemas.microsoft.com/office/2006/metadata/properties" ma:root="true" ma:fieldsID="519e15a55727cdc293f57a605e75df58" ns2:_="" ns3:_="">
    <xsd:import namespace="b3c82ae9-dfb5-4276-ba80-5d7c7465f520"/>
    <xsd:import namespace="33f618e5-2d6d-4cbe-87e3-8cbcb41a16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Tamanho" minOccurs="0"/>
                <xsd:element ref="ns2:_Flow_SignoffStatu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c82ae9-dfb5-4276-ba80-5d7c7465f5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Tamanho" ma:index="19" nillable="true" ma:displayName="Tamanho" ma:format="Dropdown" ma:internalName="Tamanho" ma:percentage="FALSE">
      <xsd:simpleType>
        <xsd:restriction base="dms:Number"/>
      </xsd:simpleType>
    </xsd:element>
    <xsd:element name="_Flow_SignoffStatus" ma:index="20" nillable="true" ma:displayName="Status de liberação" ma:internalName="Status_x0020_de_x0020_libera_x00e7__x00e3_o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Marcações de imagem" ma:readOnly="false" ma:fieldId="{5cf76f15-5ced-4ddc-b409-7134ff3c332f}" ma:taxonomyMulti="true" ma:sspId="aac08c5c-6fe0-4712-b828-e958a9361e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f618e5-2d6d-4cbe-87e3-8cbcb41a16af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0473b68e-2571-491e-aa69-cde0e725b1df}" ma:internalName="TaxCatchAll" ma:showField="CatchAllData" ma:web="33f618e5-2d6d-4cbe-87e3-8cbcb41a16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manho xmlns="b3c82ae9-dfb5-4276-ba80-5d7c7465f520" xsi:nil="true"/>
    <_Flow_SignoffStatus xmlns="b3c82ae9-dfb5-4276-ba80-5d7c7465f520" xsi:nil="true"/>
    <lcf76f155ced4ddcb4097134ff3c332f xmlns="b3c82ae9-dfb5-4276-ba80-5d7c7465f520">
      <Terms xmlns="http://schemas.microsoft.com/office/infopath/2007/PartnerControls"/>
    </lcf76f155ced4ddcb4097134ff3c332f>
    <TaxCatchAll xmlns="33f618e5-2d6d-4cbe-87e3-8cbcb41a16af" xsi:nil="true"/>
  </documentManagement>
</p:properties>
</file>

<file path=customXml/itemProps1.xml><?xml version="1.0" encoding="utf-8"?>
<ds:datastoreItem xmlns:ds="http://schemas.openxmlformats.org/officeDocument/2006/customXml" ds:itemID="{D4BB1D50-17B0-4E4A-98C6-F1178DEEEEE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D896914-8177-4CDB-9F95-7E1639BAEBB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c82ae9-dfb5-4276-ba80-5d7c7465f520"/>
    <ds:schemaRef ds:uri="33f618e5-2d6d-4cbe-87e3-8cbcb41a16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9052074-0390-4F2F-B6F8-E381E8F614C4}">
  <ds:schemaRefs>
    <ds:schemaRef ds:uri="http://schemas.microsoft.com/office/2006/metadata/properties"/>
    <ds:schemaRef ds:uri="http://schemas.microsoft.com/office/infopath/2007/PartnerControls"/>
    <ds:schemaRef ds:uri="b3c82ae9-dfb5-4276-ba80-5d7c7465f520"/>
    <ds:schemaRef ds:uri="33f618e5-2d6d-4cbe-87e3-8cbcb41a16a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2083</TotalTime>
  <Words>1253</Words>
  <Application>Microsoft Office PowerPoint</Application>
  <PresentationFormat>Widescreen</PresentationFormat>
  <Paragraphs>113</Paragraphs>
  <Slides>18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5" baseType="lpstr">
      <vt:lpstr>Arial</vt:lpstr>
      <vt:lpstr>Calibri</vt:lpstr>
      <vt:lpstr>Gill Sans MT</vt:lpstr>
      <vt:lpstr>Google Sans</vt:lpstr>
      <vt:lpstr>Helvetica</vt:lpstr>
      <vt:lpstr>Trebuchet MS</vt:lpstr>
      <vt:lpstr>Tema do Office</vt:lpstr>
      <vt:lpstr>Cultura, Ética e Diferença</vt:lpstr>
      <vt:lpstr>Edgar Morin</vt:lpstr>
      <vt:lpstr>Pensamento Complexo</vt:lpstr>
      <vt:lpstr>Novo paradigma científico</vt:lpstr>
      <vt:lpstr>Novo paradigma científico</vt:lpstr>
      <vt:lpstr>Ou seja</vt:lpstr>
      <vt:lpstr>Complexidade Humana</vt:lpstr>
      <vt:lpstr>Homo Complexus</vt:lpstr>
      <vt:lpstr>Ser humano integral</vt:lpstr>
      <vt:lpstr>Resgate de Espinosa (adendo)</vt:lpstr>
      <vt:lpstr>Formação Integral Educação Transdisciplinar</vt:lpstr>
      <vt:lpstr>Formação Integral Educação Transdisciplinar</vt:lpstr>
      <vt:lpstr>Relatório Delors</vt:lpstr>
      <vt:lpstr>Apresentação do PowerPoint</vt:lpstr>
      <vt:lpstr>Metamorfose</vt:lpstr>
      <vt:lpstr>As tartaruguinhas marinhas</vt:lpstr>
      <vt:lpstr>Resumindo a Semana</vt:lpstr>
      <vt:lpstr>Bons Estudos!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Raul Fontoura</dc:creator>
  <cp:lastModifiedBy>Adelaide Bersch Boff</cp:lastModifiedBy>
  <cp:revision>20</cp:revision>
  <dcterms:created xsi:type="dcterms:W3CDTF">2021-07-28T20:18:47Z</dcterms:created>
  <dcterms:modified xsi:type="dcterms:W3CDTF">2024-03-05T18:01:34Z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0x0101006B360A73E357F2438BB83FE89C825B47</vt:lpwstr>
  </property>
  <property fmtid="{D5CDD505-2E9C-101B-9397-08002B2CF9AE}" pid="3" name="MediaServiceImageTags">
    <vt:lpwstr/>
  </property>
</Properties>
</file>